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6" r:id="rId1"/>
    <p:sldMasterId id="2147483673" r:id="rId2"/>
    <p:sldMasterId id="2147483685" r:id="rId3"/>
  </p:sldMasterIdLst>
  <p:notesMasterIdLst>
    <p:notesMasterId r:id="rId50"/>
  </p:notesMasterIdLst>
  <p:handoutMasterIdLst>
    <p:handoutMasterId r:id="rId51"/>
  </p:handoutMasterIdLst>
  <p:sldIdLst>
    <p:sldId id="1349" r:id="rId4"/>
    <p:sldId id="332" r:id="rId5"/>
    <p:sldId id="1261" r:id="rId6"/>
    <p:sldId id="1265" r:id="rId7"/>
    <p:sldId id="1264" r:id="rId8"/>
    <p:sldId id="1269" r:id="rId9"/>
    <p:sldId id="481" r:id="rId10"/>
    <p:sldId id="1272" r:id="rId11"/>
    <p:sldId id="483" r:id="rId12"/>
    <p:sldId id="1274" r:id="rId13"/>
    <p:sldId id="1277" r:id="rId14"/>
    <p:sldId id="1319" r:id="rId15"/>
    <p:sldId id="1320" r:id="rId16"/>
    <p:sldId id="1275" r:id="rId17"/>
    <p:sldId id="1285" r:id="rId18"/>
    <p:sldId id="1333" r:id="rId19"/>
    <p:sldId id="1334" r:id="rId20"/>
    <p:sldId id="1335" r:id="rId21"/>
    <p:sldId id="1317" r:id="rId22"/>
    <p:sldId id="1293" r:id="rId23"/>
    <p:sldId id="1341" r:id="rId24"/>
    <p:sldId id="1342" r:id="rId25"/>
    <p:sldId id="1338" r:id="rId26"/>
    <p:sldId id="1344" r:id="rId27"/>
    <p:sldId id="1345" r:id="rId28"/>
    <p:sldId id="1346" r:id="rId29"/>
    <p:sldId id="1347" r:id="rId30"/>
    <p:sldId id="1339" r:id="rId31"/>
    <p:sldId id="1336" r:id="rId32"/>
    <p:sldId id="1295" r:id="rId33"/>
    <p:sldId id="1297" r:id="rId34"/>
    <p:sldId id="1298" r:id="rId35"/>
    <p:sldId id="1299" r:id="rId36"/>
    <p:sldId id="1302" r:id="rId37"/>
    <p:sldId id="1303" r:id="rId38"/>
    <p:sldId id="1305" r:id="rId39"/>
    <p:sldId id="1306" r:id="rId40"/>
    <p:sldId id="322" r:id="rId41"/>
    <p:sldId id="1310" r:id="rId42"/>
    <p:sldId id="1308" r:id="rId43"/>
    <p:sldId id="1304" r:id="rId44"/>
    <p:sldId id="1337" r:id="rId45"/>
    <p:sldId id="1311" r:id="rId46"/>
    <p:sldId id="363" r:id="rId47"/>
    <p:sldId id="364" r:id="rId48"/>
    <p:sldId id="1312" r:id="rId49"/>
  </p:sldIdLst>
  <p:sldSz cx="9144000" cy="5715000" type="screen16x10"/>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charset="0"/>
        <a:ea typeface="Osaka" charset="0"/>
        <a:cs typeface="Osaka" charset="0"/>
      </a:defRPr>
    </a:lvl1pPr>
    <a:lvl2pPr marL="457200" algn="l" rtl="0" eaLnBrk="0" fontAlgn="base" hangingPunct="0">
      <a:spcBef>
        <a:spcPct val="0"/>
      </a:spcBef>
      <a:spcAft>
        <a:spcPct val="0"/>
      </a:spcAft>
      <a:defRPr sz="2400" kern="1200">
        <a:solidFill>
          <a:schemeClr val="tx1"/>
        </a:solidFill>
        <a:latin typeface="Times" charset="0"/>
        <a:ea typeface="Osaka" charset="0"/>
        <a:cs typeface="Osaka" charset="0"/>
      </a:defRPr>
    </a:lvl2pPr>
    <a:lvl3pPr marL="914400" algn="l" rtl="0" eaLnBrk="0" fontAlgn="base" hangingPunct="0">
      <a:spcBef>
        <a:spcPct val="0"/>
      </a:spcBef>
      <a:spcAft>
        <a:spcPct val="0"/>
      </a:spcAft>
      <a:defRPr sz="2400" kern="1200">
        <a:solidFill>
          <a:schemeClr val="tx1"/>
        </a:solidFill>
        <a:latin typeface="Times" charset="0"/>
        <a:ea typeface="Osaka" charset="0"/>
        <a:cs typeface="Osaka" charset="0"/>
      </a:defRPr>
    </a:lvl3pPr>
    <a:lvl4pPr marL="1371600" algn="l" rtl="0" eaLnBrk="0" fontAlgn="base" hangingPunct="0">
      <a:spcBef>
        <a:spcPct val="0"/>
      </a:spcBef>
      <a:spcAft>
        <a:spcPct val="0"/>
      </a:spcAft>
      <a:defRPr sz="2400" kern="1200">
        <a:solidFill>
          <a:schemeClr val="tx1"/>
        </a:solidFill>
        <a:latin typeface="Times" charset="0"/>
        <a:ea typeface="Osaka" charset="0"/>
        <a:cs typeface="Osaka" charset="0"/>
      </a:defRPr>
    </a:lvl4pPr>
    <a:lvl5pPr marL="1828800" algn="l" rtl="0" eaLnBrk="0" fontAlgn="base" hangingPunct="0">
      <a:spcBef>
        <a:spcPct val="0"/>
      </a:spcBef>
      <a:spcAft>
        <a:spcPct val="0"/>
      </a:spcAft>
      <a:defRPr sz="2400" kern="1200">
        <a:solidFill>
          <a:schemeClr val="tx1"/>
        </a:solidFill>
        <a:latin typeface="Times" charset="0"/>
        <a:ea typeface="Osaka" charset="0"/>
        <a:cs typeface="Osaka" charset="0"/>
      </a:defRPr>
    </a:lvl5pPr>
    <a:lvl6pPr marL="2286000" algn="l" defTabSz="457200" rtl="0" eaLnBrk="1" latinLnBrk="0" hangingPunct="1">
      <a:defRPr sz="2400" kern="1200">
        <a:solidFill>
          <a:schemeClr val="tx1"/>
        </a:solidFill>
        <a:latin typeface="Times" charset="0"/>
        <a:ea typeface="Osaka" charset="0"/>
        <a:cs typeface="Osaka" charset="0"/>
      </a:defRPr>
    </a:lvl6pPr>
    <a:lvl7pPr marL="2743200" algn="l" defTabSz="457200" rtl="0" eaLnBrk="1" latinLnBrk="0" hangingPunct="1">
      <a:defRPr sz="2400" kern="1200">
        <a:solidFill>
          <a:schemeClr val="tx1"/>
        </a:solidFill>
        <a:latin typeface="Times" charset="0"/>
        <a:ea typeface="Osaka" charset="0"/>
        <a:cs typeface="Osaka" charset="0"/>
      </a:defRPr>
    </a:lvl7pPr>
    <a:lvl8pPr marL="3200400" algn="l" defTabSz="457200" rtl="0" eaLnBrk="1" latinLnBrk="0" hangingPunct="1">
      <a:defRPr sz="2400" kern="1200">
        <a:solidFill>
          <a:schemeClr val="tx1"/>
        </a:solidFill>
        <a:latin typeface="Times" charset="0"/>
        <a:ea typeface="Osaka" charset="0"/>
        <a:cs typeface="Osaka" charset="0"/>
      </a:defRPr>
    </a:lvl8pPr>
    <a:lvl9pPr marL="3657600" algn="l" defTabSz="457200" rtl="0" eaLnBrk="1" latinLnBrk="0" hangingPunct="1">
      <a:defRPr sz="2400" kern="1200">
        <a:solidFill>
          <a:schemeClr val="tx1"/>
        </a:solidFill>
        <a:latin typeface="Times" charset="0"/>
        <a:ea typeface="Osaka" charset="0"/>
        <a:cs typeface="Osaka" charset="0"/>
      </a:defRPr>
    </a:lvl9pPr>
  </p:defaultTextStyle>
  <p:extLst>
    <p:ext uri="{EFAFB233-063F-42B5-8137-9DF3F51BA10A}">
      <p15:sldGuideLst xmlns:p15="http://schemas.microsoft.com/office/powerpoint/2012/main">
        <p15:guide id="1" orient="horz" pos="1800">
          <p15:clr>
            <a:srgbClr val="A4A3A4"/>
          </p15:clr>
        </p15:guide>
        <p15:guide id="2" pos="384">
          <p15:clr>
            <a:srgbClr val="A4A3A4"/>
          </p15:clr>
        </p15:guide>
        <p15:guide id="3" pos="5424">
          <p15:clr>
            <a:srgbClr val="A4A3A4"/>
          </p15:clr>
        </p15:guide>
        <p15:guide id="4" pos="5568">
          <p15:clr>
            <a:srgbClr val="A4A3A4"/>
          </p15:clr>
        </p15:guide>
        <p15:guide id="5" pos="2880">
          <p15:clr>
            <a:srgbClr val="A4A3A4"/>
          </p15:clr>
        </p15:guide>
        <p15:guide id="6" pos="3840">
          <p15:clr>
            <a:srgbClr val="A4A3A4"/>
          </p15:clr>
        </p15:guide>
        <p15:guide id="7" pos="19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47608C"/>
    <a:srgbClr val="4AB17D"/>
    <a:srgbClr val="B99B49"/>
    <a:srgbClr val="CFB87C"/>
    <a:srgbClr val="FFB300"/>
    <a:srgbClr val="E8DF5E"/>
    <a:srgbClr val="807247"/>
    <a:srgbClr val="E7FF73"/>
    <a:srgbClr val="226B1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D43FD-BDA1-374A-ACA1-AB3C4B1F0429}" v="5" dt="2026-01-14T04:21:52.9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66" autoAdjust="0"/>
    <p:restoredTop sz="78134" autoAdjust="0"/>
  </p:normalViewPr>
  <p:slideViewPr>
    <p:cSldViewPr showGuides="1">
      <p:cViewPr varScale="1">
        <p:scale>
          <a:sx n="118" d="100"/>
          <a:sy n="118" d="100"/>
        </p:scale>
        <p:origin x="504" y="192"/>
      </p:cViewPr>
      <p:guideLst>
        <p:guide orient="horz" pos="1800"/>
        <p:guide pos="384"/>
        <p:guide pos="5424"/>
        <p:guide pos="5568"/>
        <p:guide pos="2880"/>
        <p:guide pos="3840"/>
        <p:guide pos="1920"/>
      </p:guideLst>
    </p:cSldViewPr>
  </p:slideViewPr>
  <p:outlineViewPr>
    <p:cViewPr>
      <p:scale>
        <a:sx n="33" d="100"/>
        <a:sy n="33" d="100"/>
      </p:scale>
      <p:origin x="0" y="13784"/>
    </p:cViewPr>
  </p:outlineViewPr>
  <p:notesTextViewPr>
    <p:cViewPr>
      <p:scale>
        <a:sx n="100" d="100"/>
        <a:sy n="100" d="100"/>
      </p:scale>
      <p:origin x="0" y="0"/>
    </p:cViewPr>
  </p:notesTextViewPr>
  <p:notesViewPr>
    <p:cSldViewPr showGuides="1">
      <p:cViewPr varScale="1">
        <p:scale>
          <a:sx n="144" d="100"/>
          <a:sy n="144" d="100"/>
        </p:scale>
        <p:origin x="-2328" y="-12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microsoft.com/office/2015/10/relationships/revisionInfo" Target="revisionInfo.xml"/><Relationship Id="rId8" Type="http://schemas.openxmlformats.org/officeDocument/2006/relationships/slide" Target="slides/slide5.xml"/><Relationship Id="rId51"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vl1pPr>
          </a:lstStyle>
          <a:p>
            <a:endParaRPr lang="en-US"/>
          </a:p>
        </p:txBody>
      </p:sp>
      <p:sp>
        <p:nvSpPr>
          <p:cNvPr id="8195" name="Rectangle 1027"/>
          <p:cNvSpPr>
            <a:spLocks noGrp="1" noChangeArrowheads="1"/>
          </p:cNvSpPr>
          <p:nvPr>
            <p:ph type="dt" sz="quarter"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vl1pPr>
          </a:lstStyle>
          <a:p>
            <a:endParaRPr lang="en-US"/>
          </a:p>
        </p:txBody>
      </p:sp>
      <p:sp>
        <p:nvSpPr>
          <p:cNvPr id="8196" name="Rectangle 1028"/>
          <p:cNvSpPr>
            <a:spLocks noGrp="1" noChangeArrowheads="1"/>
          </p:cNvSpPr>
          <p:nvPr>
            <p:ph type="ftr" sz="quarter" idx="2"/>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vl1pPr>
          </a:lstStyle>
          <a:p>
            <a:endParaRPr lang="en-US"/>
          </a:p>
        </p:txBody>
      </p:sp>
      <p:sp>
        <p:nvSpPr>
          <p:cNvPr id="8197" name="Rectangle 1029"/>
          <p:cNvSpPr>
            <a:spLocks noGrp="1" noChangeArrowheads="1"/>
          </p:cNvSpPr>
          <p:nvPr>
            <p:ph type="sldNum" sz="quarter" idx="3"/>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vl1pPr>
          </a:lstStyle>
          <a:p>
            <a:fld id="{D3870C95-F741-F34A-8EC6-B9E7D715A059}" type="slidenum">
              <a:rPr lang="en-US"/>
              <a:pPr/>
              <a:t>‹#›</a:t>
            </a:fld>
            <a:endParaRPr lang="en-US"/>
          </a:p>
        </p:txBody>
      </p:sp>
    </p:spTree>
    <p:extLst>
      <p:ext uri="{BB962C8B-B14F-4D97-AF65-F5344CB8AC3E}">
        <p14:creationId xmlns:p14="http://schemas.microsoft.com/office/powerpoint/2010/main" val="40132137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vl1pPr>
          </a:lstStyle>
          <a:p>
            <a:endParaRPr lang="en-US"/>
          </a:p>
        </p:txBody>
      </p:sp>
      <p:sp>
        <p:nvSpPr>
          <p:cNvPr id="6147" name="Rectangle 3"/>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vl1pPr>
          </a:lstStyle>
          <a:p>
            <a:endParaRPr lang="en-US"/>
          </a:p>
        </p:txBody>
      </p:sp>
      <p:sp>
        <p:nvSpPr>
          <p:cNvPr id="14340" name="Rectangle 4"/>
          <p:cNvSpPr>
            <a:spLocks noGrp="1" noRot="1" noChangeAspect="1" noChangeArrowheads="1" noTextEdit="1"/>
          </p:cNvSpPr>
          <p:nvPr>
            <p:ph type="sldImg" idx="2"/>
          </p:nvPr>
        </p:nvSpPr>
        <p:spPr bwMode="auto">
          <a:xfrm>
            <a:off x="715963" y="696913"/>
            <a:ext cx="5578475" cy="34861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149" name="Rectangle 5"/>
          <p:cNvSpPr>
            <a:spLocks noGrp="1" noChangeArrowheads="1"/>
          </p:cNvSpPr>
          <p:nvPr>
            <p:ph type="body" sz="quarter" idx="3"/>
          </p:nvPr>
        </p:nvSpPr>
        <p:spPr bwMode="auto">
          <a:xfrm>
            <a:off x="934720" y="4415790"/>
            <a:ext cx="514096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vl1pPr>
          </a:lstStyle>
          <a:p>
            <a:endParaRPr lang="en-US"/>
          </a:p>
        </p:txBody>
      </p:sp>
      <p:sp>
        <p:nvSpPr>
          <p:cNvPr id="6151" name="Rectangle 7"/>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vl1pPr>
          </a:lstStyle>
          <a:p>
            <a:fld id="{6BB59E13-8434-AE46-A01A-5834BA16C253}" type="slidenum">
              <a:rPr lang="en-US"/>
              <a:pPr/>
              <a:t>‹#›</a:t>
            </a:fld>
            <a:endParaRPr lang="en-US"/>
          </a:p>
        </p:txBody>
      </p:sp>
    </p:spTree>
    <p:extLst>
      <p:ext uri="{BB962C8B-B14F-4D97-AF65-F5344CB8AC3E}">
        <p14:creationId xmlns:p14="http://schemas.microsoft.com/office/powerpoint/2010/main" val="301245047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charset="0"/>
        <a:ea typeface="Osaka" charset="-128"/>
        <a:cs typeface="Osaka" charset="-128"/>
      </a:defRPr>
    </a:lvl1pPr>
    <a:lvl2pPr marL="457200" algn="l" rtl="0" eaLnBrk="0" fontAlgn="base" hangingPunct="0">
      <a:spcBef>
        <a:spcPct val="30000"/>
      </a:spcBef>
      <a:spcAft>
        <a:spcPct val="0"/>
      </a:spcAft>
      <a:defRPr sz="1200" kern="1200">
        <a:solidFill>
          <a:schemeClr val="tx1"/>
        </a:solidFill>
        <a:latin typeface="Times" charset="0"/>
        <a:ea typeface="Osaka" charset="-128"/>
        <a:cs typeface="Osaka" charset="-128"/>
      </a:defRPr>
    </a:lvl2pPr>
    <a:lvl3pPr marL="914400" algn="l" rtl="0" eaLnBrk="0" fontAlgn="base" hangingPunct="0">
      <a:spcBef>
        <a:spcPct val="30000"/>
      </a:spcBef>
      <a:spcAft>
        <a:spcPct val="0"/>
      </a:spcAft>
      <a:defRPr sz="1200" kern="1200">
        <a:solidFill>
          <a:schemeClr val="tx1"/>
        </a:solidFill>
        <a:latin typeface="Times" charset="0"/>
        <a:ea typeface="Osaka" charset="-128"/>
        <a:cs typeface="Osaka" charset="-128"/>
      </a:defRPr>
    </a:lvl3pPr>
    <a:lvl4pPr marL="1371600" algn="l" rtl="0" eaLnBrk="0" fontAlgn="base" hangingPunct="0">
      <a:spcBef>
        <a:spcPct val="30000"/>
      </a:spcBef>
      <a:spcAft>
        <a:spcPct val="0"/>
      </a:spcAft>
      <a:defRPr sz="1200" kern="1200">
        <a:solidFill>
          <a:schemeClr val="tx1"/>
        </a:solidFill>
        <a:latin typeface="Times" charset="0"/>
        <a:ea typeface="Osaka" charset="-128"/>
        <a:cs typeface="Osaka" charset="-128"/>
      </a:defRPr>
    </a:lvl4pPr>
    <a:lvl5pPr marL="1828800" algn="l" rtl="0" eaLnBrk="0" fontAlgn="base" hangingPunct="0">
      <a:spcBef>
        <a:spcPct val="30000"/>
      </a:spcBef>
      <a:spcAft>
        <a:spcPct val="0"/>
      </a:spcAft>
      <a:defRPr sz="1200" kern="1200">
        <a:solidFill>
          <a:schemeClr val="tx1"/>
        </a:solidFill>
        <a:latin typeface="Times" charset="0"/>
        <a:ea typeface="Osaka" charset="-128"/>
        <a:cs typeface="Osaka"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a:t>
            </a:fld>
            <a:endParaRPr lang="en-US" dirty="0"/>
          </a:p>
        </p:txBody>
      </p:sp>
    </p:spTree>
    <p:extLst>
      <p:ext uri="{BB962C8B-B14F-4D97-AF65-F5344CB8AC3E}">
        <p14:creationId xmlns:p14="http://schemas.microsoft.com/office/powerpoint/2010/main" val="330720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www.differencebetween.com</a:t>
            </a:r>
            <a:r>
              <a:rPr lang="en-US" dirty="0"/>
              <a:t>/difference-between-</a:t>
            </a:r>
            <a:r>
              <a:rPr lang="en-US" dirty="0" err="1"/>
              <a:t>dna</a:t>
            </a:r>
            <a:r>
              <a:rPr lang="en-US" dirty="0"/>
              <a:t>-and-vs-chromosome/</a:t>
            </a:r>
          </a:p>
          <a:p>
            <a:r>
              <a:rPr lang="en-US" dirty="0"/>
              <a:t>https://</a:t>
            </a:r>
            <a:r>
              <a:rPr lang="en-US" dirty="0" err="1"/>
              <a:t>facts.net</a:t>
            </a:r>
            <a:r>
              <a:rPr lang="en-US" dirty="0"/>
              <a:t>/science/biology/15-captivating-facts-about-dna-nucleotides-a-t-c-g/</a:t>
            </a:r>
          </a:p>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4</a:t>
            </a:fld>
            <a:endParaRPr lang="en-US"/>
          </a:p>
        </p:txBody>
      </p:sp>
    </p:spTree>
    <p:extLst>
      <p:ext uri="{BB962C8B-B14F-4D97-AF65-F5344CB8AC3E}">
        <p14:creationId xmlns:p14="http://schemas.microsoft.com/office/powerpoint/2010/main" val="3972728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storymd.com</a:t>
            </a:r>
            <a:r>
              <a:rPr lang="en-US" dirty="0"/>
              <a:t>/journal/jbr3n4d02w-genetics/page/pdoyos2g9zq-how-genes-work</a:t>
            </a:r>
          </a:p>
          <a:p>
            <a:r>
              <a:rPr lang="en-US" dirty="0"/>
              <a:t>Numbers from Johnathan Pritchard (textbook in preparation)</a:t>
            </a:r>
          </a:p>
        </p:txBody>
      </p:sp>
      <p:sp>
        <p:nvSpPr>
          <p:cNvPr id="4" name="Slide Number Placeholder 3"/>
          <p:cNvSpPr>
            <a:spLocks noGrp="1"/>
          </p:cNvSpPr>
          <p:nvPr>
            <p:ph type="sldNum" sz="quarter" idx="5"/>
          </p:nvPr>
        </p:nvSpPr>
        <p:spPr/>
        <p:txBody>
          <a:bodyPr/>
          <a:lstStyle/>
          <a:p>
            <a:fld id="{6BB59E13-8434-AE46-A01A-5834BA16C253}" type="slidenum">
              <a:rPr lang="en-US" smtClean="0"/>
              <a:pPr/>
              <a:t>5</a:t>
            </a:fld>
            <a:endParaRPr lang="en-US"/>
          </a:p>
        </p:txBody>
      </p:sp>
    </p:spTree>
    <p:extLst>
      <p:ext uri="{BB962C8B-B14F-4D97-AF65-F5344CB8AC3E}">
        <p14:creationId xmlns:p14="http://schemas.microsoft.com/office/powerpoint/2010/main" val="1837080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u="sng" kern="0" dirty="0"/>
              <a:t>Allele</a:t>
            </a:r>
            <a:r>
              <a:rPr lang="en-US" sz="1200" kern="0" dirty="0"/>
              <a:t> – one of two or more alternative forms of a DNA sequence</a:t>
            </a:r>
            <a:endParaRPr lang="en-US" sz="1200" u="sng" kern="0" dirty="0"/>
          </a:p>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6</a:t>
            </a:fld>
            <a:endParaRPr lang="en-US"/>
          </a:p>
        </p:txBody>
      </p:sp>
    </p:spTree>
    <p:extLst>
      <p:ext uri="{BB962C8B-B14F-4D97-AF65-F5344CB8AC3E}">
        <p14:creationId xmlns:p14="http://schemas.microsoft.com/office/powerpoint/2010/main" val="2428513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Turner S</a:t>
            </a:r>
          </a:p>
        </p:txBody>
      </p:sp>
      <p:sp>
        <p:nvSpPr>
          <p:cNvPr id="4" name="Slide Number Placeholder 3"/>
          <p:cNvSpPr>
            <a:spLocks noGrp="1"/>
          </p:cNvSpPr>
          <p:nvPr>
            <p:ph type="sldNum" sz="quarter" idx="5"/>
          </p:nvPr>
        </p:nvSpPr>
        <p:spPr/>
        <p:txBody>
          <a:bodyPr/>
          <a:lstStyle/>
          <a:p>
            <a:fld id="{C8FBCB46-B193-4148-AA01-C67D6EA695F4}" type="slidenum">
              <a:rPr lang="en-US" smtClean="0"/>
              <a:t>7</a:t>
            </a:fld>
            <a:endParaRPr lang="en-US"/>
          </a:p>
        </p:txBody>
      </p:sp>
    </p:spTree>
    <p:extLst>
      <p:ext uri="{BB962C8B-B14F-4D97-AF65-F5344CB8AC3E}">
        <p14:creationId xmlns:p14="http://schemas.microsoft.com/office/powerpoint/2010/main" val="3576783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10</a:t>
            </a:fld>
            <a:endParaRPr lang="en-US" dirty="0"/>
          </a:p>
        </p:txBody>
      </p:sp>
    </p:spTree>
    <p:extLst>
      <p:ext uri="{BB962C8B-B14F-4D97-AF65-F5344CB8AC3E}">
        <p14:creationId xmlns:p14="http://schemas.microsoft.com/office/powerpoint/2010/main" val="3640346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dirty="0"/>
              <a:t>Penetrance</a:t>
            </a:r>
            <a:r>
              <a:rPr lang="en-US" sz="1200" dirty="0"/>
              <a:t>: how often the genotype leads to disease (e.g., unaffected vs. affected)</a:t>
            </a:r>
          </a:p>
          <a:p>
            <a:r>
              <a:rPr lang="en-US" sz="1200" u="sng" dirty="0"/>
              <a:t>Expressivity</a:t>
            </a:r>
            <a:r>
              <a:rPr lang="en-US" sz="1200" dirty="0"/>
              <a:t>: the range of disease presentation (e.g., mild vs. severe)</a:t>
            </a:r>
          </a:p>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11</a:t>
            </a:fld>
            <a:endParaRPr lang="en-US"/>
          </a:p>
        </p:txBody>
      </p:sp>
    </p:spTree>
    <p:extLst>
      <p:ext uri="{BB962C8B-B14F-4D97-AF65-F5344CB8AC3E}">
        <p14:creationId xmlns:p14="http://schemas.microsoft.com/office/powerpoint/2010/main" val="1926644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13</a:t>
            </a:fld>
            <a:endParaRPr lang="en-US"/>
          </a:p>
        </p:txBody>
      </p:sp>
    </p:spTree>
    <p:extLst>
      <p:ext uri="{BB962C8B-B14F-4D97-AF65-F5344CB8AC3E}">
        <p14:creationId xmlns:p14="http://schemas.microsoft.com/office/powerpoint/2010/main" val="2143490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14</a:t>
            </a:fld>
            <a:endParaRPr lang="en-US" dirty="0"/>
          </a:p>
        </p:txBody>
      </p:sp>
    </p:spTree>
    <p:extLst>
      <p:ext uri="{BB962C8B-B14F-4D97-AF65-F5344CB8AC3E}">
        <p14:creationId xmlns:p14="http://schemas.microsoft.com/office/powerpoint/2010/main" val="1530838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16</a:t>
            </a:fld>
            <a:endParaRPr lang="en-US"/>
          </a:p>
        </p:txBody>
      </p:sp>
    </p:spTree>
    <p:extLst>
      <p:ext uri="{BB962C8B-B14F-4D97-AF65-F5344CB8AC3E}">
        <p14:creationId xmlns:p14="http://schemas.microsoft.com/office/powerpoint/2010/main" val="32127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prevalence of the condition does not need to be different between the two ancestries for population stratification to occur, because there will always be a slight difference in ancestral groups between cases and controls -&gt; non-random sampling, subtle biases like regional differences, or differences in correlates with ancestry, etc. </a:t>
            </a:r>
          </a:p>
        </p:txBody>
      </p:sp>
      <p:sp>
        <p:nvSpPr>
          <p:cNvPr id="4" name="Slide Number Placeholder 3"/>
          <p:cNvSpPr>
            <a:spLocks noGrp="1"/>
          </p:cNvSpPr>
          <p:nvPr>
            <p:ph type="sldNum" sz="quarter" idx="5"/>
          </p:nvPr>
        </p:nvSpPr>
        <p:spPr/>
        <p:txBody>
          <a:bodyPr/>
          <a:lstStyle/>
          <a:p>
            <a:fld id="{56F931D2-7228-BE4D-9D26-5F65E3EE470E}" type="slidenum">
              <a:rPr lang="en-US" smtClean="0"/>
              <a:t>24</a:t>
            </a:fld>
            <a:endParaRPr lang="en-US"/>
          </a:p>
        </p:txBody>
      </p:sp>
    </p:spTree>
    <p:extLst>
      <p:ext uri="{BB962C8B-B14F-4D97-AF65-F5344CB8AC3E}">
        <p14:creationId xmlns:p14="http://schemas.microsoft.com/office/powerpoint/2010/main" val="660288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ECB2D2-2E06-8649-91AC-4D9460488A0C}" type="slidenum">
              <a:rPr lang="en-US" smtClean="0"/>
              <a:t>28</a:t>
            </a:fld>
            <a:endParaRPr lang="en-US"/>
          </a:p>
        </p:txBody>
      </p:sp>
    </p:spTree>
    <p:extLst>
      <p:ext uri="{BB962C8B-B14F-4D97-AF65-F5344CB8AC3E}">
        <p14:creationId xmlns:p14="http://schemas.microsoft.com/office/powerpoint/2010/main" val="2139061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30</a:t>
            </a:fld>
            <a:endParaRPr lang="en-US"/>
          </a:p>
        </p:txBody>
      </p:sp>
    </p:spTree>
    <p:extLst>
      <p:ext uri="{BB962C8B-B14F-4D97-AF65-F5344CB8AC3E}">
        <p14:creationId xmlns:p14="http://schemas.microsoft.com/office/powerpoint/2010/main" val="969094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31</a:t>
            </a:fld>
            <a:endParaRPr lang="en-US" dirty="0"/>
          </a:p>
        </p:txBody>
      </p:sp>
    </p:spTree>
    <p:extLst>
      <p:ext uri="{BB962C8B-B14F-4D97-AF65-F5344CB8AC3E}">
        <p14:creationId xmlns:p14="http://schemas.microsoft.com/office/powerpoint/2010/main" val="2317040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33</a:t>
            </a:fld>
            <a:endParaRPr lang="en-US"/>
          </a:p>
        </p:txBody>
      </p:sp>
    </p:spTree>
    <p:extLst>
      <p:ext uri="{BB962C8B-B14F-4D97-AF65-F5344CB8AC3E}">
        <p14:creationId xmlns:p14="http://schemas.microsoft.com/office/powerpoint/2010/main" val="262113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34</a:t>
            </a:fld>
            <a:endParaRPr lang="en-US"/>
          </a:p>
        </p:txBody>
      </p:sp>
    </p:spTree>
    <p:extLst>
      <p:ext uri="{BB962C8B-B14F-4D97-AF65-F5344CB8AC3E}">
        <p14:creationId xmlns:p14="http://schemas.microsoft.com/office/powerpoint/2010/main" val="4048445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35</a:t>
            </a:fld>
            <a:endParaRPr lang="en-US"/>
          </a:p>
        </p:txBody>
      </p:sp>
    </p:spTree>
    <p:extLst>
      <p:ext uri="{BB962C8B-B14F-4D97-AF65-F5344CB8AC3E}">
        <p14:creationId xmlns:p14="http://schemas.microsoft.com/office/powerpoint/2010/main" val="829442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P&lt;0.05 is equivalent to saying “The probability of getting your result due to chance (and not a real association) is less than 5%”. Smaller p-values mean more significant results, because you are more confident your result is not due to chance.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Multiple Testing problem: When you conduct multiple tests, you are more likely that any given test is a false positive (that the results are due to chance alone). Therefore, we need to adjust our significance threshold. A good video explaining this: https://</a:t>
            </a:r>
            <a:r>
              <a:rPr lang="en-US" dirty="0" err="1"/>
              <a:t>www.youtube.com</a:t>
            </a:r>
            <a:r>
              <a:rPr lang="en-US" dirty="0"/>
              <a:t>/</a:t>
            </a:r>
            <a:r>
              <a:rPr lang="en-US" dirty="0" err="1"/>
              <a:t>watch?v</a:t>
            </a:r>
            <a:r>
              <a:rPr lang="en-US" dirty="0"/>
              <a:t>=HpjlcEH4zuY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We need to correct the original 0.05 threshold by the number of tests we are performing. Although we are testing 10 million common genetic variants in the genome, they are not all independent.  Genetic variants physically close together are correlated due to linkage disequilibrium.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So we just need to adjust for the approximately 1 million independent common genetic variants in the genome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38</a:t>
            </a:fld>
            <a:endParaRPr lang="en-US"/>
          </a:p>
        </p:txBody>
      </p:sp>
    </p:spTree>
    <p:extLst>
      <p:ext uri="{BB962C8B-B14F-4D97-AF65-F5344CB8AC3E}">
        <p14:creationId xmlns:p14="http://schemas.microsoft.com/office/powerpoint/2010/main" val="33272823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P&lt;0.05 is equivalent to saying “The probability of getting your result due to chance (and not a real association) is less than 5%”. Smaller p-values mean more significant results, because you are more confident your result is not due to chance.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Multiple Testing problem: When you conduct multiple tests, you are more likely that any given test is a false positive (that the results are due to chance alone). Therefore, we need to adjust our significance threshold. A good video explaining this: https://</a:t>
            </a:r>
            <a:r>
              <a:rPr lang="en-US" dirty="0" err="1"/>
              <a:t>www.youtube.com</a:t>
            </a:r>
            <a:r>
              <a:rPr lang="en-US" dirty="0"/>
              <a:t>/</a:t>
            </a:r>
            <a:r>
              <a:rPr lang="en-US" dirty="0" err="1"/>
              <a:t>watch?v</a:t>
            </a:r>
            <a:r>
              <a:rPr lang="en-US" dirty="0"/>
              <a:t>=HpjlcEH4zuY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We need to correct the original 0.05 threshold by the number of tests we are performing. Although we are testing 10 million common genetic variants in the genome, they are not all independent.  Genetic variants physically close together are correlated due to linkage disequilibrium.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So we just need to adjust for the approximately 1 million independent common genetic variants in the genome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39</a:t>
            </a:fld>
            <a:endParaRPr lang="en-US"/>
          </a:p>
        </p:txBody>
      </p:sp>
    </p:spTree>
    <p:extLst>
      <p:ext uri="{BB962C8B-B14F-4D97-AF65-F5344CB8AC3E}">
        <p14:creationId xmlns:p14="http://schemas.microsoft.com/office/powerpoint/2010/main" val="1419626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59E13-8434-AE46-A01A-5834BA16C253}" type="slidenum">
              <a:rPr lang="en-US" smtClean="0"/>
              <a:pPr/>
              <a:t>44</a:t>
            </a:fld>
            <a:endParaRPr lang="en-US"/>
          </a:p>
        </p:txBody>
      </p:sp>
    </p:spTree>
    <p:extLst>
      <p:ext uri="{BB962C8B-B14F-4D97-AF65-F5344CB8AC3E}">
        <p14:creationId xmlns:p14="http://schemas.microsoft.com/office/powerpoint/2010/main" val="25727525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13"/>
          <p:cNvSpPr>
            <a:spLocks noChangeArrowheads="1"/>
          </p:cNvSpPr>
          <p:nvPr userDrawn="1"/>
        </p:nvSpPr>
        <p:spPr bwMode="auto">
          <a:xfrm>
            <a:off x="0" y="-38100"/>
            <a:ext cx="9144000" cy="5118100"/>
          </a:xfrm>
          <a:prstGeom prst="rect">
            <a:avLst/>
          </a:prstGeom>
          <a:gradFill rotWithShape="0">
            <a:gsLst>
              <a:gs pos="0">
                <a:schemeClr val="tx1"/>
              </a:gs>
              <a:gs pos="100000">
                <a:srgbClr val="333333"/>
              </a:gs>
            </a:gsLst>
            <a:lin ang="5400000" scaled="1"/>
          </a:gradFill>
          <a:ln w="9525">
            <a:noFill/>
            <a:miter lim="800000"/>
            <a:headEnd/>
            <a:tailEnd/>
          </a:ln>
          <a:effectLst/>
        </p:spPr>
        <p:txBody>
          <a:bodyPr wrap="none" anchor="ctr"/>
          <a:lstStyle/>
          <a:p>
            <a:endParaRPr lang="en-US"/>
          </a:p>
        </p:txBody>
      </p:sp>
      <p:sp>
        <p:nvSpPr>
          <p:cNvPr id="5" name="Rectangle 7"/>
          <p:cNvSpPr>
            <a:spLocks noChangeArrowheads="1"/>
          </p:cNvSpPr>
          <p:nvPr userDrawn="1"/>
        </p:nvSpPr>
        <p:spPr bwMode="auto">
          <a:xfrm>
            <a:off x="0" y="4699000"/>
            <a:ext cx="9144000" cy="1016000"/>
          </a:xfrm>
          <a:prstGeom prst="rect">
            <a:avLst/>
          </a:prstGeom>
          <a:solidFill>
            <a:schemeClr val="tx1"/>
          </a:solidFill>
          <a:ln w="9525">
            <a:noFill/>
            <a:miter lim="800000"/>
            <a:headEnd/>
            <a:tailEnd/>
          </a:ln>
          <a:effectLst/>
        </p:spPr>
        <p:txBody>
          <a:bodyPr wrap="none" anchor="ctr"/>
          <a:lstStyle/>
          <a:p>
            <a:endParaRPr lang="en-US"/>
          </a:p>
        </p:txBody>
      </p:sp>
      <p:sp>
        <p:nvSpPr>
          <p:cNvPr id="6" name="Line 10"/>
          <p:cNvSpPr>
            <a:spLocks noChangeShapeType="1"/>
          </p:cNvSpPr>
          <p:nvPr userDrawn="1"/>
        </p:nvSpPr>
        <p:spPr bwMode="auto">
          <a:xfrm>
            <a:off x="0" y="4699000"/>
            <a:ext cx="9144000" cy="0"/>
          </a:xfrm>
          <a:prstGeom prst="line">
            <a:avLst/>
          </a:prstGeom>
          <a:noFill/>
          <a:ln w="6350">
            <a:solidFill>
              <a:srgbClr val="4D4D4D"/>
            </a:solidFill>
            <a:round/>
            <a:headEnd/>
            <a:tailEnd/>
          </a:ln>
          <a:effectLst/>
        </p:spPr>
        <p:txBody>
          <a:bodyPr wrap="none" anchor="ctr"/>
          <a:lstStyle/>
          <a:p>
            <a:pPr>
              <a:defRPr/>
            </a:pPr>
            <a:endParaRPr lang="en-US">
              <a:ea typeface="Osaka" charset="-128"/>
              <a:cs typeface="Osaka" charset="-128"/>
            </a:endParaRPr>
          </a:p>
        </p:txBody>
      </p:sp>
      <p:sp>
        <p:nvSpPr>
          <p:cNvPr id="3074" name="Rectangle 2"/>
          <p:cNvSpPr>
            <a:spLocks noGrp="1" noChangeArrowheads="1"/>
          </p:cNvSpPr>
          <p:nvPr>
            <p:ph type="ctrTitle"/>
          </p:nvPr>
        </p:nvSpPr>
        <p:spPr>
          <a:xfrm>
            <a:off x="533400" y="823286"/>
            <a:ext cx="7772400" cy="952500"/>
          </a:xfrm>
        </p:spPr>
        <p:txBody>
          <a:bodyPr anchor="ctr"/>
          <a:lstStyle>
            <a:lvl1pPr algn="l">
              <a:defRPr sz="2800">
                <a:solidFill>
                  <a:srgbClr val="CFB87C"/>
                </a:solidFill>
              </a:defRPr>
            </a:lvl1pPr>
          </a:lstStyle>
          <a:p>
            <a:r>
              <a:rPr lang="en-US" dirty="0"/>
              <a:t>Click to edit Master title style</a:t>
            </a:r>
          </a:p>
        </p:txBody>
      </p:sp>
      <p:sp>
        <p:nvSpPr>
          <p:cNvPr id="3075" name="Rectangle 3"/>
          <p:cNvSpPr>
            <a:spLocks noGrp="1" noChangeArrowheads="1"/>
          </p:cNvSpPr>
          <p:nvPr>
            <p:ph type="subTitle" idx="1"/>
          </p:nvPr>
        </p:nvSpPr>
        <p:spPr>
          <a:xfrm>
            <a:off x="533400" y="2556487"/>
            <a:ext cx="6400800" cy="1460500"/>
          </a:xfrm>
        </p:spPr>
        <p:txBody>
          <a:bodyPr/>
          <a:lstStyle>
            <a:lvl1pPr marL="0" indent="0" algn="l">
              <a:spcBef>
                <a:spcPts val="0"/>
              </a:spcBef>
              <a:spcAft>
                <a:spcPts val="600"/>
              </a:spcAft>
              <a:buFont typeface="Wingdings" charset="2"/>
              <a:buNone/>
              <a:defRPr sz="1800">
                <a:solidFill>
                  <a:schemeClr val="bg1"/>
                </a:solidFill>
              </a:defRPr>
            </a:lvl1pPr>
          </a:lstStyle>
          <a:p>
            <a:r>
              <a:rPr lang="en-US" dirty="0"/>
              <a:t>Click to edit Master subtitle style</a:t>
            </a:r>
          </a:p>
        </p:txBody>
      </p:sp>
      <p:sp>
        <p:nvSpPr>
          <p:cNvPr id="9" name="Rectangle 7"/>
          <p:cNvSpPr>
            <a:spLocks noChangeArrowheads="1"/>
          </p:cNvSpPr>
          <p:nvPr userDrawn="1"/>
        </p:nvSpPr>
        <p:spPr bwMode="auto">
          <a:xfrm>
            <a:off x="0" y="4635500"/>
            <a:ext cx="9144000" cy="63500"/>
          </a:xfrm>
          <a:prstGeom prst="rect">
            <a:avLst/>
          </a:prstGeom>
          <a:solidFill>
            <a:srgbClr val="CFB87C"/>
          </a:solidFill>
          <a:ln w="9525">
            <a:noFill/>
            <a:miter lim="800000"/>
            <a:headEnd/>
            <a:tailEnd/>
          </a:ln>
          <a:effectLst/>
        </p:spPr>
        <p:txBody>
          <a:bodyPr wrap="none" anchor="ctr"/>
          <a:lstStyle/>
          <a:p>
            <a:endParaRPr lang="en-US"/>
          </a:p>
        </p:txBody>
      </p:sp>
      <p:pic>
        <p:nvPicPr>
          <p:cNvPr id="13" name="Picture 12">
            <a:extLst>
              <a:ext uri="{FF2B5EF4-FFF2-40B4-BE49-F238E27FC236}">
                <a16:creationId xmlns:a16="http://schemas.microsoft.com/office/drawing/2014/main" id="{CB8918F9-C2EF-F822-8E41-BC8FD657C24C}"/>
              </a:ext>
            </a:extLst>
          </p:cNvPr>
          <p:cNvPicPr>
            <a:picLocks noChangeAspect="1"/>
          </p:cNvPicPr>
          <p:nvPr userDrawn="1"/>
        </p:nvPicPr>
        <p:blipFill>
          <a:blip r:embed="rId2"/>
          <a:stretch>
            <a:fillRect/>
          </a:stretch>
        </p:blipFill>
        <p:spPr>
          <a:xfrm>
            <a:off x="152400" y="4702088"/>
            <a:ext cx="4938584" cy="916438"/>
          </a:xfrm>
          <a:prstGeom prst="rect">
            <a:avLst/>
          </a:prstGeom>
        </p:spPr>
      </p:pic>
    </p:spTree>
    <p:extLst>
      <p:ext uri="{BB962C8B-B14F-4D97-AF65-F5344CB8AC3E}">
        <p14:creationId xmlns:p14="http://schemas.microsoft.com/office/powerpoint/2010/main" val="2208094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4" name="Rectangle 13"/>
          <p:cNvSpPr>
            <a:spLocks noChangeArrowheads="1"/>
          </p:cNvSpPr>
          <p:nvPr userDrawn="1"/>
        </p:nvSpPr>
        <p:spPr bwMode="auto">
          <a:xfrm>
            <a:off x="0" y="194399"/>
            <a:ext cx="9144000" cy="5118100"/>
          </a:xfrm>
          <a:prstGeom prst="rect">
            <a:avLst/>
          </a:prstGeom>
          <a:gradFill rotWithShape="0">
            <a:gsLst>
              <a:gs pos="0">
                <a:schemeClr val="tx1"/>
              </a:gs>
              <a:gs pos="100000">
                <a:srgbClr val="333333"/>
              </a:gs>
            </a:gsLst>
            <a:lin ang="5400000" scaled="1"/>
          </a:gradFill>
          <a:ln w="9525">
            <a:noFill/>
            <a:miter lim="800000"/>
            <a:headEnd/>
            <a:tailEnd/>
          </a:ln>
          <a:effectLst/>
        </p:spPr>
        <p:txBody>
          <a:bodyPr wrap="none" anchor="ctr"/>
          <a:lstStyle/>
          <a:p>
            <a:endParaRPr lang="en-US"/>
          </a:p>
        </p:txBody>
      </p:sp>
      <p:sp>
        <p:nvSpPr>
          <p:cNvPr id="5" name="Rectangle 7"/>
          <p:cNvSpPr>
            <a:spLocks noChangeArrowheads="1"/>
          </p:cNvSpPr>
          <p:nvPr userDrawn="1"/>
        </p:nvSpPr>
        <p:spPr bwMode="auto">
          <a:xfrm>
            <a:off x="0" y="4699000"/>
            <a:ext cx="9144000" cy="1016000"/>
          </a:xfrm>
          <a:prstGeom prst="rect">
            <a:avLst/>
          </a:prstGeom>
          <a:solidFill>
            <a:schemeClr val="tx1"/>
          </a:solidFill>
          <a:ln w="9525">
            <a:noFill/>
            <a:miter lim="800000"/>
            <a:headEnd/>
            <a:tailEnd/>
          </a:ln>
          <a:effectLst/>
        </p:spPr>
        <p:txBody>
          <a:bodyPr wrap="none" anchor="ctr"/>
          <a:lstStyle/>
          <a:p>
            <a:endParaRPr lang="en-US"/>
          </a:p>
        </p:txBody>
      </p:sp>
      <p:sp>
        <p:nvSpPr>
          <p:cNvPr id="6" name="Line 10"/>
          <p:cNvSpPr>
            <a:spLocks noChangeShapeType="1"/>
          </p:cNvSpPr>
          <p:nvPr userDrawn="1"/>
        </p:nvSpPr>
        <p:spPr bwMode="auto">
          <a:xfrm>
            <a:off x="0" y="4699000"/>
            <a:ext cx="9144000" cy="0"/>
          </a:xfrm>
          <a:prstGeom prst="line">
            <a:avLst/>
          </a:prstGeom>
          <a:noFill/>
          <a:ln w="6350">
            <a:solidFill>
              <a:srgbClr val="4D4D4D"/>
            </a:solidFill>
            <a:round/>
            <a:headEnd/>
            <a:tailEnd/>
          </a:ln>
          <a:effectLst/>
        </p:spPr>
        <p:txBody>
          <a:bodyPr wrap="none" anchor="ctr"/>
          <a:lstStyle/>
          <a:p>
            <a:pPr>
              <a:defRPr/>
            </a:pPr>
            <a:endParaRPr lang="en-US">
              <a:ea typeface="Osaka" charset="-128"/>
              <a:cs typeface="Osaka" charset="-128"/>
            </a:endParaRPr>
          </a:p>
        </p:txBody>
      </p:sp>
      <p:sp>
        <p:nvSpPr>
          <p:cNvPr id="3074" name="Rectangle 2"/>
          <p:cNvSpPr>
            <a:spLocks noGrp="1" noChangeArrowheads="1"/>
          </p:cNvSpPr>
          <p:nvPr>
            <p:ph type="ctrTitle"/>
          </p:nvPr>
        </p:nvSpPr>
        <p:spPr>
          <a:xfrm>
            <a:off x="533400" y="876300"/>
            <a:ext cx="7772400" cy="952500"/>
          </a:xfrm>
        </p:spPr>
        <p:txBody>
          <a:bodyPr anchor="ctr"/>
          <a:lstStyle>
            <a:lvl1pPr algn="l">
              <a:defRPr sz="2800">
                <a:solidFill>
                  <a:srgbClr val="CFB87C"/>
                </a:solidFill>
              </a:defRPr>
            </a:lvl1pPr>
          </a:lstStyle>
          <a:p>
            <a:r>
              <a:rPr lang="en-US" dirty="0"/>
              <a:t>Click to edit Master title style</a:t>
            </a:r>
          </a:p>
        </p:txBody>
      </p:sp>
      <p:sp>
        <p:nvSpPr>
          <p:cNvPr id="3075" name="Rectangle 3"/>
          <p:cNvSpPr>
            <a:spLocks noGrp="1" noChangeArrowheads="1"/>
          </p:cNvSpPr>
          <p:nvPr>
            <p:ph type="subTitle" idx="1"/>
          </p:nvPr>
        </p:nvSpPr>
        <p:spPr>
          <a:xfrm>
            <a:off x="533400" y="2324100"/>
            <a:ext cx="6400800" cy="1460500"/>
          </a:xfrm>
        </p:spPr>
        <p:txBody>
          <a:bodyPr/>
          <a:lstStyle>
            <a:lvl1pPr marL="0" indent="0" algn="l">
              <a:spcBef>
                <a:spcPts val="0"/>
              </a:spcBef>
              <a:spcAft>
                <a:spcPts val="600"/>
              </a:spcAft>
              <a:buFont typeface="Wingdings" charset="2"/>
              <a:buNone/>
              <a:defRPr sz="1800">
                <a:solidFill>
                  <a:schemeClr val="bg1"/>
                </a:solidFill>
              </a:defRPr>
            </a:lvl1pPr>
          </a:lstStyle>
          <a:p>
            <a:r>
              <a:rPr lang="en-US" dirty="0"/>
              <a:t>Click to edit Master subtitle style</a:t>
            </a:r>
          </a:p>
        </p:txBody>
      </p:sp>
      <p:sp>
        <p:nvSpPr>
          <p:cNvPr id="9" name="Rectangle 7"/>
          <p:cNvSpPr>
            <a:spLocks noChangeArrowheads="1"/>
          </p:cNvSpPr>
          <p:nvPr userDrawn="1"/>
        </p:nvSpPr>
        <p:spPr bwMode="auto">
          <a:xfrm>
            <a:off x="0" y="4635500"/>
            <a:ext cx="9144000" cy="63500"/>
          </a:xfrm>
          <a:prstGeom prst="rect">
            <a:avLst/>
          </a:prstGeom>
          <a:solidFill>
            <a:srgbClr val="CFB87C"/>
          </a:solidFill>
          <a:ln w="9525">
            <a:noFill/>
            <a:miter lim="800000"/>
            <a:headEnd/>
            <a:tailEnd/>
          </a:ln>
          <a:effectLst/>
        </p:spPr>
        <p:txBody>
          <a:bodyPr wrap="none" anchor="ctr"/>
          <a:lstStyle/>
          <a:p>
            <a:endParaRPr lang="en-US"/>
          </a:p>
        </p:txBody>
      </p:sp>
      <p:pic>
        <p:nvPicPr>
          <p:cNvPr id="13" name="Picture 12">
            <a:extLst>
              <a:ext uri="{FF2B5EF4-FFF2-40B4-BE49-F238E27FC236}">
                <a16:creationId xmlns:a16="http://schemas.microsoft.com/office/drawing/2014/main" id="{CB8918F9-C2EF-F822-8E41-BC8FD657C24C}"/>
              </a:ext>
            </a:extLst>
          </p:cNvPr>
          <p:cNvPicPr>
            <a:picLocks noChangeAspect="1"/>
          </p:cNvPicPr>
          <p:nvPr userDrawn="1"/>
        </p:nvPicPr>
        <p:blipFill>
          <a:blip r:embed="rId2"/>
          <a:stretch>
            <a:fillRect/>
          </a:stretch>
        </p:blipFill>
        <p:spPr>
          <a:xfrm>
            <a:off x="152400" y="4702088"/>
            <a:ext cx="4938584" cy="916438"/>
          </a:xfrm>
          <a:prstGeom prst="rect">
            <a:avLst/>
          </a:prstGeom>
        </p:spPr>
      </p:pic>
      <p:sp>
        <p:nvSpPr>
          <p:cNvPr id="2" name="Rectangle 3">
            <a:extLst>
              <a:ext uri="{FF2B5EF4-FFF2-40B4-BE49-F238E27FC236}">
                <a16:creationId xmlns:a16="http://schemas.microsoft.com/office/drawing/2014/main" id="{19479C46-AA31-54D5-18A7-ED60878CC718}"/>
              </a:ext>
            </a:extLst>
          </p:cNvPr>
          <p:cNvSpPr txBox="1">
            <a:spLocks noChangeArrowheads="1"/>
          </p:cNvSpPr>
          <p:nvPr userDrawn="1"/>
        </p:nvSpPr>
        <p:spPr bwMode="auto">
          <a:xfrm>
            <a:off x="533400" y="189250"/>
            <a:ext cx="6400800" cy="445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lvl1pPr marL="0" indent="0" algn="l" rtl="0" eaLnBrk="1" fontAlgn="base" hangingPunct="1">
              <a:spcBef>
                <a:spcPts val="0"/>
              </a:spcBef>
              <a:spcAft>
                <a:spcPts val="600"/>
              </a:spcAft>
              <a:buClr>
                <a:srgbClr val="B99B49"/>
              </a:buClr>
              <a:buFont typeface="Wingdings" charset="2"/>
              <a:buNone/>
              <a:defRPr sz="1800">
                <a:solidFill>
                  <a:srgbClr val="CCCCCC"/>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a:lstStyle>
          <a:p>
            <a:r>
              <a:rPr lang="en-US" b="1" kern="0" dirty="0">
                <a:solidFill>
                  <a:schemeClr val="bg1"/>
                </a:solidFill>
              </a:rPr>
              <a:t>Click to edit Master subtitle style</a:t>
            </a:r>
          </a:p>
        </p:txBody>
      </p:sp>
    </p:spTree>
    <p:extLst>
      <p:ext uri="{BB962C8B-B14F-4D97-AF65-F5344CB8AC3E}">
        <p14:creationId xmlns:p14="http://schemas.microsoft.com/office/powerpoint/2010/main" val="2701907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Rectangle 13"/>
          <p:cNvSpPr>
            <a:spLocks noChangeArrowheads="1"/>
          </p:cNvSpPr>
          <p:nvPr userDrawn="1"/>
        </p:nvSpPr>
        <p:spPr bwMode="auto">
          <a:xfrm>
            <a:off x="0" y="190500"/>
            <a:ext cx="9144000" cy="5118100"/>
          </a:xfrm>
          <a:prstGeom prst="rect">
            <a:avLst/>
          </a:prstGeom>
          <a:gradFill rotWithShape="0">
            <a:gsLst>
              <a:gs pos="0">
                <a:schemeClr val="tx1"/>
              </a:gs>
              <a:gs pos="100000">
                <a:srgbClr val="333333"/>
              </a:gs>
            </a:gsLst>
            <a:lin ang="5400000" scaled="1"/>
          </a:gradFill>
          <a:ln w="9525">
            <a:noFill/>
            <a:miter lim="800000"/>
            <a:headEnd/>
            <a:tailEnd/>
          </a:ln>
          <a:effectLst/>
        </p:spPr>
        <p:txBody>
          <a:bodyPr wrap="none" anchor="ctr"/>
          <a:lstStyle/>
          <a:p>
            <a:endParaRPr lang="en-US"/>
          </a:p>
        </p:txBody>
      </p:sp>
      <p:sp>
        <p:nvSpPr>
          <p:cNvPr id="5" name="Rectangle 7"/>
          <p:cNvSpPr>
            <a:spLocks noChangeArrowheads="1"/>
          </p:cNvSpPr>
          <p:nvPr userDrawn="1"/>
        </p:nvSpPr>
        <p:spPr bwMode="auto">
          <a:xfrm>
            <a:off x="0" y="4699000"/>
            <a:ext cx="9144000" cy="1016000"/>
          </a:xfrm>
          <a:prstGeom prst="rect">
            <a:avLst/>
          </a:prstGeom>
          <a:solidFill>
            <a:schemeClr val="tx1"/>
          </a:solidFill>
          <a:ln w="9525">
            <a:noFill/>
            <a:miter lim="800000"/>
            <a:headEnd/>
            <a:tailEnd/>
          </a:ln>
          <a:effectLst/>
        </p:spPr>
        <p:txBody>
          <a:bodyPr wrap="none" anchor="ctr"/>
          <a:lstStyle/>
          <a:p>
            <a:endParaRPr lang="en-US"/>
          </a:p>
        </p:txBody>
      </p:sp>
      <p:sp>
        <p:nvSpPr>
          <p:cNvPr id="6" name="Line 10"/>
          <p:cNvSpPr>
            <a:spLocks noChangeShapeType="1"/>
          </p:cNvSpPr>
          <p:nvPr userDrawn="1"/>
        </p:nvSpPr>
        <p:spPr bwMode="auto">
          <a:xfrm>
            <a:off x="0" y="4699000"/>
            <a:ext cx="9144000" cy="0"/>
          </a:xfrm>
          <a:prstGeom prst="line">
            <a:avLst/>
          </a:prstGeom>
          <a:noFill/>
          <a:ln w="6350">
            <a:solidFill>
              <a:srgbClr val="4D4D4D"/>
            </a:solidFill>
            <a:round/>
            <a:headEnd/>
            <a:tailEnd/>
          </a:ln>
          <a:effectLst/>
        </p:spPr>
        <p:txBody>
          <a:bodyPr wrap="none" anchor="ctr"/>
          <a:lstStyle/>
          <a:p>
            <a:pPr>
              <a:defRPr/>
            </a:pPr>
            <a:endParaRPr lang="en-US">
              <a:ea typeface="Osaka" charset="-128"/>
              <a:cs typeface="Osaka" charset="-128"/>
            </a:endParaRPr>
          </a:p>
        </p:txBody>
      </p:sp>
      <p:sp>
        <p:nvSpPr>
          <p:cNvPr id="9" name="Rectangle 7"/>
          <p:cNvSpPr>
            <a:spLocks noChangeArrowheads="1"/>
          </p:cNvSpPr>
          <p:nvPr userDrawn="1"/>
        </p:nvSpPr>
        <p:spPr bwMode="auto">
          <a:xfrm>
            <a:off x="0" y="4635500"/>
            <a:ext cx="9144000" cy="63500"/>
          </a:xfrm>
          <a:prstGeom prst="rect">
            <a:avLst/>
          </a:prstGeom>
          <a:solidFill>
            <a:srgbClr val="CFB87C"/>
          </a:solidFill>
          <a:ln w="9525">
            <a:noFill/>
            <a:miter lim="800000"/>
            <a:headEnd/>
            <a:tailEnd/>
          </a:ln>
          <a:effectLst/>
        </p:spPr>
        <p:txBody>
          <a:bodyPr wrap="none" anchor="ctr"/>
          <a:lstStyle/>
          <a:p>
            <a:endParaRPr lang="en-US"/>
          </a:p>
        </p:txBody>
      </p:sp>
      <p:sp>
        <p:nvSpPr>
          <p:cNvPr id="10" name="Rectangle 2"/>
          <p:cNvSpPr>
            <a:spLocks noGrp="1" noChangeArrowheads="1"/>
          </p:cNvSpPr>
          <p:nvPr>
            <p:ph type="ctrTitle"/>
          </p:nvPr>
        </p:nvSpPr>
        <p:spPr>
          <a:xfrm>
            <a:off x="685800" y="1333500"/>
            <a:ext cx="7772400" cy="952500"/>
          </a:xfrm>
        </p:spPr>
        <p:txBody>
          <a:bodyPr anchor="ctr"/>
          <a:lstStyle>
            <a:lvl1pPr algn="ctr">
              <a:defRPr sz="2800">
                <a:solidFill>
                  <a:srgbClr val="CFB87C"/>
                </a:solidFill>
              </a:defRPr>
            </a:lvl1pPr>
          </a:lstStyle>
          <a:p>
            <a:r>
              <a:rPr lang="en-US"/>
              <a:t>Click to edit Master title style</a:t>
            </a:r>
            <a:endParaRPr lang="en-US" dirty="0"/>
          </a:p>
        </p:txBody>
      </p:sp>
      <p:sp>
        <p:nvSpPr>
          <p:cNvPr id="11" name="Rectangle 3"/>
          <p:cNvSpPr>
            <a:spLocks noGrp="1" noChangeArrowheads="1"/>
          </p:cNvSpPr>
          <p:nvPr>
            <p:ph type="subTitle" idx="1"/>
          </p:nvPr>
        </p:nvSpPr>
        <p:spPr>
          <a:xfrm>
            <a:off x="1371600" y="2667000"/>
            <a:ext cx="6400800" cy="1460500"/>
          </a:xfrm>
        </p:spPr>
        <p:txBody>
          <a:bodyPr/>
          <a:lstStyle>
            <a:lvl1pPr marL="0" indent="0" algn="ctr">
              <a:spcBef>
                <a:spcPts val="0"/>
              </a:spcBef>
              <a:spcAft>
                <a:spcPts val="600"/>
              </a:spcAft>
              <a:buFont typeface="Wingdings" charset="2"/>
              <a:buNone/>
              <a:defRPr sz="1800">
                <a:solidFill>
                  <a:schemeClr val="bg1"/>
                </a:solidFill>
              </a:defRPr>
            </a:lvl1pPr>
          </a:lstStyle>
          <a:p>
            <a:r>
              <a:rPr lang="en-US" dirty="0"/>
              <a:t>Click to edit Master subtitle style</a:t>
            </a:r>
          </a:p>
        </p:txBody>
      </p:sp>
      <p:pic>
        <p:nvPicPr>
          <p:cNvPr id="2" name="Picture 1">
            <a:extLst>
              <a:ext uri="{FF2B5EF4-FFF2-40B4-BE49-F238E27FC236}">
                <a16:creationId xmlns:a16="http://schemas.microsoft.com/office/drawing/2014/main" id="{F730F52B-39D1-18C7-E271-B683A83DDBF1}"/>
              </a:ext>
            </a:extLst>
          </p:cNvPr>
          <p:cNvPicPr>
            <a:picLocks noChangeAspect="1"/>
          </p:cNvPicPr>
          <p:nvPr userDrawn="1"/>
        </p:nvPicPr>
        <p:blipFill>
          <a:blip r:embed="rId2"/>
          <a:stretch>
            <a:fillRect/>
          </a:stretch>
        </p:blipFill>
        <p:spPr>
          <a:xfrm>
            <a:off x="152400" y="4702088"/>
            <a:ext cx="4938584" cy="916438"/>
          </a:xfrm>
          <a:prstGeom prst="rect">
            <a:avLst/>
          </a:prstGeom>
        </p:spPr>
      </p:pic>
    </p:spTree>
    <p:extLst>
      <p:ext uri="{BB962C8B-B14F-4D97-AF65-F5344CB8AC3E}">
        <p14:creationId xmlns:p14="http://schemas.microsoft.com/office/powerpoint/2010/main" val="1475707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52450"/>
            <a:ext cx="8001000" cy="571500"/>
          </a:xfrm>
        </p:spPr>
        <p:txBody>
          <a:bodyPr lIns="0"/>
          <a:lstStyle>
            <a:lvl1pPr>
              <a:defRPr sz="3400"/>
            </a:lvl1pPr>
          </a:lstStyle>
          <a:p>
            <a:r>
              <a:rPr lang="en-US" dirty="0"/>
              <a:t>Click to edit Subhead</a:t>
            </a:r>
          </a:p>
        </p:txBody>
      </p:sp>
      <p:sp>
        <p:nvSpPr>
          <p:cNvPr id="3" name="Content Placeholder 2"/>
          <p:cNvSpPr>
            <a:spLocks noGrp="1"/>
          </p:cNvSpPr>
          <p:nvPr>
            <p:ph idx="1" hasCustomPrompt="1"/>
          </p:nvPr>
        </p:nvSpPr>
        <p:spPr>
          <a:xfrm>
            <a:off x="457200" y="1238250"/>
            <a:ext cx="8001000" cy="3238500"/>
          </a:xfrm>
        </p:spPr>
        <p:txBody>
          <a:bodyPr/>
          <a:lstStyle>
            <a:lvl1pPr marL="342900" indent="-342900">
              <a:spcBef>
                <a:spcPts val="1000"/>
              </a:spcBef>
              <a:buClr>
                <a:srgbClr val="B99B49"/>
              </a:buClr>
              <a:buFont typeface="Wingdings" charset="2"/>
              <a:buChar char="§"/>
              <a:defRPr/>
            </a:lvl1pPr>
            <a:lvl2pPr marL="742950" indent="-285750">
              <a:spcBef>
                <a:spcPts val="1000"/>
              </a:spcBef>
              <a:buClr>
                <a:srgbClr val="B99B49"/>
              </a:buClr>
              <a:buFont typeface="Wingdings" pitchFamily="2" charset="2"/>
              <a:buChar char="§"/>
              <a:defRPr/>
            </a:lvl2pPr>
            <a:lvl3pPr marL="1143000" indent="-228600">
              <a:spcBef>
                <a:spcPts val="1000"/>
              </a:spcBef>
              <a:buClr>
                <a:srgbClr val="B99B49"/>
              </a:buClr>
              <a:buFont typeface="Wingdings" pitchFamily="2" charset="2"/>
              <a:buChar char="§"/>
              <a:defRPr/>
            </a:lvl3pPr>
            <a:lvl4pPr marL="1600200" indent="-228600">
              <a:spcBef>
                <a:spcPts val="1000"/>
              </a:spcBef>
              <a:buClr>
                <a:srgbClr val="B99B49"/>
              </a:buClr>
              <a:buFont typeface="Wingdings" pitchFamily="2" charset="2"/>
              <a:buChar char="§"/>
              <a:defRPr/>
            </a:lvl4pPr>
            <a:lvl5pPr marL="2057400" indent="-228600">
              <a:spcBef>
                <a:spcPts val="1000"/>
              </a:spcBef>
              <a:buClr>
                <a:srgbClr val="B99B49"/>
              </a:buClr>
              <a:buFont typeface="Wingdings" pitchFamily="2" charset="2"/>
              <a:buChar char="§"/>
              <a:defRPr/>
            </a:lvl5pPr>
          </a:lstStyle>
          <a:p>
            <a:pPr lvl="0"/>
            <a:r>
              <a:rPr lang="en-US" dirty="0"/>
              <a:t>Click to edit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p:cNvSpPr>
            <a:spLocks noGrp="1" noChangeArrowheads="1"/>
          </p:cNvSpPr>
          <p:nvPr>
            <p:ph type="sldNum" sz="quarter" idx="11"/>
          </p:nvPr>
        </p:nvSpPr>
        <p:spPr>
          <a:ln/>
        </p:spPr>
        <p:txBody>
          <a:bodyPr/>
          <a:lstStyle>
            <a:lvl1pPr>
              <a:defRPr/>
            </a:lvl1pPr>
          </a:lstStyle>
          <a:p>
            <a:fld id="{9708802B-CECE-C644-A6A3-3C9AAC922203}" type="slidenum">
              <a:rPr lang="en-US"/>
              <a:pPr/>
              <a:t>‹#›</a:t>
            </a:fld>
            <a:endParaRPr lang="en-US"/>
          </a:p>
        </p:txBody>
      </p:sp>
      <p:sp>
        <p:nvSpPr>
          <p:cNvPr id="6" name="Rectangle 18"/>
          <p:cNvSpPr>
            <a:spLocks noGrp="1" noChangeArrowheads="1"/>
          </p:cNvSpPr>
          <p:nvPr>
            <p:ph type="dt" sz="half" idx="12"/>
          </p:nvPr>
        </p:nvSpPr>
        <p:spPr>
          <a:xfrm>
            <a:off x="6553200" y="-38100"/>
            <a:ext cx="2057400" cy="304800"/>
          </a:xfrm>
          <a:prstGeom prst="rect">
            <a:avLst/>
          </a:prstGeom>
          <a:ln/>
        </p:spPr>
        <p:txBody>
          <a:bodyPr rIns="0"/>
          <a:lstStyle>
            <a:lvl1pPr>
              <a:defRPr sz="16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45155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800100"/>
            <a:ext cx="8001000" cy="571500"/>
          </a:xfrm>
        </p:spPr>
        <p:txBody>
          <a:bodyPr lIns="0"/>
          <a:lstStyle>
            <a:lvl1pPr>
              <a:defRPr sz="3400"/>
            </a:lvl1pPr>
          </a:lstStyle>
          <a:p>
            <a:r>
              <a:rPr lang="en-US" dirty="0"/>
              <a:t>Click to edit Subhead</a:t>
            </a:r>
          </a:p>
        </p:txBody>
      </p:sp>
      <p:sp>
        <p:nvSpPr>
          <p:cNvPr id="3" name="Content Placeholder 2"/>
          <p:cNvSpPr>
            <a:spLocks noGrp="1"/>
          </p:cNvSpPr>
          <p:nvPr>
            <p:ph idx="1" hasCustomPrompt="1"/>
          </p:nvPr>
        </p:nvSpPr>
        <p:spPr>
          <a:xfrm>
            <a:off x="457200" y="1485900"/>
            <a:ext cx="8001000" cy="3238500"/>
          </a:xfrm>
        </p:spPr>
        <p:txBody>
          <a:bodyPr/>
          <a:lstStyle>
            <a:lvl1pPr marL="342900" indent="-342900">
              <a:spcBef>
                <a:spcPts val="1000"/>
              </a:spcBef>
              <a:buClr>
                <a:srgbClr val="B99B49"/>
              </a:buClr>
              <a:buFont typeface="Wingdings" charset="2"/>
              <a:buChar char="§"/>
              <a:defRPr/>
            </a:lvl1pPr>
            <a:lvl2pPr marL="742950" indent="-285750">
              <a:spcBef>
                <a:spcPts val="1000"/>
              </a:spcBef>
              <a:buClr>
                <a:srgbClr val="B99B49"/>
              </a:buClr>
              <a:buFont typeface="Wingdings" pitchFamily="2" charset="2"/>
              <a:buChar char="§"/>
              <a:defRPr/>
            </a:lvl2pPr>
            <a:lvl3pPr marL="1143000" indent="-228600">
              <a:spcBef>
                <a:spcPts val="1000"/>
              </a:spcBef>
              <a:buClr>
                <a:srgbClr val="B99B49"/>
              </a:buClr>
              <a:buFont typeface="Wingdings" pitchFamily="2" charset="2"/>
              <a:buChar char="§"/>
              <a:defRPr/>
            </a:lvl3pPr>
            <a:lvl4pPr marL="1600200" indent="-228600">
              <a:spcBef>
                <a:spcPts val="1000"/>
              </a:spcBef>
              <a:buClr>
                <a:srgbClr val="B99B49"/>
              </a:buClr>
              <a:buFont typeface="Wingdings" pitchFamily="2" charset="2"/>
              <a:buChar char="§"/>
              <a:defRPr/>
            </a:lvl4pPr>
            <a:lvl5pPr marL="2057400" indent="-228600">
              <a:spcBef>
                <a:spcPts val="1000"/>
              </a:spcBef>
              <a:buClr>
                <a:srgbClr val="B99B49"/>
              </a:buClr>
              <a:buFont typeface="Wingdings" pitchFamily="2" charset="2"/>
              <a:buChar char="§"/>
              <a:defRPr/>
            </a:lvl5pPr>
          </a:lstStyle>
          <a:p>
            <a:pPr lvl="0"/>
            <a:r>
              <a:rPr lang="en-US" dirty="0"/>
              <a:t>Click to edit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p:cNvSpPr>
            <a:spLocks noGrp="1" noChangeArrowheads="1"/>
          </p:cNvSpPr>
          <p:nvPr>
            <p:ph type="sldNum" sz="quarter" idx="11"/>
          </p:nvPr>
        </p:nvSpPr>
        <p:spPr>
          <a:ln/>
        </p:spPr>
        <p:txBody>
          <a:bodyPr/>
          <a:lstStyle>
            <a:lvl1pPr>
              <a:defRPr/>
            </a:lvl1pPr>
          </a:lstStyle>
          <a:p>
            <a:fld id="{9708802B-CECE-C644-A6A3-3C9AAC922203}" type="slidenum">
              <a:rPr lang="en-US"/>
              <a:pPr/>
              <a:t>‹#›</a:t>
            </a:fld>
            <a:endParaRPr lang="en-US"/>
          </a:p>
        </p:txBody>
      </p:sp>
      <p:sp>
        <p:nvSpPr>
          <p:cNvPr id="6" name="Rectangle 18"/>
          <p:cNvSpPr>
            <a:spLocks noGrp="1" noChangeArrowheads="1"/>
          </p:cNvSpPr>
          <p:nvPr>
            <p:ph type="dt" sz="half" idx="12"/>
          </p:nvPr>
        </p:nvSpPr>
        <p:spPr>
          <a:xfrm>
            <a:off x="6553200" y="-38100"/>
            <a:ext cx="2057400" cy="304800"/>
          </a:xfrm>
          <a:prstGeom prst="rect">
            <a:avLst/>
          </a:prstGeom>
          <a:ln/>
        </p:spPr>
        <p:txBody>
          <a:bodyPr rIns="0"/>
          <a:lstStyle>
            <a:lvl1pPr>
              <a:defRPr sz="1600">
                <a:latin typeface="Arial" panose="020B0604020202020204" pitchFamily="34" charset="0"/>
                <a:cs typeface="Arial" panose="020B0604020202020204" pitchFamily="34" charset="0"/>
              </a:defRPr>
            </a:lvl1pPr>
          </a:lstStyle>
          <a:p>
            <a:endParaRPr lang="en-US" dirty="0"/>
          </a:p>
        </p:txBody>
      </p:sp>
      <p:sp>
        <p:nvSpPr>
          <p:cNvPr id="9" name="Text Placeholder 8"/>
          <p:cNvSpPr>
            <a:spLocks noGrp="1"/>
          </p:cNvSpPr>
          <p:nvPr>
            <p:ph type="body" sz="quarter" idx="13" hasCustomPrompt="1"/>
          </p:nvPr>
        </p:nvSpPr>
        <p:spPr>
          <a:xfrm>
            <a:off x="457200" y="533400"/>
            <a:ext cx="8001000" cy="228600"/>
          </a:xfrm>
        </p:spPr>
        <p:txBody>
          <a:bodyPr lIns="0" tIns="0" rIns="0" bIns="0" anchor="ctr" anchorCtr="0"/>
          <a:lstStyle>
            <a:lvl1pPr marL="0" indent="0">
              <a:buNone/>
              <a:defRPr sz="1600" b="1" i="0" cap="all" baseline="0">
                <a:solidFill>
                  <a:srgbClr val="B99B49"/>
                </a:solidFill>
              </a:defRPr>
            </a:lvl1pPr>
          </a:lstStyle>
          <a:p>
            <a:pPr lvl="0"/>
            <a:r>
              <a:rPr lang="en-US" dirty="0"/>
              <a:t>Click to edit Heading</a:t>
            </a:r>
          </a:p>
        </p:txBody>
      </p:sp>
    </p:spTree>
    <p:extLst>
      <p:ext uri="{BB962C8B-B14F-4D97-AF65-F5344CB8AC3E}">
        <p14:creationId xmlns:p14="http://schemas.microsoft.com/office/powerpoint/2010/main" val="3092213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5900"/>
            <a:ext cx="3886200" cy="3238500"/>
          </a:xfrm>
        </p:spPr>
        <p:txBody>
          <a:bodyPr/>
          <a:lstStyle>
            <a:lvl1pPr marL="342900" indent="-342900">
              <a:buClr>
                <a:srgbClr val="B99B49"/>
              </a:buClr>
              <a:buFont typeface="Wingdings" pitchFamily="2" charset="2"/>
              <a:buChar char="§"/>
              <a:defRPr sz="2400"/>
            </a:lvl1pPr>
            <a:lvl2pPr marL="742950" indent="-285750">
              <a:buClr>
                <a:srgbClr val="B99B49"/>
              </a:buClr>
              <a:buFont typeface="Wingdings" pitchFamily="2" charset="2"/>
              <a:buChar char="§"/>
              <a:defRPr sz="1800"/>
            </a:lvl2pPr>
            <a:lvl3pPr marL="1143000" indent="-228600">
              <a:buClr>
                <a:srgbClr val="B99B49"/>
              </a:buClr>
              <a:buFont typeface="Wingdings" pitchFamily="2" charset="2"/>
              <a:buChar char="§"/>
              <a:defRPr sz="1800"/>
            </a:lvl3pPr>
            <a:lvl4pPr marL="1600200" indent="-228600">
              <a:buClr>
                <a:srgbClr val="B99B49"/>
              </a:buClr>
              <a:buFont typeface="Wingdings" pitchFamily="2" charset="2"/>
              <a:buChar char="§"/>
              <a:defRPr sz="1800"/>
            </a:lvl4pPr>
            <a:lvl5pPr marL="2057400" indent="-228600">
              <a:buClr>
                <a:srgbClr val="B99B49"/>
              </a:buClr>
              <a:buFont typeface="Wingdings" pitchFamily="2" charset="2"/>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495800" y="1485900"/>
            <a:ext cx="3886200" cy="3238500"/>
          </a:xfrm>
        </p:spPr>
        <p:txBody>
          <a:bodyPr/>
          <a:lstStyle>
            <a:lvl1pPr marL="342900" indent="-342900">
              <a:buClr>
                <a:srgbClr val="B99B49"/>
              </a:buClr>
              <a:buFont typeface="Wingdings" pitchFamily="2" charset="2"/>
              <a:buChar char="§"/>
              <a:defRPr sz="2400"/>
            </a:lvl1pPr>
            <a:lvl2pPr marL="742950" indent="-285750">
              <a:buClr>
                <a:srgbClr val="B99B49"/>
              </a:buClr>
              <a:buFont typeface="Wingdings" pitchFamily="2" charset="2"/>
              <a:buChar char="§"/>
              <a:defRPr sz="1800"/>
            </a:lvl2pPr>
            <a:lvl3pPr marL="1143000" indent="-228600">
              <a:buClr>
                <a:srgbClr val="B99B49"/>
              </a:buClr>
              <a:buFont typeface="Wingdings" pitchFamily="2" charset="2"/>
              <a:buChar char="§"/>
              <a:defRPr sz="1800"/>
            </a:lvl3pPr>
            <a:lvl4pPr marL="1600200" indent="-228600">
              <a:buClr>
                <a:srgbClr val="B99B49"/>
              </a:buClr>
              <a:buFont typeface="Wingdings" pitchFamily="2" charset="2"/>
              <a:buChar char="§"/>
              <a:defRPr sz="1800"/>
            </a:lvl4pPr>
            <a:lvl5pPr marL="2057400" indent="-228600">
              <a:buClr>
                <a:srgbClr val="B99B49"/>
              </a:buClr>
              <a:buFont typeface="Wingdings" pitchFamily="2" charset="2"/>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1"/>
          </p:nvPr>
        </p:nvSpPr>
        <p:spPr>
          <a:ln/>
        </p:spPr>
        <p:txBody>
          <a:bodyPr/>
          <a:lstStyle>
            <a:lvl1pPr>
              <a:defRPr/>
            </a:lvl1pPr>
          </a:lstStyle>
          <a:p>
            <a:fld id="{D7C5EAAF-A4DC-4B47-A05B-449AA1DDE4BD}" type="slidenum">
              <a:rPr lang="en-US"/>
              <a:pPr/>
              <a:t>‹#›</a:t>
            </a:fld>
            <a:endParaRPr lang="en-US"/>
          </a:p>
        </p:txBody>
      </p:sp>
      <p:sp>
        <p:nvSpPr>
          <p:cNvPr id="7" name="Rectangle 18"/>
          <p:cNvSpPr>
            <a:spLocks noGrp="1" noChangeArrowheads="1"/>
          </p:cNvSpPr>
          <p:nvPr>
            <p:ph type="dt" sz="half" idx="12"/>
          </p:nvPr>
        </p:nvSpPr>
        <p:spPr>
          <a:xfrm>
            <a:off x="6553200" y="-38100"/>
            <a:ext cx="2057400" cy="304800"/>
          </a:xfrm>
          <a:prstGeom prst="rect">
            <a:avLst/>
          </a:prstGeom>
          <a:ln/>
        </p:spPr>
        <p:txBody>
          <a:bodyPr/>
          <a:lstStyle>
            <a:lvl1pPr>
              <a:defRPr sz="1600">
                <a:latin typeface="Arial" panose="020B0604020202020204" pitchFamily="34" charset="0"/>
                <a:cs typeface="Arial" panose="020B0604020202020204" pitchFamily="34" charset="0"/>
              </a:defRPr>
            </a:lvl1pPr>
          </a:lstStyle>
          <a:p>
            <a:endParaRPr lang="en-US" dirty="0"/>
          </a:p>
        </p:txBody>
      </p:sp>
      <p:sp>
        <p:nvSpPr>
          <p:cNvPr id="8" name="Title 1"/>
          <p:cNvSpPr>
            <a:spLocks noGrp="1"/>
          </p:cNvSpPr>
          <p:nvPr>
            <p:ph type="title" hasCustomPrompt="1"/>
          </p:nvPr>
        </p:nvSpPr>
        <p:spPr>
          <a:xfrm>
            <a:off x="457200" y="800100"/>
            <a:ext cx="8001000" cy="571500"/>
          </a:xfrm>
        </p:spPr>
        <p:txBody>
          <a:bodyPr lIns="0"/>
          <a:lstStyle>
            <a:lvl1pPr>
              <a:defRPr sz="3400"/>
            </a:lvl1pPr>
          </a:lstStyle>
          <a:p>
            <a:r>
              <a:rPr lang="en-US" dirty="0"/>
              <a:t>Click to edit Subhead</a:t>
            </a:r>
          </a:p>
        </p:txBody>
      </p:sp>
      <p:sp>
        <p:nvSpPr>
          <p:cNvPr id="9" name="Text Placeholder 8"/>
          <p:cNvSpPr>
            <a:spLocks noGrp="1"/>
          </p:cNvSpPr>
          <p:nvPr>
            <p:ph type="body" sz="quarter" idx="13" hasCustomPrompt="1"/>
          </p:nvPr>
        </p:nvSpPr>
        <p:spPr>
          <a:xfrm>
            <a:off x="457200" y="533400"/>
            <a:ext cx="8001000" cy="228600"/>
          </a:xfrm>
        </p:spPr>
        <p:txBody>
          <a:bodyPr lIns="0" tIns="0" rIns="0" bIns="0" anchor="ctr" anchorCtr="0"/>
          <a:lstStyle>
            <a:lvl1pPr marL="0" indent="0">
              <a:buNone/>
              <a:defRPr sz="1600" b="1" i="0" cap="all" baseline="0">
                <a:solidFill>
                  <a:srgbClr val="B99B49"/>
                </a:solidFill>
              </a:defRPr>
            </a:lvl1pPr>
          </a:lstStyle>
          <a:p>
            <a:pPr lvl="0"/>
            <a:r>
              <a:rPr lang="en-US" dirty="0"/>
              <a:t>Click to edit Heading</a:t>
            </a:r>
          </a:p>
        </p:txBody>
      </p:sp>
    </p:spTree>
    <p:extLst>
      <p:ext uri="{BB962C8B-B14F-4D97-AF65-F5344CB8AC3E}">
        <p14:creationId xmlns:p14="http://schemas.microsoft.com/office/powerpoint/2010/main" val="1815942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0"/>
            <a:ext cx="8001000" cy="571500"/>
          </a:xfrm>
        </p:spPr>
        <p:txBody>
          <a:bodyPr/>
          <a:lstStyle/>
          <a:p>
            <a:r>
              <a:rPr lang="en-US"/>
              <a:t>Click to edit Master title style</a:t>
            </a:r>
          </a:p>
        </p:txBody>
      </p:sp>
      <p:sp>
        <p:nvSpPr>
          <p:cNvPr id="4" name="Rectangle 6"/>
          <p:cNvSpPr>
            <a:spLocks noGrp="1" noChangeArrowheads="1"/>
          </p:cNvSpPr>
          <p:nvPr>
            <p:ph type="sldNum" sz="quarter" idx="11"/>
          </p:nvPr>
        </p:nvSpPr>
        <p:spPr>
          <a:ln/>
        </p:spPr>
        <p:txBody>
          <a:bodyPr/>
          <a:lstStyle>
            <a:lvl1pPr>
              <a:defRPr/>
            </a:lvl1pPr>
          </a:lstStyle>
          <a:p>
            <a:fld id="{8C17B027-94AA-734A-ACC9-170E40BA2B18}" type="slidenum">
              <a:rPr lang="en-US"/>
              <a:pPr/>
              <a:t>‹#›</a:t>
            </a:fld>
            <a:endParaRPr lang="en-US"/>
          </a:p>
        </p:txBody>
      </p:sp>
      <p:sp>
        <p:nvSpPr>
          <p:cNvPr id="5" name="Rectangle 18"/>
          <p:cNvSpPr>
            <a:spLocks noGrp="1" noChangeArrowheads="1"/>
          </p:cNvSpPr>
          <p:nvPr>
            <p:ph type="dt" sz="half" idx="12"/>
          </p:nvPr>
        </p:nvSpPr>
        <p:spPr>
          <a:xfrm>
            <a:off x="6553200" y="-38100"/>
            <a:ext cx="2057400" cy="304800"/>
          </a:xfrm>
          <a:prstGeom prst="rect">
            <a:avLst/>
          </a:prstGeom>
          <a:ln/>
        </p:spPr>
        <p:txBody>
          <a:bodyPr/>
          <a:lstStyle>
            <a:lvl1pPr>
              <a:defRPr sz="16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96060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6"/>
          <p:cNvSpPr>
            <a:spLocks noGrp="1" noChangeArrowheads="1"/>
          </p:cNvSpPr>
          <p:nvPr>
            <p:ph type="sldNum" sz="quarter" idx="11"/>
          </p:nvPr>
        </p:nvSpPr>
        <p:spPr>
          <a:ln/>
        </p:spPr>
        <p:txBody>
          <a:bodyPr/>
          <a:lstStyle>
            <a:lvl1pPr>
              <a:defRPr/>
            </a:lvl1pPr>
          </a:lstStyle>
          <a:p>
            <a:fld id="{CC9B0832-ECD8-1F4A-ACBB-61CA5D9140CF}" type="slidenum">
              <a:rPr lang="en-US"/>
              <a:pPr/>
              <a:t>‹#›</a:t>
            </a:fld>
            <a:endParaRPr lang="en-US" dirty="0"/>
          </a:p>
        </p:txBody>
      </p:sp>
      <p:sp>
        <p:nvSpPr>
          <p:cNvPr id="4" name="Rectangle 18"/>
          <p:cNvSpPr>
            <a:spLocks noGrp="1" noChangeArrowheads="1"/>
          </p:cNvSpPr>
          <p:nvPr>
            <p:ph type="dt" sz="half" idx="12"/>
          </p:nvPr>
        </p:nvSpPr>
        <p:spPr>
          <a:xfrm>
            <a:off x="6553200" y="-38100"/>
            <a:ext cx="2057400" cy="304800"/>
          </a:xfrm>
          <a:prstGeom prst="rect">
            <a:avLst/>
          </a:prstGeom>
          <a:ln/>
        </p:spPr>
        <p:txBody>
          <a:bodyPr/>
          <a:lstStyle>
            <a:lvl1pPr>
              <a:defRPr sz="16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2238996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13"/>
          <p:cNvSpPr>
            <a:spLocks noChangeArrowheads="1"/>
          </p:cNvSpPr>
          <p:nvPr userDrawn="1"/>
        </p:nvSpPr>
        <p:spPr bwMode="auto">
          <a:xfrm>
            <a:off x="10297" y="266700"/>
            <a:ext cx="9144000" cy="5118100"/>
          </a:xfrm>
          <a:prstGeom prst="rect">
            <a:avLst/>
          </a:prstGeom>
          <a:gradFill rotWithShape="0">
            <a:gsLst>
              <a:gs pos="0">
                <a:schemeClr val="tx1"/>
              </a:gs>
              <a:gs pos="100000">
                <a:srgbClr val="333333"/>
              </a:gs>
            </a:gsLst>
            <a:lin ang="5400000" scaled="1"/>
          </a:gradFill>
          <a:ln w="9525">
            <a:noFill/>
            <a:miter lim="800000"/>
            <a:headEnd/>
            <a:tailEnd/>
          </a:ln>
          <a:effectLst/>
        </p:spPr>
        <p:txBody>
          <a:bodyPr wrap="none" anchor="ctr"/>
          <a:lstStyle/>
          <a:p>
            <a:endParaRPr lang="en-US"/>
          </a:p>
        </p:txBody>
      </p:sp>
      <p:sp>
        <p:nvSpPr>
          <p:cNvPr id="5" name="Rectangle 7"/>
          <p:cNvSpPr>
            <a:spLocks noChangeArrowheads="1"/>
          </p:cNvSpPr>
          <p:nvPr userDrawn="1"/>
        </p:nvSpPr>
        <p:spPr bwMode="auto">
          <a:xfrm>
            <a:off x="0" y="4699000"/>
            <a:ext cx="9144000" cy="1016000"/>
          </a:xfrm>
          <a:prstGeom prst="rect">
            <a:avLst/>
          </a:prstGeom>
          <a:solidFill>
            <a:schemeClr val="tx1"/>
          </a:solidFill>
          <a:ln w="9525">
            <a:noFill/>
            <a:miter lim="800000"/>
            <a:headEnd/>
            <a:tailEnd/>
          </a:ln>
          <a:effectLst/>
        </p:spPr>
        <p:txBody>
          <a:bodyPr wrap="none" anchor="ctr"/>
          <a:lstStyle/>
          <a:p>
            <a:endParaRPr lang="en-US"/>
          </a:p>
        </p:txBody>
      </p:sp>
      <p:sp>
        <p:nvSpPr>
          <p:cNvPr id="6" name="Line 10"/>
          <p:cNvSpPr>
            <a:spLocks noChangeShapeType="1"/>
          </p:cNvSpPr>
          <p:nvPr userDrawn="1"/>
        </p:nvSpPr>
        <p:spPr bwMode="auto">
          <a:xfrm>
            <a:off x="0" y="4699000"/>
            <a:ext cx="9144000" cy="0"/>
          </a:xfrm>
          <a:prstGeom prst="line">
            <a:avLst/>
          </a:prstGeom>
          <a:noFill/>
          <a:ln w="6350">
            <a:solidFill>
              <a:srgbClr val="4D4D4D"/>
            </a:solidFill>
            <a:round/>
            <a:headEnd/>
            <a:tailEnd/>
          </a:ln>
          <a:effectLst/>
        </p:spPr>
        <p:txBody>
          <a:bodyPr wrap="none" anchor="ctr"/>
          <a:lstStyle/>
          <a:p>
            <a:pPr>
              <a:defRPr/>
            </a:pPr>
            <a:endParaRPr lang="en-US">
              <a:ea typeface="Osaka" charset="-128"/>
              <a:cs typeface="Osaka" charset="-128"/>
            </a:endParaRPr>
          </a:p>
        </p:txBody>
      </p:sp>
      <p:sp>
        <p:nvSpPr>
          <p:cNvPr id="9" name="Rectangle 7"/>
          <p:cNvSpPr>
            <a:spLocks noChangeArrowheads="1"/>
          </p:cNvSpPr>
          <p:nvPr userDrawn="1"/>
        </p:nvSpPr>
        <p:spPr bwMode="auto">
          <a:xfrm>
            <a:off x="0" y="4635500"/>
            <a:ext cx="9144000" cy="63500"/>
          </a:xfrm>
          <a:prstGeom prst="rect">
            <a:avLst/>
          </a:prstGeom>
          <a:solidFill>
            <a:srgbClr val="CFB87C"/>
          </a:solidFill>
          <a:ln w="9525">
            <a:noFill/>
            <a:miter lim="800000"/>
            <a:headEnd/>
            <a:tailEnd/>
          </a:ln>
          <a:effectLst/>
        </p:spPr>
        <p:txBody>
          <a:bodyPr wrap="none" anchor="ctr"/>
          <a:lstStyle/>
          <a:p>
            <a:endParaRPr lang="en-US"/>
          </a:p>
        </p:txBody>
      </p:sp>
      <p:sp>
        <p:nvSpPr>
          <p:cNvPr id="10" name="Rectangle 2"/>
          <p:cNvSpPr>
            <a:spLocks noGrp="1" noChangeArrowheads="1"/>
          </p:cNvSpPr>
          <p:nvPr>
            <p:ph type="ctrTitle"/>
          </p:nvPr>
        </p:nvSpPr>
        <p:spPr>
          <a:xfrm>
            <a:off x="685800" y="1333500"/>
            <a:ext cx="7772400" cy="952500"/>
          </a:xfrm>
        </p:spPr>
        <p:txBody>
          <a:bodyPr anchor="ctr"/>
          <a:lstStyle>
            <a:lvl1pPr algn="ctr">
              <a:defRPr sz="2800">
                <a:solidFill>
                  <a:srgbClr val="CFB87C"/>
                </a:solidFill>
              </a:defRPr>
            </a:lvl1pPr>
          </a:lstStyle>
          <a:p>
            <a:r>
              <a:rPr lang="en-US"/>
              <a:t>Click to edit Master title style</a:t>
            </a:r>
            <a:endParaRPr lang="en-US" dirty="0"/>
          </a:p>
        </p:txBody>
      </p:sp>
      <p:sp>
        <p:nvSpPr>
          <p:cNvPr id="11" name="Rectangle 3"/>
          <p:cNvSpPr>
            <a:spLocks noGrp="1" noChangeArrowheads="1"/>
          </p:cNvSpPr>
          <p:nvPr>
            <p:ph type="subTitle" idx="1"/>
          </p:nvPr>
        </p:nvSpPr>
        <p:spPr>
          <a:xfrm>
            <a:off x="1371600" y="2667000"/>
            <a:ext cx="6400800" cy="1460500"/>
          </a:xfrm>
        </p:spPr>
        <p:txBody>
          <a:bodyPr/>
          <a:lstStyle>
            <a:lvl1pPr marL="0" indent="0" algn="ctr">
              <a:spcBef>
                <a:spcPts val="0"/>
              </a:spcBef>
              <a:spcAft>
                <a:spcPts val="600"/>
              </a:spcAft>
              <a:buFont typeface="Wingdings" charset="2"/>
              <a:buNone/>
              <a:defRPr sz="1800">
                <a:solidFill>
                  <a:schemeClr val="bg1"/>
                </a:solidFill>
              </a:defRPr>
            </a:lvl1pPr>
          </a:lstStyle>
          <a:p>
            <a:r>
              <a:rPr lang="en-US" dirty="0"/>
              <a:t>Click to edit Master subtitle style</a:t>
            </a:r>
          </a:p>
        </p:txBody>
      </p:sp>
      <p:pic>
        <p:nvPicPr>
          <p:cNvPr id="2" name="Picture 1">
            <a:extLst>
              <a:ext uri="{FF2B5EF4-FFF2-40B4-BE49-F238E27FC236}">
                <a16:creationId xmlns:a16="http://schemas.microsoft.com/office/drawing/2014/main" id="{F730F52B-39D1-18C7-E271-B683A83DDBF1}"/>
              </a:ext>
            </a:extLst>
          </p:cNvPr>
          <p:cNvPicPr>
            <a:picLocks noChangeAspect="1"/>
          </p:cNvPicPr>
          <p:nvPr userDrawn="1"/>
        </p:nvPicPr>
        <p:blipFill>
          <a:blip r:embed="rId2"/>
          <a:stretch>
            <a:fillRect/>
          </a:stretch>
        </p:blipFill>
        <p:spPr>
          <a:xfrm>
            <a:off x="152400" y="4702088"/>
            <a:ext cx="4938584" cy="916438"/>
          </a:xfrm>
          <a:prstGeom prst="rect">
            <a:avLst/>
          </a:prstGeom>
        </p:spPr>
      </p:pic>
    </p:spTree>
    <p:extLst>
      <p:ext uri="{BB962C8B-B14F-4D97-AF65-F5344CB8AC3E}">
        <p14:creationId xmlns:p14="http://schemas.microsoft.com/office/powerpoint/2010/main" val="40447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38200"/>
            <a:ext cx="8001000" cy="571500"/>
          </a:xfrm>
        </p:spPr>
        <p:txBody>
          <a:bodyPr lIns="0"/>
          <a:lstStyle>
            <a:lvl1pPr>
              <a:defRPr sz="3400"/>
            </a:lvl1pPr>
          </a:lstStyle>
          <a:p>
            <a:r>
              <a:rPr lang="en-US" dirty="0"/>
              <a:t>Click to edit Subhead</a:t>
            </a:r>
          </a:p>
        </p:txBody>
      </p:sp>
      <p:sp>
        <p:nvSpPr>
          <p:cNvPr id="3" name="Content Placeholder 2"/>
          <p:cNvSpPr>
            <a:spLocks noGrp="1"/>
          </p:cNvSpPr>
          <p:nvPr>
            <p:ph idx="1" hasCustomPrompt="1"/>
          </p:nvPr>
        </p:nvSpPr>
        <p:spPr>
          <a:xfrm>
            <a:off x="609600" y="1524000"/>
            <a:ext cx="8001000" cy="3238500"/>
          </a:xfrm>
        </p:spPr>
        <p:txBody>
          <a:bodyPr/>
          <a:lstStyle>
            <a:lvl1pPr marL="342900" indent="-342900">
              <a:spcBef>
                <a:spcPts val="1000"/>
              </a:spcBef>
              <a:buClr>
                <a:srgbClr val="B99B49"/>
              </a:buClr>
              <a:buFont typeface="Wingdings" charset="2"/>
              <a:buChar char="§"/>
              <a:defRPr/>
            </a:lvl1pPr>
            <a:lvl2pPr marL="742950" indent="-285750">
              <a:spcBef>
                <a:spcPts val="1000"/>
              </a:spcBef>
              <a:buClr>
                <a:srgbClr val="B99B49"/>
              </a:buClr>
              <a:buFont typeface="Wingdings" pitchFamily="2" charset="2"/>
              <a:buChar char="§"/>
              <a:defRPr/>
            </a:lvl2pPr>
            <a:lvl3pPr marL="1143000" indent="-228600">
              <a:spcBef>
                <a:spcPts val="1000"/>
              </a:spcBef>
              <a:buClr>
                <a:srgbClr val="B99B49"/>
              </a:buClr>
              <a:buFont typeface="Wingdings" pitchFamily="2" charset="2"/>
              <a:buChar char="§"/>
              <a:defRPr/>
            </a:lvl3pPr>
            <a:lvl4pPr marL="1600200" indent="-228600">
              <a:spcBef>
                <a:spcPts val="1000"/>
              </a:spcBef>
              <a:buClr>
                <a:srgbClr val="B99B49"/>
              </a:buClr>
              <a:buFont typeface="Wingdings" pitchFamily="2" charset="2"/>
              <a:buChar char="§"/>
              <a:defRPr/>
            </a:lvl4pPr>
            <a:lvl5pPr marL="2057400" indent="-228600">
              <a:spcBef>
                <a:spcPts val="1000"/>
              </a:spcBef>
              <a:buClr>
                <a:srgbClr val="B99B49"/>
              </a:buClr>
              <a:buFont typeface="Wingdings" pitchFamily="2" charset="2"/>
              <a:buChar char="§"/>
              <a:defRPr/>
            </a:lvl5pPr>
          </a:lstStyle>
          <a:p>
            <a:pPr lvl="0"/>
            <a:r>
              <a:rPr lang="en-US" dirty="0"/>
              <a:t>Click to edit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xfrm>
            <a:off x="76200" y="-38100"/>
            <a:ext cx="5638800" cy="304800"/>
          </a:xfrm>
          <a:prstGeom prst="rect">
            <a:avLst/>
          </a:prstGeom>
          <a:ln/>
        </p:spPr>
        <p:txBody>
          <a:bodyPr/>
          <a:lstStyle>
            <a:lvl1pPr>
              <a:defRPr/>
            </a:lvl1pPr>
          </a:lstStyle>
          <a:p>
            <a:r>
              <a:rPr lang="en-US"/>
              <a:t>Presentation Title or Audience</a:t>
            </a:r>
          </a:p>
        </p:txBody>
      </p:sp>
      <p:sp>
        <p:nvSpPr>
          <p:cNvPr id="5" name="Rectangle 6"/>
          <p:cNvSpPr>
            <a:spLocks noGrp="1" noChangeArrowheads="1"/>
          </p:cNvSpPr>
          <p:nvPr>
            <p:ph type="sldNum" sz="quarter" idx="11"/>
          </p:nvPr>
        </p:nvSpPr>
        <p:spPr>
          <a:ln/>
        </p:spPr>
        <p:txBody>
          <a:bodyPr/>
          <a:lstStyle>
            <a:lvl1pPr>
              <a:defRPr/>
            </a:lvl1pPr>
          </a:lstStyle>
          <a:p>
            <a:fld id="{9708802B-CECE-C644-A6A3-3C9AAC922203}" type="slidenum">
              <a:rPr lang="en-US"/>
              <a:pPr/>
              <a:t>‹#›</a:t>
            </a:fld>
            <a:endParaRPr lang="en-US"/>
          </a:p>
        </p:txBody>
      </p:sp>
      <p:sp>
        <p:nvSpPr>
          <p:cNvPr id="6" name="Rectangle 18"/>
          <p:cNvSpPr>
            <a:spLocks noGrp="1" noChangeArrowheads="1"/>
          </p:cNvSpPr>
          <p:nvPr>
            <p:ph type="dt" sz="half" idx="12"/>
          </p:nvPr>
        </p:nvSpPr>
        <p:spPr>
          <a:xfrm>
            <a:off x="6553200" y="-38100"/>
            <a:ext cx="2057400" cy="304800"/>
          </a:xfrm>
          <a:prstGeom prst="rect">
            <a:avLst/>
          </a:prstGeom>
          <a:ln/>
        </p:spPr>
        <p:txBody>
          <a:bodyPr rIns="0"/>
          <a:lstStyle>
            <a:lvl1pPr>
              <a:defRPr/>
            </a:lvl1pPr>
          </a:lstStyle>
          <a:p>
            <a:endParaRPr lang="en-US" dirty="0"/>
          </a:p>
        </p:txBody>
      </p:sp>
    </p:spTree>
    <p:extLst>
      <p:ext uri="{BB962C8B-B14F-4D97-AF65-F5344CB8AC3E}">
        <p14:creationId xmlns:p14="http://schemas.microsoft.com/office/powerpoint/2010/main" val="3667125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38200"/>
            <a:ext cx="8001000" cy="571500"/>
          </a:xfrm>
        </p:spPr>
        <p:txBody>
          <a:bodyPr lIns="0"/>
          <a:lstStyle>
            <a:lvl1pPr>
              <a:defRPr sz="3400"/>
            </a:lvl1pPr>
          </a:lstStyle>
          <a:p>
            <a:r>
              <a:rPr lang="en-US" dirty="0"/>
              <a:t>Click to edit Subhead</a:t>
            </a:r>
          </a:p>
        </p:txBody>
      </p:sp>
      <p:sp>
        <p:nvSpPr>
          <p:cNvPr id="3" name="Content Placeholder 2"/>
          <p:cNvSpPr>
            <a:spLocks noGrp="1"/>
          </p:cNvSpPr>
          <p:nvPr>
            <p:ph idx="1" hasCustomPrompt="1"/>
          </p:nvPr>
        </p:nvSpPr>
        <p:spPr>
          <a:xfrm>
            <a:off x="609600" y="1524000"/>
            <a:ext cx="8001000" cy="3238500"/>
          </a:xfrm>
        </p:spPr>
        <p:txBody>
          <a:bodyPr/>
          <a:lstStyle>
            <a:lvl1pPr marL="342900" indent="-342900">
              <a:spcBef>
                <a:spcPts val="1000"/>
              </a:spcBef>
              <a:buClr>
                <a:srgbClr val="B99B49"/>
              </a:buClr>
              <a:buFont typeface="Wingdings" charset="2"/>
              <a:buChar char="§"/>
              <a:defRPr/>
            </a:lvl1pPr>
            <a:lvl2pPr marL="742950" indent="-285750">
              <a:spcBef>
                <a:spcPts val="1000"/>
              </a:spcBef>
              <a:buClr>
                <a:srgbClr val="B99B49"/>
              </a:buClr>
              <a:buFont typeface="Wingdings" pitchFamily="2" charset="2"/>
              <a:buChar char="§"/>
              <a:defRPr/>
            </a:lvl2pPr>
            <a:lvl3pPr marL="1143000" indent="-228600">
              <a:spcBef>
                <a:spcPts val="1000"/>
              </a:spcBef>
              <a:buClr>
                <a:srgbClr val="B99B49"/>
              </a:buClr>
              <a:buFont typeface="Wingdings" pitchFamily="2" charset="2"/>
              <a:buChar char="§"/>
              <a:defRPr/>
            </a:lvl3pPr>
            <a:lvl4pPr marL="1600200" indent="-228600">
              <a:spcBef>
                <a:spcPts val="1000"/>
              </a:spcBef>
              <a:buClr>
                <a:srgbClr val="B99B49"/>
              </a:buClr>
              <a:buFont typeface="Wingdings" pitchFamily="2" charset="2"/>
              <a:buChar char="§"/>
              <a:defRPr/>
            </a:lvl4pPr>
            <a:lvl5pPr marL="2057400" indent="-228600">
              <a:spcBef>
                <a:spcPts val="1000"/>
              </a:spcBef>
              <a:buClr>
                <a:srgbClr val="B99B49"/>
              </a:buClr>
              <a:buFont typeface="Wingdings" pitchFamily="2" charset="2"/>
              <a:buChar char="§"/>
              <a:defRPr/>
            </a:lvl5pPr>
          </a:lstStyle>
          <a:p>
            <a:pPr lvl="0"/>
            <a:r>
              <a:rPr lang="en-US" dirty="0"/>
              <a:t>Click to edit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xfrm>
            <a:off x="76200" y="-38100"/>
            <a:ext cx="5638800" cy="304800"/>
          </a:xfrm>
          <a:prstGeom prst="rect">
            <a:avLst/>
          </a:prstGeom>
          <a:ln/>
        </p:spPr>
        <p:txBody>
          <a:bodyPr/>
          <a:lstStyle>
            <a:lvl1pPr>
              <a:defRPr/>
            </a:lvl1pPr>
          </a:lstStyle>
          <a:p>
            <a:r>
              <a:rPr lang="en-US"/>
              <a:t>Presentation Title or Audience</a:t>
            </a:r>
          </a:p>
        </p:txBody>
      </p:sp>
      <p:sp>
        <p:nvSpPr>
          <p:cNvPr id="5" name="Rectangle 6"/>
          <p:cNvSpPr>
            <a:spLocks noGrp="1" noChangeArrowheads="1"/>
          </p:cNvSpPr>
          <p:nvPr>
            <p:ph type="sldNum" sz="quarter" idx="11"/>
          </p:nvPr>
        </p:nvSpPr>
        <p:spPr>
          <a:ln/>
        </p:spPr>
        <p:txBody>
          <a:bodyPr/>
          <a:lstStyle>
            <a:lvl1pPr>
              <a:defRPr/>
            </a:lvl1pPr>
          </a:lstStyle>
          <a:p>
            <a:fld id="{9708802B-CECE-C644-A6A3-3C9AAC922203}" type="slidenum">
              <a:rPr lang="en-US"/>
              <a:pPr/>
              <a:t>‹#›</a:t>
            </a:fld>
            <a:endParaRPr lang="en-US"/>
          </a:p>
        </p:txBody>
      </p:sp>
      <p:sp>
        <p:nvSpPr>
          <p:cNvPr id="6" name="Rectangle 18"/>
          <p:cNvSpPr>
            <a:spLocks noGrp="1" noChangeArrowheads="1"/>
          </p:cNvSpPr>
          <p:nvPr>
            <p:ph type="dt" sz="half" idx="12"/>
          </p:nvPr>
        </p:nvSpPr>
        <p:spPr>
          <a:xfrm>
            <a:off x="6553200" y="-38100"/>
            <a:ext cx="2057400" cy="304800"/>
          </a:xfrm>
          <a:prstGeom prst="rect">
            <a:avLst/>
          </a:prstGeom>
          <a:ln/>
        </p:spPr>
        <p:txBody>
          <a:bodyPr rIns="0"/>
          <a:lstStyle>
            <a:lvl1pPr>
              <a:defRPr/>
            </a:lvl1pPr>
          </a:lstStyle>
          <a:p>
            <a:endParaRPr lang="en-US" dirty="0"/>
          </a:p>
        </p:txBody>
      </p:sp>
      <p:sp>
        <p:nvSpPr>
          <p:cNvPr id="9" name="Text Placeholder 8"/>
          <p:cNvSpPr>
            <a:spLocks noGrp="1"/>
          </p:cNvSpPr>
          <p:nvPr>
            <p:ph type="body" sz="quarter" idx="13" hasCustomPrompt="1"/>
          </p:nvPr>
        </p:nvSpPr>
        <p:spPr>
          <a:xfrm>
            <a:off x="609600" y="571500"/>
            <a:ext cx="8001000" cy="228600"/>
          </a:xfrm>
        </p:spPr>
        <p:txBody>
          <a:bodyPr lIns="0" tIns="0" rIns="0" bIns="0" anchor="ctr" anchorCtr="0"/>
          <a:lstStyle>
            <a:lvl1pPr marL="0" indent="0">
              <a:buNone/>
              <a:defRPr sz="1600" b="1" i="0" cap="all" baseline="0">
                <a:solidFill>
                  <a:srgbClr val="B99B49"/>
                </a:solidFill>
              </a:defRPr>
            </a:lvl1pPr>
          </a:lstStyle>
          <a:p>
            <a:pPr lvl="0"/>
            <a:r>
              <a:rPr lang="en-US" dirty="0"/>
              <a:t>Click to edit Heading</a:t>
            </a:r>
          </a:p>
        </p:txBody>
      </p:sp>
    </p:spTree>
    <p:extLst>
      <p:ext uri="{BB962C8B-B14F-4D97-AF65-F5344CB8AC3E}">
        <p14:creationId xmlns:p14="http://schemas.microsoft.com/office/powerpoint/2010/main" val="1810327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524000"/>
            <a:ext cx="3886200" cy="3238500"/>
          </a:xfrm>
        </p:spPr>
        <p:txBody>
          <a:bodyPr/>
          <a:lstStyle>
            <a:lvl1pPr marL="342900" indent="-342900">
              <a:buClr>
                <a:srgbClr val="B99B49"/>
              </a:buClr>
              <a:buFont typeface="Wingdings" pitchFamily="2" charset="2"/>
              <a:buChar char="§"/>
              <a:defRPr sz="2400"/>
            </a:lvl1pPr>
            <a:lvl2pPr marL="742950" indent="-285750">
              <a:buClr>
                <a:srgbClr val="B99B49"/>
              </a:buClr>
              <a:buFont typeface="Wingdings" pitchFamily="2" charset="2"/>
              <a:buChar char="§"/>
              <a:defRPr sz="1800"/>
            </a:lvl2pPr>
            <a:lvl3pPr marL="1143000" indent="-228600">
              <a:buClr>
                <a:srgbClr val="B99B49"/>
              </a:buClr>
              <a:buFont typeface="Wingdings" pitchFamily="2" charset="2"/>
              <a:buChar char="§"/>
              <a:defRPr sz="1800"/>
            </a:lvl3pPr>
            <a:lvl4pPr marL="1600200" indent="-228600">
              <a:buClr>
                <a:srgbClr val="B99B49"/>
              </a:buClr>
              <a:buFont typeface="Wingdings" pitchFamily="2" charset="2"/>
              <a:buChar char="§"/>
              <a:defRPr sz="1800"/>
            </a:lvl4pPr>
            <a:lvl5pPr marL="2057400" indent="-228600">
              <a:buClr>
                <a:srgbClr val="B99B49"/>
              </a:buClr>
              <a:buFont typeface="Wingdings" pitchFamily="2" charset="2"/>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524000"/>
            <a:ext cx="3886200" cy="3238500"/>
          </a:xfrm>
        </p:spPr>
        <p:txBody>
          <a:bodyPr/>
          <a:lstStyle>
            <a:lvl1pPr marL="342900" indent="-342900">
              <a:buClr>
                <a:srgbClr val="B99B49"/>
              </a:buClr>
              <a:buFont typeface="Wingdings" pitchFamily="2" charset="2"/>
              <a:buChar char="§"/>
              <a:defRPr sz="2400"/>
            </a:lvl1pPr>
            <a:lvl2pPr marL="742950" indent="-285750">
              <a:buClr>
                <a:srgbClr val="B99B49"/>
              </a:buClr>
              <a:buFont typeface="Wingdings" pitchFamily="2" charset="2"/>
              <a:buChar char="§"/>
              <a:defRPr sz="1800"/>
            </a:lvl2pPr>
            <a:lvl3pPr marL="1143000" indent="-228600">
              <a:buClr>
                <a:srgbClr val="B99B49"/>
              </a:buClr>
              <a:buFont typeface="Wingdings" pitchFamily="2" charset="2"/>
              <a:buChar char="§"/>
              <a:defRPr sz="1800"/>
            </a:lvl3pPr>
            <a:lvl4pPr marL="1600200" indent="-228600">
              <a:buClr>
                <a:srgbClr val="B99B49"/>
              </a:buClr>
              <a:buFont typeface="Wingdings" pitchFamily="2" charset="2"/>
              <a:buChar char="§"/>
              <a:defRPr sz="1800"/>
            </a:lvl4pPr>
            <a:lvl5pPr marL="2057400" indent="-228600">
              <a:buClr>
                <a:srgbClr val="B99B49"/>
              </a:buClr>
              <a:buFont typeface="Wingdings" pitchFamily="2" charset="2"/>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xfrm>
            <a:off x="76200" y="-38100"/>
            <a:ext cx="5638800" cy="304800"/>
          </a:xfrm>
          <a:prstGeom prst="rect">
            <a:avLst/>
          </a:prstGeom>
          <a:ln/>
        </p:spPr>
        <p:txBody>
          <a:bodyPr/>
          <a:lstStyle>
            <a:lvl1pPr>
              <a:defRPr/>
            </a:lvl1pPr>
          </a:lstStyle>
          <a:p>
            <a:r>
              <a:rPr lang="en-US"/>
              <a:t>Presentation Title or Audience</a:t>
            </a:r>
          </a:p>
        </p:txBody>
      </p:sp>
      <p:sp>
        <p:nvSpPr>
          <p:cNvPr id="6" name="Rectangle 6"/>
          <p:cNvSpPr>
            <a:spLocks noGrp="1" noChangeArrowheads="1"/>
          </p:cNvSpPr>
          <p:nvPr>
            <p:ph type="sldNum" sz="quarter" idx="11"/>
          </p:nvPr>
        </p:nvSpPr>
        <p:spPr>
          <a:ln/>
        </p:spPr>
        <p:txBody>
          <a:bodyPr/>
          <a:lstStyle>
            <a:lvl1pPr>
              <a:defRPr/>
            </a:lvl1pPr>
          </a:lstStyle>
          <a:p>
            <a:fld id="{D7C5EAAF-A4DC-4B47-A05B-449AA1DDE4BD}" type="slidenum">
              <a:rPr lang="en-US"/>
              <a:pPr/>
              <a:t>‹#›</a:t>
            </a:fld>
            <a:endParaRPr lang="en-US"/>
          </a:p>
        </p:txBody>
      </p:sp>
      <p:sp>
        <p:nvSpPr>
          <p:cNvPr id="7" name="Rectangle 18"/>
          <p:cNvSpPr>
            <a:spLocks noGrp="1" noChangeArrowheads="1"/>
          </p:cNvSpPr>
          <p:nvPr>
            <p:ph type="dt" sz="half" idx="12"/>
          </p:nvPr>
        </p:nvSpPr>
        <p:spPr>
          <a:xfrm>
            <a:off x="6553200" y="-38100"/>
            <a:ext cx="2057400" cy="304800"/>
          </a:xfrm>
          <a:prstGeom prst="rect">
            <a:avLst/>
          </a:prstGeom>
          <a:ln/>
        </p:spPr>
        <p:txBody>
          <a:bodyPr/>
          <a:lstStyle>
            <a:lvl1pPr>
              <a:defRPr/>
            </a:lvl1pPr>
          </a:lstStyle>
          <a:p>
            <a:endParaRPr lang="en-US"/>
          </a:p>
        </p:txBody>
      </p:sp>
      <p:sp>
        <p:nvSpPr>
          <p:cNvPr id="8" name="Title 1"/>
          <p:cNvSpPr>
            <a:spLocks noGrp="1"/>
          </p:cNvSpPr>
          <p:nvPr>
            <p:ph type="title" hasCustomPrompt="1"/>
          </p:nvPr>
        </p:nvSpPr>
        <p:spPr>
          <a:xfrm>
            <a:off x="609600" y="838200"/>
            <a:ext cx="8001000" cy="571500"/>
          </a:xfrm>
        </p:spPr>
        <p:txBody>
          <a:bodyPr lIns="0"/>
          <a:lstStyle>
            <a:lvl1pPr>
              <a:defRPr sz="3400"/>
            </a:lvl1pPr>
          </a:lstStyle>
          <a:p>
            <a:r>
              <a:rPr lang="en-US" dirty="0"/>
              <a:t>Click to edit Subhead</a:t>
            </a:r>
          </a:p>
        </p:txBody>
      </p:sp>
      <p:sp>
        <p:nvSpPr>
          <p:cNvPr id="9" name="Text Placeholder 8"/>
          <p:cNvSpPr>
            <a:spLocks noGrp="1"/>
          </p:cNvSpPr>
          <p:nvPr>
            <p:ph type="body" sz="quarter" idx="13" hasCustomPrompt="1"/>
          </p:nvPr>
        </p:nvSpPr>
        <p:spPr>
          <a:xfrm>
            <a:off x="609600" y="571500"/>
            <a:ext cx="8001000" cy="228600"/>
          </a:xfrm>
        </p:spPr>
        <p:txBody>
          <a:bodyPr lIns="0" tIns="0" rIns="0" bIns="0" anchor="ctr" anchorCtr="0"/>
          <a:lstStyle>
            <a:lvl1pPr marL="0" indent="0">
              <a:buNone/>
              <a:defRPr sz="1600" b="1" i="0" cap="all" baseline="0">
                <a:solidFill>
                  <a:srgbClr val="B99B49"/>
                </a:solidFill>
              </a:defRPr>
            </a:lvl1pPr>
          </a:lstStyle>
          <a:p>
            <a:pPr lvl="0"/>
            <a:r>
              <a:rPr lang="en-US" dirty="0"/>
              <a:t>Click to edit Heading</a:t>
            </a:r>
          </a:p>
        </p:txBody>
      </p:sp>
    </p:spTree>
    <p:extLst>
      <p:ext uri="{BB962C8B-B14F-4D97-AF65-F5344CB8AC3E}">
        <p14:creationId xmlns:p14="http://schemas.microsoft.com/office/powerpoint/2010/main" val="3247547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6464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B78CB-2A0B-41FD-9FFA-48D4390004BC}"/>
              </a:ext>
            </a:extLst>
          </p:cNvPr>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FA79511-7513-5AE3-73A1-5FDA70E73507}"/>
              </a:ext>
            </a:extLst>
          </p:cNvPr>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77A4E3C-2746-C8F8-067A-B7541EDB9CE6}"/>
              </a:ext>
            </a:extLst>
          </p:cNvPr>
          <p:cNvSpPr>
            <a:spLocks noGrp="1"/>
          </p:cNvSpPr>
          <p:nvPr>
            <p:ph type="dt" sz="half" idx="10"/>
          </p:nvPr>
        </p:nvSpPr>
        <p:spPr>
          <a:xfrm>
            <a:off x="628650" y="5296959"/>
            <a:ext cx="2057400" cy="304271"/>
          </a:xfrm>
          <a:prstGeom prst="rect">
            <a:avLst/>
          </a:prstGeom>
        </p:spPr>
        <p:txBody>
          <a:bodyPr/>
          <a:lstStyle/>
          <a:p>
            <a:fld id="{81016389-12D4-C941-A61F-8A77CAEF4557}" type="datetimeFigureOut">
              <a:rPr lang="en-US" smtClean="0"/>
              <a:t>1/13/26</a:t>
            </a:fld>
            <a:endParaRPr lang="en-US"/>
          </a:p>
        </p:txBody>
      </p:sp>
      <p:sp>
        <p:nvSpPr>
          <p:cNvPr id="5" name="Footer Placeholder 4">
            <a:extLst>
              <a:ext uri="{FF2B5EF4-FFF2-40B4-BE49-F238E27FC236}">
                <a16:creationId xmlns:a16="http://schemas.microsoft.com/office/drawing/2014/main" id="{3DF534C2-39DF-9AC0-D729-838741AC1D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DEB07B-F8D4-93DF-D5D5-7FC0BD121FEF}"/>
              </a:ext>
            </a:extLst>
          </p:cNvPr>
          <p:cNvSpPr>
            <a:spLocks noGrp="1"/>
          </p:cNvSpPr>
          <p:nvPr>
            <p:ph type="sldNum" sz="quarter" idx="12"/>
          </p:nvPr>
        </p:nvSpPr>
        <p:spPr/>
        <p:txBody>
          <a:bodyPr/>
          <a:lstStyle/>
          <a:p>
            <a:fld id="{630E56E9-0947-AE44-8427-2EDC2103D2AE}" type="slidenum">
              <a:rPr lang="en-US" smtClean="0"/>
              <a:t>‹#›</a:t>
            </a:fld>
            <a:endParaRPr lang="en-US"/>
          </a:p>
        </p:txBody>
      </p:sp>
      <p:sp>
        <p:nvSpPr>
          <p:cNvPr id="7" name="Rectangle 13">
            <a:extLst>
              <a:ext uri="{FF2B5EF4-FFF2-40B4-BE49-F238E27FC236}">
                <a16:creationId xmlns:a16="http://schemas.microsoft.com/office/drawing/2014/main" id="{4F097EEF-186A-18C6-F951-CDB428DE2E79}"/>
              </a:ext>
            </a:extLst>
          </p:cNvPr>
          <p:cNvSpPr>
            <a:spLocks noChangeArrowheads="1"/>
          </p:cNvSpPr>
          <p:nvPr userDrawn="1"/>
        </p:nvSpPr>
        <p:spPr bwMode="auto">
          <a:xfrm>
            <a:off x="0" y="-38100"/>
            <a:ext cx="9144000" cy="5118100"/>
          </a:xfrm>
          <a:prstGeom prst="rect">
            <a:avLst/>
          </a:prstGeom>
          <a:gradFill rotWithShape="0">
            <a:gsLst>
              <a:gs pos="0">
                <a:schemeClr val="tx1"/>
              </a:gs>
              <a:gs pos="100000">
                <a:srgbClr val="333333"/>
              </a:gs>
            </a:gsLst>
            <a:lin ang="5400000" scaled="1"/>
          </a:gradFill>
          <a:ln w="9525">
            <a:noFill/>
            <a:miter lim="800000"/>
            <a:headEnd/>
            <a:tailEnd/>
          </a:ln>
          <a:effectLst/>
        </p:spPr>
        <p:txBody>
          <a:bodyPr wrap="none" anchor="ctr"/>
          <a:lstStyle/>
          <a:p>
            <a:endParaRPr lang="en-US"/>
          </a:p>
        </p:txBody>
      </p:sp>
      <p:sp>
        <p:nvSpPr>
          <p:cNvPr id="8" name="Rectangle 7">
            <a:extLst>
              <a:ext uri="{FF2B5EF4-FFF2-40B4-BE49-F238E27FC236}">
                <a16:creationId xmlns:a16="http://schemas.microsoft.com/office/drawing/2014/main" id="{48212B30-B28C-70D1-E0E8-59BAF67893DE}"/>
              </a:ext>
            </a:extLst>
          </p:cNvPr>
          <p:cNvSpPr>
            <a:spLocks noChangeArrowheads="1"/>
          </p:cNvSpPr>
          <p:nvPr userDrawn="1"/>
        </p:nvSpPr>
        <p:spPr bwMode="auto">
          <a:xfrm>
            <a:off x="0" y="4699000"/>
            <a:ext cx="9144000" cy="1016000"/>
          </a:xfrm>
          <a:prstGeom prst="rect">
            <a:avLst/>
          </a:prstGeom>
          <a:solidFill>
            <a:schemeClr val="tx1"/>
          </a:solidFill>
          <a:ln w="9525">
            <a:noFill/>
            <a:miter lim="800000"/>
            <a:headEnd/>
            <a:tailEnd/>
          </a:ln>
          <a:effectLst/>
        </p:spPr>
        <p:txBody>
          <a:bodyPr wrap="none" anchor="ctr"/>
          <a:lstStyle/>
          <a:p>
            <a:endParaRPr lang="en-US"/>
          </a:p>
        </p:txBody>
      </p:sp>
      <p:sp>
        <p:nvSpPr>
          <p:cNvPr id="9" name="Line 10">
            <a:extLst>
              <a:ext uri="{FF2B5EF4-FFF2-40B4-BE49-F238E27FC236}">
                <a16:creationId xmlns:a16="http://schemas.microsoft.com/office/drawing/2014/main" id="{C6042BEE-D04E-04E7-F085-E2F76705C7E1}"/>
              </a:ext>
            </a:extLst>
          </p:cNvPr>
          <p:cNvSpPr>
            <a:spLocks noChangeShapeType="1"/>
          </p:cNvSpPr>
          <p:nvPr userDrawn="1"/>
        </p:nvSpPr>
        <p:spPr bwMode="auto">
          <a:xfrm>
            <a:off x="0" y="4699000"/>
            <a:ext cx="9144000" cy="0"/>
          </a:xfrm>
          <a:prstGeom prst="line">
            <a:avLst/>
          </a:prstGeom>
          <a:noFill/>
          <a:ln w="6350">
            <a:solidFill>
              <a:srgbClr val="4D4D4D"/>
            </a:solidFill>
            <a:round/>
            <a:headEnd/>
            <a:tailEnd/>
          </a:ln>
          <a:effectLst/>
        </p:spPr>
        <p:txBody>
          <a:bodyPr wrap="none" anchor="ctr"/>
          <a:lstStyle/>
          <a:p>
            <a:pPr>
              <a:defRPr/>
            </a:pPr>
            <a:endParaRPr lang="en-US">
              <a:ea typeface="Osaka" charset="-128"/>
              <a:cs typeface="Osaka" charset="-128"/>
            </a:endParaRPr>
          </a:p>
        </p:txBody>
      </p:sp>
      <p:sp>
        <p:nvSpPr>
          <p:cNvPr id="10" name="Rectangle 7">
            <a:extLst>
              <a:ext uri="{FF2B5EF4-FFF2-40B4-BE49-F238E27FC236}">
                <a16:creationId xmlns:a16="http://schemas.microsoft.com/office/drawing/2014/main" id="{E416997E-E46C-5EB2-E8E9-E96CEA772384}"/>
              </a:ext>
            </a:extLst>
          </p:cNvPr>
          <p:cNvSpPr>
            <a:spLocks noChangeArrowheads="1"/>
          </p:cNvSpPr>
          <p:nvPr userDrawn="1"/>
        </p:nvSpPr>
        <p:spPr bwMode="auto">
          <a:xfrm>
            <a:off x="0" y="4635500"/>
            <a:ext cx="9144000" cy="63500"/>
          </a:xfrm>
          <a:prstGeom prst="rect">
            <a:avLst/>
          </a:prstGeom>
          <a:solidFill>
            <a:srgbClr val="CFB87C"/>
          </a:solidFill>
          <a:ln w="9525">
            <a:noFill/>
            <a:miter lim="800000"/>
            <a:headEnd/>
            <a:tailEnd/>
          </a:ln>
          <a:effectLst/>
        </p:spPr>
        <p:txBody>
          <a:bodyPr wrap="none" anchor="ctr"/>
          <a:lstStyle/>
          <a:p>
            <a:endParaRPr lang="en-US"/>
          </a:p>
        </p:txBody>
      </p:sp>
      <p:pic>
        <p:nvPicPr>
          <p:cNvPr id="11" name="Picture 10">
            <a:extLst>
              <a:ext uri="{FF2B5EF4-FFF2-40B4-BE49-F238E27FC236}">
                <a16:creationId xmlns:a16="http://schemas.microsoft.com/office/drawing/2014/main" id="{B99FD211-2317-9A89-5BF8-2354F3E4DAD6}"/>
              </a:ext>
            </a:extLst>
          </p:cNvPr>
          <p:cNvPicPr>
            <a:picLocks noChangeAspect="1"/>
          </p:cNvPicPr>
          <p:nvPr userDrawn="1"/>
        </p:nvPicPr>
        <p:blipFill>
          <a:blip r:embed="rId2"/>
          <a:stretch>
            <a:fillRect/>
          </a:stretch>
        </p:blipFill>
        <p:spPr>
          <a:xfrm>
            <a:off x="152400" y="4702088"/>
            <a:ext cx="4938584" cy="916438"/>
          </a:xfrm>
          <a:prstGeom prst="rect">
            <a:avLst/>
          </a:prstGeom>
        </p:spPr>
      </p:pic>
    </p:spTree>
    <p:extLst>
      <p:ext uri="{BB962C8B-B14F-4D97-AF65-F5344CB8AC3E}">
        <p14:creationId xmlns:p14="http://schemas.microsoft.com/office/powerpoint/2010/main" val="37829685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17D27-2187-0A30-7536-D1BD6B4333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0E3CD7-CDEB-696C-E946-C2824EA885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FD66B13-AA29-1CEA-ED2D-CBE5F3DDC2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6A25A7-9655-D76E-0B18-A4C247682AB8}"/>
              </a:ext>
            </a:extLst>
          </p:cNvPr>
          <p:cNvSpPr>
            <a:spLocks noGrp="1"/>
          </p:cNvSpPr>
          <p:nvPr>
            <p:ph type="sldNum" sz="quarter" idx="12"/>
          </p:nvPr>
        </p:nvSpPr>
        <p:spPr/>
        <p:txBody>
          <a:bodyPr/>
          <a:lstStyle/>
          <a:p>
            <a:fld id="{9708802B-CECE-C644-A6A3-3C9AAC922203}" type="slidenum">
              <a:rPr lang="en-US" smtClean="0"/>
              <a:pPr/>
              <a:t>‹#›</a:t>
            </a:fld>
            <a:endParaRPr lang="en-US"/>
          </a:p>
        </p:txBody>
      </p:sp>
    </p:spTree>
    <p:extLst>
      <p:ext uri="{BB962C8B-B14F-4D97-AF65-F5344CB8AC3E}">
        <p14:creationId xmlns:p14="http://schemas.microsoft.com/office/powerpoint/2010/main" val="1724982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10E3C-DFD1-F13B-280B-27EBDB817CE4}"/>
              </a:ext>
            </a:extLst>
          </p:cNvPr>
          <p:cNvSpPr>
            <a:spLocks noGrp="1"/>
          </p:cNvSpPr>
          <p:nvPr>
            <p:ph type="title"/>
          </p:nvPr>
        </p:nvSpPr>
        <p:spPr>
          <a:xfrm>
            <a:off x="623887" y="1424782"/>
            <a:ext cx="7886700" cy="2377281"/>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2FC72AA-1CEB-E45D-C0BE-745C4E86BB0F}"/>
              </a:ext>
            </a:extLst>
          </p:cNvPr>
          <p:cNvSpPr>
            <a:spLocks noGrp="1"/>
          </p:cNvSpPr>
          <p:nvPr>
            <p:ph type="body" idx="1"/>
          </p:nvPr>
        </p:nvSpPr>
        <p:spPr>
          <a:xfrm>
            <a:off x="623887" y="3824553"/>
            <a:ext cx="7886700" cy="1250156"/>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95DEECC-CE0B-2889-2C5F-A33CBF9BE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9998B9-034A-BC54-8431-BE101F440B60}"/>
              </a:ext>
            </a:extLst>
          </p:cNvPr>
          <p:cNvSpPr>
            <a:spLocks noGrp="1"/>
          </p:cNvSpPr>
          <p:nvPr>
            <p:ph type="sldNum" sz="quarter" idx="12"/>
          </p:nvPr>
        </p:nvSpPr>
        <p:spPr/>
        <p:txBody>
          <a:body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2066201249"/>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2ACCB-F153-88EB-AE67-AE9CDA21F0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5F3B8B-4B9A-1A7F-8467-F244CE51C059}"/>
              </a:ext>
            </a:extLst>
          </p:cNvPr>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D6DA1A-2F0A-0DA1-5C8A-F1BC646A29B1}"/>
              </a:ext>
            </a:extLst>
          </p:cNvPr>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99927AA-939F-7318-8613-717E0CA97B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B5F822-E986-ED9A-DFB7-B4E2756EFE1B}"/>
              </a:ext>
            </a:extLst>
          </p:cNvPr>
          <p:cNvSpPr>
            <a:spLocks noGrp="1"/>
          </p:cNvSpPr>
          <p:nvPr>
            <p:ph type="sldNum" sz="quarter" idx="12"/>
          </p:nvPr>
        </p:nvSpPr>
        <p:spPr/>
        <p:txBody>
          <a:body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319335444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3A15-BA9C-1CEF-2480-99CA9513AA35}"/>
              </a:ext>
            </a:extLst>
          </p:cNvPr>
          <p:cNvSpPr>
            <a:spLocks noGrp="1"/>
          </p:cNvSpPr>
          <p:nvPr>
            <p:ph type="title"/>
          </p:nvPr>
        </p:nvSpPr>
        <p:spPr>
          <a:xfrm>
            <a:off x="629841" y="304271"/>
            <a:ext cx="7886700" cy="1104636"/>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29FBC8-354D-097A-7C19-F3BFF30AEEDB}"/>
              </a:ext>
            </a:extLst>
          </p:cNvPr>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A132E4D-5171-1462-8AAF-7B0B74A1998E}"/>
              </a:ext>
            </a:extLst>
          </p:cNvPr>
          <p:cNvSpPr>
            <a:spLocks noGrp="1"/>
          </p:cNvSpPr>
          <p:nvPr>
            <p:ph sz="half" idx="2"/>
          </p:nvPr>
        </p:nvSpPr>
        <p:spPr>
          <a:xfrm>
            <a:off x="629842" y="2087563"/>
            <a:ext cx="3868340"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61B430-40A6-E71F-5027-91B1FF54AFFC}"/>
              </a:ext>
            </a:extLst>
          </p:cNvPr>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EE5CE81-9520-0A17-0AB6-D1EBE3B36776}"/>
              </a:ext>
            </a:extLst>
          </p:cNvPr>
          <p:cNvSpPr>
            <a:spLocks noGrp="1"/>
          </p:cNvSpPr>
          <p:nvPr>
            <p:ph sz="quarter" idx="4"/>
          </p:nvPr>
        </p:nvSpPr>
        <p:spPr>
          <a:xfrm>
            <a:off x="4629150" y="2087563"/>
            <a:ext cx="3887391"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0D06949D-245A-DA41-4B14-AB41A924A2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10721A-D8A6-8433-F469-70B3D7A2EC18}"/>
              </a:ext>
            </a:extLst>
          </p:cNvPr>
          <p:cNvSpPr>
            <a:spLocks noGrp="1"/>
          </p:cNvSpPr>
          <p:nvPr>
            <p:ph type="sldNum" sz="quarter" idx="12"/>
          </p:nvPr>
        </p:nvSpPr>
        <p:spPr/>
        <p:txBody>
          <a:body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2521218059"/>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C0E9F-06E3-AD44-39F2-A18DFDD6187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AFEF40D-A7E5-8A76-FAEF-02AC4E547A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ADDAC3-F8CA-8307-5FA4-2870BD025634}"/>
              </a:ext>
            </a:extLst>
          </p:cNvPr>
          <p:cNvSpPr>
            <a:spLocks noGrp="1"/>
          </p:cNvSpPr>
          <p:nvPr>
            <p:ph type="sldNum" sz="quarter" idx="12"/>
          </p:nvPr>
        </p:nvSpPr>
        <p:spPr/>
        <p:txBody>
          <a:bodyPr/>
          <a:lstStyle/>
          <a:p>
            <a:fld id="{8C17B027-94AA-734A-ACC9-170E40BA2B18}" type="slidenum">
              <a:rPr lang="en-US" smtClean="0"/>
              <a:pPr/>
              <a:t>‹#›</a:t>
            </a:fld>
            <a:endParaRPr lang="en-US"/>
          </a:p>
        </p:txBody>
      </p:sp>
    </p:spTree>
    <p:extLst>
      <p:ext uri="{BB962C8B-B14F-4D97-AF65-F5344CB8AC3E}">
        <p14:creationId xmlns:p14="http://schemas.microsoft.com/office/powerpoint/2010/main" val="4395761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5F2B10-397D-CD8F-9EC3-ED4C66DF77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90A69E-E1EC-F79E-5A1F-AF667E5E14E6}"/>
              </a:ext>
            </a:extLst>
          </p:cNvPr>
          <p:cNvSpPr>
            <a:spLocks noGrp="1"/>
          </p:cNvSpPr>
          <p:nvPr>
            <p:ph type="sldNum" sz="quarter" idx="12"/>
          </p:nvPr>
        </p:nvSpPr>
        <p:spPr/>
        <p:txBody>
          <a:bodyPr/>
          <a:lstStyle/>
          <a:p>
            <a:fld id="{CC9B0832-ECD8-1F4A-ACBB-61CA5D9140CF}" type="slidenum">
              <a:rPr lang="en-US" smtClean="0"/>
              <a:pPr/>
              <a:t>‹#›</a:t>
            </a:fld>
            <a:endParaRPr lang="en-US" dirty="0"/>
          </a:p>
        </p:txBody>
      </p:sp>
    </p:spTree>
    <p:extLst>
      <p:ext uri="{BB962C8B-B14F-4D97-AF65-F5344CB8AC3E}">
        <p14:creationId xmlns:p14="http://schemas.microsoft.com/office/powerpoint/2010/main" val="1702189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754B9-1AB6-A038-7E3B-8A133A8CEB35}"/>
              </a:ext>
            </a:extLst>
          </p:cNvPr>
          <p:cNvSpPr>
            <a:spLocks noGrp="1"/>
          </p:cNvSpPr>
          <p:nvPr>
            <p:ph type="title"/>
          </p:nvPr>
        </p:nvSpPr>
        <p:spPr>
          <a:xfrm>
            <a:off x="629841" y="381000"/>
            <a:ext cx="2949178" cy="13335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FFE900C-6D90-35F5-768C-B32B46D4FE9A}"/>
              </a:ext>
            </a:extLst>
          </p:cNvPr>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7FF4B2-EA8C-FC56-77E9-70BBD9FE979D}"/>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6" name="Footer Placeholder 5">
            <a:extLst>
              <a:ext uri="{FF2B5EF4-FFF2-40B4-BE49-F238E27FC236}">
                <a16:creationId xmlns:a16="http://schemas.microsoft.com/office/drawing/2014/main" id="{A5ABDBB4-8B6B-2D15-CB42-0BDF28D65F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8A0C5-836F-AEF0-7DC5-1A23A32B4683}"/>
              </a:ext>
            </a:extLst>
          </p:cNvPr>
          <p:cNvSpPr>
            <a:spLocks noGrp="1"/>
          </p:cNvSpPr>
          <p:nvPr>
            <p:ph type="sldNum" sz="quarter" idx="12"/>
          </p:nvPr>
        </p:nvSpPr>
        <p:spPr/>
        <p:txBody>
          <a:body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2142205150"/>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E831E-C226-C419-ED38-49CAD2A4A981}"/>
              </a:ext>
            </a:extLst>
          </p:cNvPr>
          <p:cNvSpPr>
            <a:spLocks noGrp="1"/>
          </p:cNvSpPr>
          <p:nvPr>
            <p:ph type="title"/>
          </p:nvPr>
        </p:nvSpPr>
        <p:spPr>
          <a:xfrm>
            <a:off x="629841" y="381000"/>
            <a:ext cx="2949178" cy="13335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6A6BA9B-6299-2C4B-176B-13633542E07D}"/>
              </a:ext>
            </a:extLst>
          </p:cNvPr>
          <p:cNvSpPr>
            <a:spLocks noGrp="1"/>
          </p:cNvSpPr>
          <p:nvPr>
            <p:ph type="pic" idx="1"/>
          </p:nvPr>
        </p:nvSpPr>
        <p:spPr>
          <a:xfrm>
            <a:off x="3887391" y="822855"/>
            <a:ext cx="4629150" cy="406135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788C5E86-E696-A67B-31AF-AC375B31AC19}"/>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6" name="Footer Placeholder 5">
            <a:extLst>
              <a:ext uri="{FF2B5EF4-FFF2-40B4-BE49-F238E27FC236}">
                <a16:creationId xmlns:a16="http://schemas.microsoft.com/office/drawing/2014/main" id="{D330D45A-4D4C-AC67-2347-2F4C1795D2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A733A4-8B0B-5602-071E-E3A92EAF760A}"/>
              </a:ext>
            </a:extLst>
          </p:cNvPr>
          <p:cNvSpPr>
            <a:spLocks noGrp="1"/>
          </p:cNvSpPr>
          <p:nvPr>
            <p:ph type="sldNum" sz="quarter" idx="12"/>
          </p:nvPr>
        </p:nvSpPr>
        <p:spPr/>
        <p:txBody>
          <a:body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2425040157"/>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524C-E370-E573-1E45-07889152A0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FFE0CC-CB61-6605-ABBA-5770B66560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C8C4DB4-2703-740D-27C3-99CF5DA143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F85351-5BFE-FC4F-5C6E-B32DAB2B1978}"/>
              </a:ext>
            </a:extLst>
          </p:cNvPr>
          <p:cNvSpPr>
            <a:spLocks noGrp="1"/>
          </p:cNvSpPr>
          <p:nvPr>
            <p:ph type="sldNum" sz="quarter" idx="12"/>
          </p:nvPr>
        </p:nvSpPr>
        <p:spPr/>
        <p:txBody>
          <a:body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2051437259"/>
      </p:ext>
    </p:extLst>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AA9B4B-8A03-8336-0D2D-F6E897FD36C8}"/>
              </a:ext>
            </a:extLst>
          </p:cNvPr>
          <p:cNvSpPr>
            <a:spLocks noGrp="1"/>
          </p:cNvSpPr>
          <p:nvPr>
            <p:ph type="title" orient="vert"/>
          </p:nvPr>
        </p:nvSpPr>
        <p:spPr>
          <a:xfrm>
            <a:off x="6543675" y="304271"/>
            <a:ext cx="1971675" cy="484319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42E9F3-4495-10D4-6DC4-8E3EF3333996}"/>
              </a:ext>
            </a:extLst>
          </p:cNvPr>
          <p:cNvSpPr>
            <a:spLocks noGrp="1"/>
          </p:cNvSpPr>
          <p:nvPr>
            <p:ph type="body" orient="vert" idx="1"/>
          </p:nvPr>
        </p:nvSpPr>
        <p:spPr>
          <a:xfrm>
            <a:off x="628650" y="304271"/>
            <a:ext cx="5800725" cy="48431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FFD8022-7B9B-834A-6CC3-E3026522AC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AC3EA-DBC6-2E83-8199-F71B8C69F2B0}"/>
              </a:ext>
            </a:extLst>
          </p:cNvPr>
          <p:cNvSpPr>
            <a:spLocks noGrp="1"/>
          </p:cNvSpPr>
          <p:nvPr>
            <p:ph type="sldNum" sz="quarter" idx="12"/>
          </p:nvPr>
        </p:nvSpPr>
        <p:spPr/>
        <p:txBody>
          <a:body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807754868"/>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34" name="Rectangle 10"/>
          <p:cNvSpPr>
            <a:spLocks noChangeArrowheads="1"/>
          </p:cNvSpPr>
          <p:nvPr/>
        </p:nvSpPr>
        <p:spPr bwMode="auto">
          <a:xfrm>
            <a:off x="0" y="-35719"/>
            <a:ext cx="8839200" cy="289719"/>
          </a:xfrm>
          <a:prstGeom prst="rect">
            <a:avLst/>
          </a:prstGeom>
          <a:gradFill rotWithShape="0">
            <a:gsLst>
              <a:gs pos="0">
                <a:srgbClr val="333333"/>
              </a:gs>
              <a:gs pos="100000">
                <a:schemeClr val="tx1"/>
              </a:gs>
            </a:gsLst>
            <a:lin ang="5400000" scaled="1"/>
          </a:gradFill>
          <a:ln w="9525">
            <a:noFill/>
            <a:miter lim="800000"/>
            <a:headEnd/>
            <a:tailEnd/>
          </a:ln>
          <a:effectLst/>
        </p:spPr>
        <p:txBody>
          <a:bodyPr wrap="none" anchor="ctr" anchorCtr="0"/>
          <a:lstStyle/>
          <a:p>
            <a:endParaRPr lang="en-US"/>
          </a:p>
        </p:txBody>
      </p:sp>
      <p:sp>
        <p:nvSpPr>
          <p:cNvPr id="1027" name="Rectangle 2"/>
          <p:cNvSpPr>
            <a:spLocks noGrp="1" noChangeArrowheads="1"/>
          </p:cNvSpPr>
          <p:nvPr>
            <p:ph type="title"/>
          </p:nvPr>
        </p:nvSpPr>
        <p:spPr bwMode="auto">
          <a:xfrm>
            <a:off x="457200" y="552450"/>
            <a:ext cx="8001000" cy="571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p>
            <a:pPr lvl="0"/>
            <a:r>
              <a:rPr lang="en-US" dirty="0"/>
              <a:t>Click to edit heading</a:t>
            </a:r>
          </a:p>
        </p:txBody>
      </p:sp>
      <p:sp>
        <p:nvSpPr>
          <p:cNvPr id="1028" name="Rectangle 3"/>
          <p:cNvSpPr>
            <a:spLocks noGrp="1" noChangeArrowheads="1"/>
          </p:cNvSpPr>
          <p:nvPr>
            <p:ph type="body" idx="1"/>
          </p:nvPr>
        </p:nvSpPr>
        <p:spPr bwMode="auto">
          <a:xfrm>
            <a:off x="457200" y="1238250"/>
            <a:ext cx="8001000" cy="3238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p>
            <a:pPr lvl="0"/>
            <a:r>
              <a:rPr lang="en-US" dirty="0"/>
              <a:t>Click to edit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a:spLocks noChangeArrowheads="1"/>
          </p:cNvSpPr>
          <p:nvPr/>
        </p:nvSpPr>
        <p:spPr bwMode="auto">
          <a:xfrm>
            <a:off x="8839200" y="-35719"/>
            <a:ext cx="304800" cy="289719"/>
          </a:xfrm>
          <a:prstGeom prst="rect">
            <a:avLst/>
          </a:prstGeom>
          <a:solidFill>
            <a:srgbClr val="CFBA7D"/>
          </a:solidFill>
          <a:ln w="9525">
            <a:noFill/>
            <a:miter lim="800000"/>
            <a:headEnd/>
            <a:tailEnd/>
          </a:ln>
          <a:effectLst/>
        </p:spPr>
        <p:txBody>
          <a:bodyPr wrap="none" anchor="ctr" anchorCtr="0"/>
          <a:lstStyle/>
          <a:p>
            <a:endParaRPr lang="en-US"/>
          </a:p>
        </p:txBody>
      </p:sp>
      <p:sp>
        <p:nvSpPr>
          <p:cNvPr id="1030" name="Rectangle 6"/>
          <p:cNvSpPr>
            <a:spLocks noGrp="1" noChangeArrowheads="1"/>
          </p:cNvSpPr>
          <p:nvPr>
            <p:ph type="sldNum" sz="quarter" idx="4"/>
          </p:nvPr>
        </p:nvSpPr>
        <p:spPr bwMode="auto">
          <a:xfrm>
            <a:off x="8839200" y="-38100"/>
            <a:ext cx="304800" cy="304800"/>
          </a:xfrm>
          <a:prstGeom prst="rect">
            <a:avLst/>
          </a:prstGeom>
          <a:noFill/>
          <a:ln w="9525">
            <a:noFill/>
            <a:miter lim="800000"/>
            <a:headEnd/>
            <a:tailEnd/>
          </a:ln>
          <a:effectLst/>
        </p:spPr>
        <p:txBody>
          <a:bodyPr vert="horz" wrap="none" lIns="91440" tIns="45720" rIns="91440" bIns="45720" numCol="1" anchor="ctr" anchorCtr="1" compatLnSpc="1">
            <a:prstTxWarp prst="textNoShape">
              <a:avLst/>
            </a:prstTxWarp>
          </a:bodyPr>
          <a:lstStyle>
            <a:lvl1pPr algn="r">
              <a:defRPr sz="1200" b="0">
                <a:solidFill>
                  <a:schemeClr val="bg1"/>
                </a:solidFill>
                <a:latin typeface="Arial" charset="0"/>
              </a:defRPr>
            </a:lvl1p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1055254217"/>
      </p:ext>
    </p:extLst>
  </p:cSld>
  <p:clrMap bg1="lt1" tx1="dk1" bg2="lt2" tx2="dk2" accent1="accent1" accent2="accent2" accent3="accent3" accent4="accent4" accent5="accent5" accent6="accent6" hlink="hlink" folHlink="folHlink"/>
  <p:sldLayoutIdLst>
    <p:sldLayoutId id="2147483677" r:id="rId1"/>
    <p:sldLayoutId id="2147483684" r:id="rId2"/>
    <p:sldLayoutId id="2147483678" r:id="rId3"/>
    <p:sldLayoutId id="2147483679" r:id="rId4"/>
    <p:sldLayoutId id="2147483680" r:id="rId5"/>
    <p:sldLayoutId id="2147483681" r:id="rId6"/>
    <p:sldLayoutId id="2147483682" r:id="rId7"/>
    <p:sldLayoutId id="2147483683" r:id="rId8"/>
    <p:sldLayoutId id="2147483675" r:id="rId9"/>
    <p:sldLayoutId id="2147483661" r:id="rId10"/>
    <p:sldLayoutId id="2147483672" r:id="rId11"/>
    <p:sldLayoutId id="2147483663" r:id="rId12"/>
  </p:sldLayoutIdLst>
  <p:hf hdr="0"/>
  <p:txStyles>
    <p:titleStyle>
      <a:lvl1pPr algn="l" rtl="0" eaLnBrk="1" fontAlgn="base" hangingPunct="1">
        <a:spcBef>
          <a:spcPct val="0"/>
        </a:spcBef>
        <a:spcAft>
          <a:spcPct val="0"/>
        </a:spcAft>
        <a:defRPr sz="3400" baseline="0">
          <a:solidFill>
            <a:schemeClr val="tx1"/>
          </a:solidFill>
          <a:latin typeface="+mj-lt"/>
          <a:ea typeface="+mj-ea"/>
          <a:cs typeface="+mj-cs"/>
        </a:defRPr>
      </a:lvl1pPr>
      <a:lvl2pPr algn="l" rtl="0" eaLnBrk="1" fontAlgn="base" hangingPunct="1">
        <a:spcBef>
          <a:spcPct val="0"/>
        </a:spcBef>
        <a:spcAft>
          <a:spcPct val="0"/>
        </a:spcAft>
        <a:defRPr sz="3600">
          <a:solidFill>
            <a:schemeClr val="tx1"/>
          </a:solidFill>
          <a:latin typeface="Arial" charset="0"/>
          <a:ea typeface="Osaka" charset="-128"/>
          <a:cs typeface="Osaka" charset="-128"/>
        </a:defRPr>
      </a:lvl2pPr>
      <a:lvl3pPr algn="l" rtl="0" eaLnBrk="1" fontAlgn="base" hangingPunct="1">
        <a:spcBef>
          <a:spcPct val="0"/>
        </a:spcBef>
        <a:spcAft>
          <a:spcPct val="0"/>
        </a:spcAft>
        <a:defRPr sz="3600">
          <a:solidFill>
            <a:schemeClr val="tx1"/>
          </a:solidFill>
          <a:latin typeface="Arial" charset="0"/>
          <a:ea typeface="Osaka" charset="-128"/>
          <a:cs typeface="Osaka" charset="-128"/>
        </a:defRPr>
      </a:lvl3pPr>
      <a:lvl4pPr algn="l" rtl="0" eaLnBrk="1" fontAlgn="base" hangingPunct="1">
        <a:spcBef>
          <a:spcPct val="0"/>
        </a:spcBef>
        <a:spcAft>
          <a:spcPct val="0"/>
        </a:spcAft>
        <a:defRPr sz="3600">
          <a:solidFill>
            <a:schemeClr val="tx1"/>
          </a:solidFill>
          <a:latin typeface="Arial" charset="0"/>
          <a:ea typeface="Osaka" charset="-128"/>
          <a:cs typeface="Osaka" charset="-128"/>
        </a:defRPr>
      </a:lvl4pPr>
      <a:lvl5pPr algn="l" rtl="0" eaLnBrk="1" fontAlgn="base" hangingPunct="1">
        <a:spcBef>
          <a:spcPct val="0"/>
        </a:spcBef>
        <a:spcAft>
          <a:spcPct val="0"/>
        </a:spcAft>
        <a:defRPr sz="3600">
          <a:solidFill>
            <a:schemeClr val="tx1"/>
          </a:solidFill>
          <a:latin typeface="Arial" charset="0"/>
          <a:ea typeface="Osaka" charset="-128"/>
          <a:cs typeface="Osaka" charset="-128"/>
        </a:defRPr>
      </a:lvl5pPr>
      <a:lvl6pPr marL="457200" algn="l" rtl="0" eaLnBrk="1" fontAlgn="base" hangingPunct="1">
        <a:spcBef>
          <a:spcPct val="0"/>
        </a:spcBef>
        <a:spcAft>
          <a:spcPct val="0"/>
        </a:spcAft>
        <a:defRPr sz="3600">
          <a:solidFill>
            <a:schemeClr val="tx1"/>
          </a:solidFill>
          <a:latin typeface="Arial" charset="0"/>
          <a:ea typeface="Osaka" charset="-128"/>
          <a:cs typeface="Osaka" charset="-128"/>
        </a:defRPr>
      </a:lvl6pPr>
      <a:lvl7pPr marL="914400" algn="l" rtl="0" eaLnBrk="1" fontAlgn="base" hangingPunct="1">
        <a:spcBef>
          <a:spcPct val="0"/>
        </a:spcBef>
        <a:spcAft>
          <a:spcPct val="0"/>
        </a:spcAft>
        <a:defRPr sz="3600">
          <a:solidFill>
            <a:schemeClr val="tx1"/>
          </a:solidFill>
          <a:latin typeface="Arial" charset="0"/>
          <a:ea typeface="Osaka" charset="-128"/>
          <a:cs typeface="Osaka" charset="-128"/>
        </a:defRPr>
      </a:lvl7pPr>
      <a:lvl8pPr marL="1371600" algn="l" rtl="0" eaLnBrk="1" fontAlgn="base" hangingPunct="1">
        <a:spcBef>
          <a:spcPct val="0"/>
        </a:spcBef>
        <a:spcAft>
          <a:spcPct val="0"/>
        </a:spcAft>
        <a:defRPr sz="3600">
          <a:solidFill>
            <a:schemeClr val="tx1"/>
          </a:solidFill>
          <a:latin typeface="Arial" charset="0"/>
          <a:ea typeface="Osaka" charset="-128"/>
          <a:cs typeface="Osaka" charset="-128"/>
        </a:defRPr>
      </a:lvl8pPr>
      <a:lvl9pPr marL="1828800" algn="l" rtl="0" eaLnBrk="1" fontAlgn="base" hangingPunct="1">
        <a:spcBef>
          <a:spcPct val="0"/>
        </a:spcBef>
        <a:spcAft>
          <a:spcPct val="0"/>
        </a:spcAft>
        <a:defRPr sz="3600">
          <a:solidFill>
            <a:schemeClr val="tx1"/>
          </a:solidFill>
          <a:latin typeface="Arial" charset="0"/>
          <a:ea typeface="Osaka" charset="-128"/>
          <a:cs typeface="Osaka" charset="-128"/>
        </a:defRPr>
      </a:lvl9pPr>
    </p:titleStyle>
    <p:bodyStyle>
      <a:lvl1pPr marL="342900" indent="-342900" algn="l" rtl="0" eaLnBrk="1" fontAlgn="base" hangingPunct="1">
        <a:spcBef>
          <a:spcPts val="1000"/>
        </a:spcBef>
        <a:spcAft>
          <a:spcPct val="0"/>
        </a:spcAft>
        <a:buClr>
          <a:srgbClr val="B99B49"/>
        </a:buClr>
        <a:buFont typeface="Wingdings" charset="0"/>
        <a:buChar char="§"/>
        <a:defRPr sz="2400">
          <a:solidFill>
            <a:schemeClr val="tx1"/>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auto">
          <a:xfrm>
            <a:off x="457200" y="520700"/>
            <a:ext cx="8001000" cy="571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t" anchorCtr="0" compatLnSpc="1">
            <a:prstTxWarp prst="textNoShape">
              <a:avLst/>
            </a:prstTxWarp>
          </a:bodyPr>
          <a:lstStyle/>
          <a:p>
            <a:pPr lvl="0"/>
            <a:r>
              <a:rPr lang="en-US" dirty="0"/>
              <a:t>Click to edit heading</a:t>
            </a:r>
          </a:p>
        </p:txBody>
      </p:sp>
      <p:sp>
        <p:nvSpPr>
          <p:cNvPr id="8" name="Rectangle 3"/>
          <p:cNvSpPr>
            <a:spLocks noGrp="1" noChangeArrowheads="1"/>
          </p:cNvSpPr>
          <p:nvPr>
            <p:ph type="body" idx="1"/>
          </p:nvPr>
        </p:nvSpPr>
        <p:spPr bwMode="auto">
          <a:xfrm>
            <a:off x="457200" y="1409700"/>
            <a:ext cx="8001000" cy="3238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t" anchorCtr="0" compatLnSpc="1">
            <a:prstTxWarp prst="textNoShape">
              <a:avLst/>
            </a:prstTxWarp>
          </a:bodyPr>
          <a:lstStyle/>
          <a:p>
            <a:pPr lvl="0"/>
            <a:r>
              <a:rPr lang="en-US" dirty="0"/>
              <a:t>Click to edit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2857679"/>
      </p:ext>
    </p:extLst>
  </p:cSld>
  <p:clrMap bg1="lt1" tx1="dk1" bg2="lt2" tx2="dk2" accent1="accent1" accent2="accent2" accent3="accent3" accent4="accent4" accent5="accent5" accent6="accent6" hlink="hlink" folHlink="folHlink"/>
  <p:sldLayoutIdLst>
    <p:sldLayoutId id="2147483674" r:id="rId1"/>
  </p:sldLayoutIdLst>
  <p:hf hdr="0"/>
  <p:txStyles>
    <p:titleStyle>
      <a:lvl1pPr algn="l" defTabSz="457200" rtl="0" eaLnBrk="1" latinLnBrk="0" hangingPunct="1">
        <a:spcBef>
          <a:spcPct val="0"/>
        </a:spcBef>
        <a:buNone/>
        <a:defRPr sz="3400" kern="1200">
          <a:solidFill>
            <a:schemeClr val="tx1"/>
          </a:solidFill>
          <a:latin typeface="Arial"/>
          <a:ea typeface="+mj-ea"/>
          <a:cs typeface="Arial"/>
        </a:defRPr>
      </a:lvl1pPr>
    </p:titleStyle>
    <p:bodyStyle>
      <a:lvl1pPr marL="342900" indent="-342900" algn="l" defTabSz="457200" rtl="0" eaLnBrk="1" latinLnBrk="0" hangingPunct="1">
        <a:spcBef>
          <a:spcPct val="20000"/>
        </a:spcBef>
        <a:buFont typeface="Wingdings" pitchFamily="2" charset="2"/>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Wingdings" pitchFamily="2" charset="2"/>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Font typeface="Wingdings" pitchFamily="2" charset="2"/>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Wingdings" pitchFamily="2" charset="2"/>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Wingdings" pitchFamily="2" charset="2"/>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622BED-BD26-88D3-287F-444DB75AF73B}"/>
              </a:ext>
            </a:extLst>
          </p:cNvPr>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B86EE3-CBA1-DED2-D783-B44ABF3AD5FC}"/>
              </a:ext>
            </a:extLst>
          </p:cNvPr>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4139989-8410-61CB-C15A-BE33B650257F}"/>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523FD6-7D8D-4DC2-83B5-7E1B9E7CFD90}"/>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82000"/>
                  </a:schemeClr>
                </a:solidFill>
              </a:defRPr>
            </a:lvl1pPr>
          </a:lstStyle>
          <a:p>
            <a:fld id="{2577227C-FE81-1C4D-9648-168F6ADCE5DD}" type="slidenum">
              <a:rPr lang="en-US" smtClean="0"/>
              <a:pPr/>
              <a:t>‹#›</a:t>
            </a:fld>
            <a:endParaRPr lang="en-US" dirty="0"/>
          </a:p>
        </p:txBody>
      </p:sp>
    </p:spTree>
    <p:extLst>
      <p:ext uri="{BB962C8B-B14F-4D97-AF65-F5344CB8AC3E}">
        <p14:creationId xmlns:p14="http://schemas.microsoft.com/office/powerpoint/2010/main" val="109858918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6.jpe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70.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985D-922F-9228-DA0E-D0506B6C70C3}"/>
              </a:ext>
            </a:extLst>
          </p:cNvPr>
          <p:cNvSpPr>
            <a:spLocks noGrp="1"/>
          </p:cNvSpPr>
          <p:nvPr>
            <p:ph type="ctrTitle"/>
          </p:nvPr>
        </p:nvSpPr>
        <p:spPr>
          <a:xfrm>
            <a:off x="533400" y="823286"/>
            <a:ext cx="7162800" cy="1196014"/>
          </a:xfrm>
        </p:spPr>
        <p:txBody>
          <a:bodyPr/>
          <a:lstStyle/>
          <a:p>
            <a:r>
              <a:rPr lang="en-US" b="1" dirty="0"/>
              <a:t>GWAS Overview and </a:t>
            </a:r>
            <a:br>
              <a:rPr lang="en-US" b="1" dirty="0"/>
            </a:br>
            <a:r>
              <a:rPr lang="en-US" b="1" dirty="0"/>
              <a:t>Single SNP Tests using R</a:t>
            </a:r>
            <a:br>
              <a:rPr lang="en-US" b="1" dirty="0"/>
            </a:br>
            <a:endParaRPr lang="en-US" dirty="0"/>
          </a:p>
        </p:txBody>
      </p:sp>
      <p:sp>
        <p:nvSpPr>
          <p:cNvPr id="3" name="Subtitle 2">
            <a:extLst>
              <a:ext uri="{FF2B5EF4-FFF2-40B4-BE49-F238E27FC236}">
                <a16:creationId xmlns:a16="http://schemas.microsoft.com/office/drawing/2014/main" id="{4DBD593A-5B8C-9741-1E52-8BFD1D77A716}"/>
              </a:ext>
            </a:extLst>
          </p:cNvPr>
          <p:cNvSpPr>
            <a:spLocks noGrp="1"/>
          </p:cNvSpPr>
          <p:nvPr>
            <p:ph type="subTitle" idx="1"/>
          </p:nvPr>
        </p:nvSpPr>
        <p:spPr/>
        <p:txBody>
          <a:bodyPr/>
          <a:lstStyle/>
          <a:p>
            <a:r>
              <a:rPr lang="en-US" dirty="0"/>
              <a:t>Adapted from Joanne Cole, PhD – GENC6120 Lecture</a:t>
            </a:r>
          </a:p>
          <a:p>
            <a:r>
              <a:rPr lang="en-US" dirty="0"/>
              <a:t>R Ladies Aurora</a:t>
            </a:r>
          </a:p>
          <a:p>
            <a:r>
              <a:rPr lang="en-US" dirty="0"/>
              <a:t>January 14, 2026</a:t>
            </a:r>
          </a:p>
          <a:p>
            <a:r>
              <a:rPr lang="en-US" dirty="0"/>
              <a:t>Presented by Kristen Sutton, PhD</a:t>
            </a:r>
          </a:p>
        </p:txBody>
      </p:sp>
    </p:spTree>
    <p:extLst>
      <p:ext uri="{BB962C8B-B14F-4D97-AF65-F5344CB8AC3E}">
        <p14:creationId xmlns:p14="http://schemas.microsoft.com/office/powerpoint/2010/main" val="55722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31686-29CE-CBA8-C59A-4301E09F0505}"/>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3B74E10C-F4E5-1E2C-CEE1-6AC44B7312CE}"/>
              </a:ext>
            </a:extLst>
          </p:cNvPr>
          <p:cNvSpPr>
            <a:spLocks noGrp="1"/>
          </p:cNvSpPr>
          <p:nvPr>
            <p:ph idx="1"/>
          </p:nvPr>
        </p:nvSpPr>
        <p:spPr/>
        <p:txBody>
          <a:bodyPr/>
          <a:lstStyle/>
          <a:p>
            <a:r>
              <a:rPr lang="en-US" dirty="0"/>
              <a:t>Distinguish rare vs common variants in the genome</a:t>
            </a:r>
          </a:p>
          <a:p>
            <a:r>
              <a:rPr lang="en-US" dirty="0"/>
              <a:t>Identify the major differences between rare and common disease</a:t>
            </a:r>
          </a:p>
          <a:p>
            <a:r>
              <a:rPr lang="en-US" dirty="0"/>
              <a:t>Compare and contrast the different approaches to identify regions in the genome involved in disease</a:t>
            </a:r>
          </a:p>
          <a:p>
            <a:r>
              <a:rPr lang="en-US" dirty="0"/>
              <a:t>Describe how a GWAS is conducted and interpret the results (P-values, Betas/ORs, Manhattan Plots)</a:t>
            </a:r>
          </a:p>
          <a:p>
            <a:endParaRPr lang="en-US" dirty="0"/>
          </a:p>
          <a:p>
            <a:endParaRPr lang="en-US" dirty="0"/>
          </a:p>
        </p:txBody>
      </p:sp>
      <p:sp>
        <p:nvSpPr>
          <p:cNvPr id="4" name="Slide Number Placeholder 3">
            <a:extLst>
              <a:ext uri="{FF2B5EF4-FFF2-40B4-BE49-F238E27FC236}">
                <a16:creationId xmlns:a16="http://schemas.microsoft.com/office/drawing/2014/main" id="{5D1BE514-82CC-2DDA-2E25-DEE1AEA04244}"/>
              </a:ext>
            </a:extLst>
          </p:cNvPr>
          <p:cNvSpPr>
            <a:spLocks noGrp="1"/>
          </p:cNvSpPr>
          <p:nvPr>
            <p:ph type="sldNum" sz="quarter" idx="12"/>
          </p:nvPr>
        </p:nvSpPr>
        <p:spPr/>
        <p:txBody>
          <a:bodyPr/>
          <a:lstStyle/>
          <a:p>
            <a:fld id="{9708802B-CECE-C644-A6A3-3C9AAC922203}" type="slidenum">
              <a:rPr lang="en-US" smtClean="0"/>
              <a:pPr/>
              <a:t>2</a:t>
            </a:fld>
            <a:endParaRPr lang="en-US"/>
          </a:p>
        </p:txBody>
      </p:sp>
    </p:spTree>
    <p:extLst>
      <p:ext uri="{BB962C8B-B14F-4D97-AF65-F5344CB8AC3E}">
        <p14:creationId xmlns:p14="http://schemas.microsoft.com/office/powerpoint/2010/main" val="2510080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F020-36AC-3FF6-F607-F1F3CA2051FE}"/>
              </a:ext>
            </a:extLst>
          </p:cNvPr>
          <p:cNvSpPr>
            <a:spLocks noGrp="1"/>
          </p:cNvSpPr>
          <p:nvPr>
            <p:ph type="title"/>
          </p:nvPr>
        </p:nvSpPr>
        <p:spPr>
          <a:xfrm>
            <a:off x="328448" y="2389369"/>
            <a:ext cx="8001000" cy="514350"/>
          </a:xfrm>
        </p:spPr>
        <p:txBody>
          <a:bodyPr/>
          <a:lstStyle/>
          <a:p>
            <a:r>
              <a:rPr lang="en-US" sz="3000" dirty="0"/>
              <a:t>Review: Basic Concepts</a:t>
            </a:r>
            <a:endParaRPr lang="en-US" dirty="0"/>
          </a:p>
        </p:txBody>
      </p:sp>
      <p:sp>
        <p:nvSpPr>
          <p:cNvPr id="3" name="Slide Number Placeholder 2">
            <a:extLst>
              <a:ext uri="{FF2B5EF4-FFF2-40B4-BE49-F238E27FC236}">
                <a16:creationId xmlns:a16="http://schemas.microsoft.com/office/drawing/2014/main" id="{2CE11435-4C16-FEDE-3EA3-F30383DDAFB8}"/>
              </a:ext>
            </a:extLst>
          </p:cNvPr>
          <p:cNvSpPr>
            <a:spLocks noGrp="1"/>
          </p:cNvSpPr>
          <p:nvPr>
            <p:ph type="sldNum" sz="quarter" idx="12"/>
          </p:nvPr>
        </p:nvSpPr>
        <p:spPr/>
        <p:txBody>
          <a:bodyPr/>
          <a:lstStyle/>
          <a:p>
            <a:fld id="{8C17B027-94AA-734A-ACC9-170E40BA2B18}" type="slidenum">
              <a:rPr lang="en-US" smtClean="0"/>
              <a:pPr/>
              <a:t>3</a:t>
            </a:fld>
            <a:endParaRPr lang="en-US"/>
          </a:p>
        </p:txBody>
      </p:sp>
      <p:pic>
        <p:nvPicPr>
          <p:cNvPr id="4" name="Picture 3">
            <a:extLst>
              <a:ext uri="{FF2B5EF4-FFF2-40B4-BE49-F238E27FC236}">
                <a16:creationId xmlns:a16="http://schemas.microsoft.com/office/drawing/2014/main" id="{8229EAB5-AC74-66BE-5023-EB210CD14339}"/>
              </a:ext>
            </a:extLst>
          </p:cNvPr>
          <p:cNvPicPr>
            <a:picLocks noChangeAspect="1"/>
          </p:cNvPicPr>
          <p:nvPr/>
        </p:nvPicPr>
        <p:blipFill>
          <a:blip r:embed="rId3"/>
          <a:stretch>
            <a:fillRect/>
          </a:stretch>
        </p:blipFill>
        <p:spPr>
          <a:xfrm>
            <a:off x="229427" y="2903719"/>
            <a:ext cx="8609773" cy="159863"/>
          </a:xfrm>
          <a:prstGeom prst="rect">
            <a:avLst/>
          </a:prstGeom>
        </p:spPr>
      </p:pic>
    </p:spTree>
    <p:extLst>
      <p:ext uri="{BB962C8B-B14F-4D97-AF65-F5344CB8AC3E}">
        <p14:creationId xmlns:p14="http://schemas.microsoft.com/office/powerpoint/2010/main" val="3530530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6E616-D16A-5978-21CE-B5ABA4DFB962}"/>
              </a:ext>
            </a:extLst>
          </p:cNvPr>
          <p:cNvSpPr>
            <a:spLocks noGrp="1"/>
          </p:cNvSpPr>
          <p:nvPr>
            <p:ph type="title"/>
          </p:nvPr>
        </p:nvSpPr>
        <p:spPr>
          <a:xfrm>
            <a:off x="381000" y="106897"/>
            <a:ext cx="7886700" cy="1104636"/>
          </a:xfrm>
        </p:spPr>
        <p:txBody>
          <a:bodyPr/>
          <a:lstStyle/>
          <a:p>
            <a:r>
              <a:rPr lang="en-US" dirty="0"/>
              <a:t>Genome Structure</a:t>
            </a:r>
          </a:p>
        </p:txBody>
      </p:sp>
      <p:pic>
        <p:nvPicPr>
          <p:cNvPr id="1026" name="Picture 2" descr="Difference Between DNA and Chromosome">
            <a:extLst>
              <a:ext uri="{FF2B5EF4-FFF2-40B4-BE49-F238E27FC236}">
                <a16:creationId xmlns:a16="http://schemas.microsoft.com/office/drawing/2014/main" id="{248E1473-34B9-342A-97F1-1D26440851F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774675" y="1005621"/>
            <a:ext cx="4086509" cy="438745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EF84BEB-A7C2-F87A-EB1D-4A9F1D7C8DA0}"/>
              </a:ext>
            </a:extLst>
          </p:cNvPr>
          <p:cNvSpPr>
            <a:spLocks noGrp="1"/>
          </p:cNvSpPr>
          <p:nvPr>
            <p:ph type="sldNum" sz="quarter" idx="12"/>
          </p:nvPr>
        </p:nvSpPr>
        <p:spPr/>
        <p:txBody>
          <a:bodyPr/>
          <a:lstStyle/>
          <a:p>
            <a:fld id="{9708802B-CECE-C644-A6A3-3C9AAC922203}" type="slidenum">
              <a:rPr lang="en-US" smtClean="0"/>
              <a:pPr/>
              <a:t>4</a:t>
            </a:fld>
            <a:endParaRPr lang="en-US"/>
          </a:p>
        </p:txBody>
      </p:sp>
      <p:sp>
        <p:nvSpPr>
          <p:cNvPr id="7" name="Content Placeholder 2">
            <a:extLst>
              <a:ext uri="{FF2B5EF4-FFF2-40B4-BE49-F238E27FC236}">
                <a16:creationId xmlns:a16="http://schemas.microsoft.com/office/drawing/2014/main" id="{A0BC8EC4-C801-D126-9743-3523C3155AEE}"/>
              </a:ext>
            </a:extLst>
          </p:cNvPr>
          <p:cNvSpPr txBox="1">
            <a:spLocks/>
          </p:cNvSpPr>
          <p:nvPr/>
        </p:nvSpPr>
        <p:spPr bwMode="auto">
          <a:xfrm>
            <a:off x="415246" y="723900"/>
            <a:ext cx="3547153" cy="4572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lvl1pPr marL="342900" indent="-342900" algn="l" rtl="0" eaLnBrk="1" fontAlgn="base" hangingPunct="1">
              <a:spcBef>
                <a:spcPts val="1000"/>
              </a:spcBef>
              <a:spcAft>
                <a:spcPct val="0"/>
              </a:spcAft>
              <a:buClr>
                <a:srgbClr val="B99B49"/>
              </a:buClr>
              <a:buFont typeface="Wingdings" charset="2"/>
              <a:buChar char="§"/>
              <a:defRPr sz="2400">
                <a:solidFill>
                  <a:schemeClr val="tx1"/>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a:lstStyle>
          <a:p>
            <a:endParaRPr lang="en-US" kern="0" dirty="0"/>
          </a:p>
          <a:p>
            <a:r>
              <a:rPr lang="en-US" kern="0" dirty="0"/>
              <a:t>Humans have 22 pairs of autosomes + 1 pair of sex chromosomes</a:t>
            </a:r>
          </a:p>
          <a:p>
            <a:r>
              <a:rPr lang="en-US" kern="0" dirty="0"/>
              <a:t>Together, the chromosomes contain </a:t>
            </a:r>
            <a:r>
              <a:rPr lang="en-US" b="1" kern="0" dirty="0"/>
              <a:t>&gt;3 billion base-pairs</a:t>
            </a:r>
          </a:p>
        </p:txBody>
      </p:sp>
      <p:sp>
        <p:nvSpPr>
          <p:cNvPr id="12" name="TextBox 11">
            <a:extLst>
              <a:ext uri="{FF2B5EF4-FFF2-40B4-BE49-F238E27FC236}">
                <a16:creationId xmlns:a16="http://schemas.microsoft.com/office/drawing/2014/main" id="{67635618-D080-0B30-1356-9B427E648363}"/>
              </a:ext>
            </a:extLst>
          </p:cNvPr>
          <p:cNvSpPr txBox="1"/>
          <p:nvPr/>
        </p:nvSpPr>
        <p:spPr>
          <a:xfrm>
            <a:off x="4324350" y="798751"/>
            <a:ext cx="2133600" cy="1815882"/>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A visual representation of a </a:t>
            </a:r>
            <a:r>
              <a:rPr lang="en-US" sz="1600" u="sng" dirty="0">
                <a:solidFill>
                  <a:schemeClr val="tx2">
                    <a:lumMod val="75000"/>
                  </a:schemeClr>
                </a:solidFill>
                <a:latin typeface="Ayuthaya" pitchFamily="2" charset="-34"/>
                <a:ea typeface="Ayuthaya" pitchFamily="2" charset="-34"/>
                <a:cs typeface="Ayuthaya" pitchFamily="2" charset="-34"/>
              </a:rPr>
              <a:t>single</a:t>
            </a:r>
            <a:r>
              <a:rPr lang="en-US" sz="1600" dirty="0">
                <a:solidFill>
                  <a:schemeClr val="tx2">
                    <a:lumMod val="75000"/>
                  </a:schemeClr>
                </a:solidFill>
                <a:latin typeface="Ayuthaya" pitchFamily="2" charset="-34"/>
                <a:ea typeface="Ayuthaya" pitchFamily="2" charset="-34"/>
                <a:cs typeface="Ayuthaya" pitchFamily="2" charset="-34"/>
              </a:rPr>
              <a:t> chromosome, its folded DNA, and the nucleotides that make it up</a:t>
            </a:r>
          </a:p>
        </p:txBody>
      </p:sp>
      <p:sp>
        <p:nvSpPr>
          <p:cNvPr id="3" name="Rectangle 2">
            <a:extLst>
              <a:ext uri="{FF2B5EF4-FFF2-40B4-BE49-F238E27FC236}">
                <a16:creationId xmlns:a16="http://schemas.microsoft.com/office/drawing/2014/main" id="{7056255E-184A-952E-AB59-9AC105CF4857}"/>
              </a:ext>
            </a:extLst>
          </p:cNvPr>
          <p:cNvSpPr/>
          <p:nvPr/>
        </p:nvSpPr>
        <p:spPr bwMode="auto">
          <a:xfrm rot="19304346">
            <a:off x="4625484" y="3701987"/>
            <a:ext cx="787812" cy="264055"/>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Osaka" charset="-128"/>
              <a:cs typeface="Osaka" charset="-128"/>
            </a:endParaRPr>
          </a:p>
        </p:txBody>
      </p:sp>
      <p:sp>
        <p:nvSpPr>
          <p:cNvPr id="6" name="TextBox 5">
            <a:extLst>
              <a:ext uri="{FF2B5EF4-FFF2-40B4-BE49-F238E27FC236}">
                <a16:creationId xmlns:a16="http://schemas.microsoft.com/office/drawing/2014/main" id="{AA6C2A95-DF63-B0E0-DFA3-B9FA1BB4B4FE}"/>
              </a:ext>
            </a:extLst>
          </p:cNvPr>
          <p:cNvSpPr txBox="1"/>
          <p:nvPr/>
        </p:nvSpPr>
        <p:spPr>
          <a:xfrm>
            <a:off x="2961976" y="4583138"/>
            <a:ext cx="2497317" cy="338554"/>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A single base-pair</a:t>
            </a:r>
          </a:p>
        </p:txBody>
      </p:sp>
      <p:cxnSp>
        <p:nvCxnSpPr>
          <p:cNvPr id="9" name="Straight Arrow Connector 8">
            <a:extLst>
              <a:ext uri="{FF2B5EF4-FFF2-40B4-BE49-F238E27FC236}">
                <a16:creationId xmlns:a16="http://schemas.microsoft.com/office/drawing/2014/main" id="{9BDD3EAA-D939-02B8-3376-E2F6F21AAEDD}"/>
              </a:ext>
            </a:extLst>
          </p:cNvPr>
          <p:cNvCxnSpPr>
            <a:cxnSpLocks/>
          </p:cNvCxnSpPr>
          <p:nvPr/>
        </p:nvCxnSpPr>
        <p:spPr bwMode="auto">
          <a:xfrm flipV="1">
            <a:off x="4160629" y="4108031"/>
            <a:ext cx="467709" cy="39543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246676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DF7E280-C6CE-0A3D-348C-1CCC60F64231}"/>
              </a:ext>
            </a:extLst>
          </p:cNvPr>
          <p:cNvSpPr>
            <a:spLocks noGrp="1"/>
          </p:cNvSpPr>
          <p:nvPr>
            <p:ph type="sldNum" sz="quarter" idx="12"/>
          </p:nvPr>
        </p:nvSpPr>
        <p:spPr/>
        <p:txBody>
          <a:bodyPr/>
          <a:lstStyle/>
          <a:p>
            <a:fld id="{8C17B027-94AA-734A-ACC9-170E40BA2B18}" type="slidenum">
              <a:rPr lang="en-US" smtClean="0"/>
              <a:pPr/>
              <a:t>5</a:t>
            </a:fld>
            <a:endParaRPr lang="en-US"/>
          </a:p>
        </p:txBody>
      </p:sp>
      <p:pic>
        <p:nvPicPr>
          <p:cNvPr id="1026" name="Picture 2" descr="How Genes Work - StoryMD">
            <a:extLst>
              <a:ext uri="{FF2B5EF4-FFF2-40B4-BE49-F238E27FC236}">
                <a16:creationId xmlns:a16="http://schemas.microsoft.com/office/drawing/2014/main" id="{76E166C5-9F11-1A8B-93CA-0498A388E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9666" y="761478"/>
            <a:ext cx="4907068" cy="369570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3FA7D951-F19E-907A-6F31-987E1852CAE1}"/>
              </a:ext>
            </a:extLst>
          </p:cNvPr>
          <p:cNvSpPr txBox="1">
            <a:spLocks/>
          </p:cNvSpPr>
          <p:nvPr/>
        </p:nvSpPr>
        <p:spPr bwMode="auto">
          <a:xfrm>
            <a:off x="415246" y="674578"/>
            <a:ext cx="3714690" cy="4572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lvl1pPr marL="342900" indent="-342900" algn="l" rtl="0" eaLnBrk="1" fontAlgn="base" hangingPunct="1">
              <a:spcBef>
                <a:spcPts val="1000"/>
              </a:spcBef>
              <a:spcAft>
                <a:spcPct val="0"/>
              </a:spcAft>
              <a:buClr>
                <a:srgbClr val="B99B49"/>
              </a:buClr>
              <a:buFont typeface="Wingdings" charset="2"/>
              <a:buChar char="§"/>
              <a:defRPr sz="2400">
                <a:solidFill>
                  <a:schemeClr val="tx1"/>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a:lstStyle>
          <a:p>
            <a:endParaRPr lang="en-US" kern="0" dirty="0"/>
          </a:p>
          <a:p>
            <a:r>
              <a:rPr lang="en-US" u="sng" kern="0" dirty="0"/>
              <a:t>Genes</a:t>
            </a:r>
            <a:r>
              <a:rPr lang="en-US" kern="0" dirty="0"/>
              <a:t> are segments of DNA that encode proteins</a:t>
            </a:r>
          </a:p>
          <a:p>
            <a:r>
              <a:rPr lang="en-US" kern="0" dirty="0"/>
              <a:t>Humans have ~20,000 protein-coding genes</a:t>
            </a:r>
          </a:p>
          <a:p>
            <a:r>
              <a:rPr lang="en-US" kern="0" dirty="0"/>
              <a:t>40% of the genome is genic (introns + exons)</a:t>
            </a:r>
          </a:p>
          <a:p>
            <a:r>
              <a:rPr lang="en-US" b="1" kern="0" dirty="0"/>
              <a:t>1% of the genome is protein-coding (exons)</a:t>
            </a:r>
          </a:p>
          <a:p>
            <a:endParaRPr lang="en-US" kern="0" dirty="0"/>
          </a:p>
        </p:txBody>
      </p:sp>
      <p:sp>
        <p:nvSpPr>
          <p:cNvPr id="12" name="TextBox 11">
            <a:extLst>
              <a:ext uri="{FF2B5EF4-FFF2-40B4-BE49-F238E27FC236}">
                <a16:creationId xmlns:a16="http://schemas.microsoft.com/office/drawing/2014/main" id="{4FCAF071-4CF8-B170-FF1D-14F209F6E89C}"/>
              </a:ext>
            </a:extLst>
          </p:cNvPr>
          <p:cNvSpPr txBox="1"/>
          <p:nvPr/>
        </p:nvSpPr>
        <p:spPr>
          <a:xfrm>
            <a:off x="3048000" y="5045381"/>
            <a:ext cx="4252066" cy="584775"/>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In reality, introns are typically much larger than exons</a:t>
            </a:r>
          </a:p>
        </p:txBody>
      </p:sp>
      <p:sp>
        <p:nvSpPr>
          <p:cNvPr id="13" name="TextBox 12">
            <a:extLst>
              <a:ext uri="{FF2B5EF4-FFF2-40B4-BE49-F238E27FC236}">
                <a16:creationId xmlns:a16="http://schemas.microsoft.com/office/drawing/2014/main" id="{FE1DB64F-5130-EF7F-881F-1A1241BF3B27}"/>
              </a:ext>
            </a:extLst>
          </p:cNvPr>
          <p:cNvSpPr txBox="1"/>
          <p:nvPr/>
        </p:nvSpPr>
        <p:spPr>
          <a:xfrm>
            <a:off x="7425361" y="4711125"/>
            <a:ext cx="2370477" cy="584775"/>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Inter-genic region</a:t>
            </a:r>
          </a:p>
        </p:txBody>
      </p:sp>
      <p:sp>
        <p:nvSpPr>
          <p:cNvPr id="14" name="Right Brace 13">
            <a:extLst>
              <a:ext uri="{FF2B5EF4-FFF2-40B4-BE49-F238E27FC236}">
                <a16:creationId xmlns:a16="http://schemas.microsoft.com/office/drawing/2014/main" id="{5C6EF7E9-1B15-B5AB-3C30-4AE425888A2A}"/>
              </a:ext>
            </a:extLst>
          </p:cNvPr>
          <p:cNvSpPr/>
          <p:nvPr/>
        </p:nvSpPr>
        <p:spPr bwMode="auto">
          <a:xfrm rot="3207341">
            <a:off x="8601143" y="3325237"/>
            <a:ext cx="182596" cy="617565"/>
          </a:xfrm>
          <a:prstGeom prst="rightBrac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Osaka" charset="-128"/>
              <a:cs typeface="Osaka" charset="-128"/>
            </a:endParaRPr>
          </a:p>
        </p:txBody>
      </p:sp>
      <p:pic>
        <p:nvPicPr>
          <p:cNvPr id="15" name="Picture 14">
            <a:extLst>
              <a:ext uri="{FF2B5EF4-FFF2-40B4-BE49-F238E27FC236}">
                <a16:creationId xmlns:a16="http://schemas.microsoft.com/office/drawing/2014/main" id="{CC1599C7-205F-922F-CCE5-C610E6F8BD11}"/>
              </a:ext>
            </a:extLst>
          </p:cNvPr>
          <p:cNvPicPr>
            <a:picLocks noChangeAspect="1"/>
          </p:cNvPicPr>
          <p:nvPr/>
        </p:nvPicPr>
        <p:blipFill>
          <a:blip r:embed="rId4"/>
          <a:stretch>
            <a:fillRect/>
          </a:stretch>
        </p:blipFill>
        <p:spPr>
          <a:xfrm>
            <a:off x="8422885" y="3873594"/>
            <a:ext cx="660400" cy="304800"/>
          </a:xfrm>
          <a:prstGeom prst="rect">
            <a:avLst/>
          </a:prstGeom>
        </p:spPr>
      </p:pic>
      <p:cxnSp>
        <p:nvCxnSpPr>
          <p:cNvPr id="16" name="Straight Arrow Connector 15">
            <a:extLst>
              <a:ext uri="{FF2B5EF4-FFF2-40B4-BE49-F238E27FC236}">
                <a16:creationId xmlns:a16="http://schemas.microsoft.com/office/drawing/2014/main" id="{71BAD297-68B2-392C-8713-A4789E38AFB8}"/>
              </a:ext>
            </a:extLst>
          </p:cNvPr>
          <p:cNvCxnSpPr>
            <a:cxnSpLocks/>
          </p:cNvCxnSpPr>
          <p:nvPr/>
        </p:nvCxnSpPr>
        <p:spPr bwMode="auto">
          <a:xfrm flipH="1" flipV="1">
            <a:off x="7848600" y="3916656"/>
            <a:ext cx="228600" cy="7944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F6C9502A-E122-D059-44D0-DF7D626BA159}"/>
              </a:ext>
            </a:extLst>
          </p:cNvPr>
          <p:cNvCxnSpPr>
            <a:cxnSpLocks/>
          </p:cNvCxnSpPr>
          <p:nvPr/>
        </p:nvCxnSpPr>
        <p:spPr bwMode="auto">
          <a:xfrm flipV="1">
            <a:off x="5059470" y="4243724"/>
            <a:ext cx="560412" cy="7082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 name="Title 1">
            <a:extLst>
              <a:ext uri="{FF2B5EF4-FFF2-40B4-BE49-F238E27FC236}">
                <a16:creationId xmlns:a16="http://schemas.microsoft.com/office/drawing/2014/main" id="{5A823309-1F83-EA57-0F95-A7645ED3C700}"/>
              </a:ext>
            </a:extLst>
          </p:cNvPr>
          <p:cNvSpPr>
            <a:spLocks noGrp="1"/>
          </p:cNvSpPr>
          <p:nvPr>
            <p:ph type="title"/>
          </p:nvPr>
        </p:nvSpPr>
        <p:spPr>
          <a:xfrm>
            <a:off x="381000" y="106897"/>
            <a:ext cx="7886700" cy="1104636"/>
          </a:xfrm>
        </p:spPr>
        <p:txBody>
          <a:bodyPr/>
          <a:lstStyle/>
          <a:p>
            <a:r>
              <a:rPr lang="en-US" dirty="0"/>
              <a:t>Genome Structure</a:t>
            </a:r>
          </a:p>
        </p:txBody>
      </p:sp>
    </p:spTree>
    <p:extLst>
      <p:ext uri="{BB962C8B-B14F-4D97-AF65-F5344CB8AC3E}">
        <p14:creationId xmlns:p14="http://schemas.microsoft.com/office/powerpoint/2010/main" val="1689989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C26F33A-BA9E-87A5-CC35-B527F4044EDC}"/>
              </a:ext>
            </a:extLst>
          </p:cNvPr>
          <p:cNvSpPr>
            <a:spLocks noGrp="1"/>
          </p:cNvSpPr>
          <p:nvPr>
            <p:ph type="title"/>
          </p:nvPr>
        </p:nvSpPr>
        <p:spPr>
          <a:xfrm>
            <a:off x="304800" y="285750"/>
            <a:ext cx="8728754" cy="571500"/>
          </a:xfrm>
        </p:spPr>
        <p:txBody>
          <a:bodyPr>
            <a:normAutofit fontScale="90000"/>
          </a:bodyPr>
          <a:lstStyle/>
          <a:p>
            <a:pPr marL="0" indent="0">
              <a:buNone/>
            </a:pPr>
            <a:r>
              <a:rPr lang="en-US" sz="2600" b="1" kern="0" dirty="0"/>
              <a:t>&gt;99% of the genome is identical between any two people ~1% contributes to human diversity</a:t>
            </a:r>
          </a:p>
        </p:txBody>
      </p:sp>
      <p:sp>
        <p:nvSpPr>
          <p:cNvPr id="3" name="Slide Number Placeholder 2">
            <a:extLst>
              <a:ext uri="{FF2B5EF4-FFF2-40B4-BE49-F238E27FC236}">
                <a16:creationId xmlns:a16="http://schemas.microsoft.com/office/drawing/2014/main" id="{2DF7E280-C6CE-0A3D-348C-1CCC60F64231}"/>
              </a:ext>
            </a:extLst>
          </p:cNvPr>
          <p:cNvSpPr>
            <a:spLocks noGrp="1"/>
          </p:cNvSpPr>
          <p:nvPr>
            <p:ph type="sldNum" sz="quarter" idx="12"/>
          </p:nvPr>
        </p:nvSpPr>
        <p:spPr/>
        <p:txBody>
          <a:bodyPr/>
          <a:lstStyle/>
          <a:p>
            <a:fld id="{8C17B027-94AA-734A-ACC9-170E40BA2B18}" type="slidenum">
              <a:rPr lang="en-US" smtClean="0"/>
              <a:pPr/>
              <a:t>6</a:t>
            </a:fld>
            <a:endParaRPr lang="en-US" dirty="0"/>
          </a:p>
        </p:txBody>
      </p:sp>
      <p:sp>
        <p:nvSpPr>
          <p:cNvPr id="11" name="Content Placeholder 2">
            <a:extLst>
              <a:ext uri="{FF2B5EF4-FFF2-40B4-BE49-F238E27FC236}">
                <a16:creationId xmlns:a16="http://schemas.microsoft.com/office/drawing/2014/main" id="{3FA7D951-F19E-907A-6F31-987E1852CAE1}"/>
              </a:ext>
            </a:extLst>
          </p:cNvPr>
          <p:cNvSpPr txBox="1">
            <a:spLocks/>
          </p:cNvSpPr>
          <p:nvPr/>
        </p:nvSpPr>
        <p:spPr bwMode="auto">
          <a:xfrm>
            <a:off x="396196" y="584860"/>
            <a:ext cx="8443004" cy="41641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lvl1pPr marL="342900" indent="-342900" algn="l" rtl="0" eaLnBrk="1" fontAlgn="base" hangingPunct="1">
              <a:spcBef>
                <a:spcPts val="1000"/>
              </a:spcBef>
              <a:spcAft>
                <a:spcPct val="0"/>
              </a:spcAft>
              <a:buClr>
                <a:srgbClr val="B99B49"/>
              </a:buClr>
              <a:buFont typeface="Wingdings" charset="2"/>
              <a:buChar char="§"/>
              <a:defRPr sz="2400">
                <a:solidFill>
                  <a:schemeClr val="tx1"/>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a:lstStyle>
          <a:p>
            <a:pPr marL="0" indent="0">
              <a:buNone/>
            </a:pPr>
            <a:endParaRPr lang="en-US" sz="2000" u="sng" kern="0" dirty="0"/>
          </a:p>
          <a:p>
            <a:r>
              <a:rPr lang="en-US" sz="2000" u="sng" kern="0" dirty="0"/>
              <a:t>Mutation</a:t>
            </a:r>
            <a:r>
              <a:rPr lang="en-US" sz="2000" kern="0" dirty="0"/>
              <a:t> – a </a:t>
            </a:r>
            <a:r>
              <a:rPr lang="en-US" sz="2000" i="1" kern="0" dirty="0"/>
              <a:t>rare</a:t>
            </a:r>
            <a:r>
              <a:rPr lang="en-US" sz="2000" kern="0" dirty="0"/>
              <a:t> change to the DNA sequence that severely disrupts function and typically leads to disease</a:t>
            </a:r>
          </a:p>
          <a:p>
            <a:pPr lvl="1"/>
            <a:r>
              <a:rPr lang="en-US" sz="1800" kern="0" dirty="0"/>
              <a:t>Occurs in &lt;&lt;1% of the population</a:t>
            </a:r>
          </a:p>
          <a:p>
            <a:pPr lvl="1"/>
            <a:r>
              <a:rPr lang="en-US" sz="1200" i="1" kern="0" dirty="0"/>
              <a:t>Technically mutation just means change to the DNA sequence, but this is more often how we use the word in human genetics</a:t>
            </a:r>
            <a:endParaRPr lang="en-US" sz="1400" i="1" kern="0" dirty="0"/>
          </a:p>
          <a:p>
            <a:r>
              <a:rPr lang="en-US" sz="2000" b="1" u="sng" kern="0" dirty="0"/>
              <a:t>Polymorphism</a:t>
            </a:r>
            <a:r>
              <a:rPr lang="en-US" sz="2000" b="1" kern="0" dirty="0"/>
              <a:t> – a </a:t>
            </a:r>
            <a:r>
              <a:rPr lang="en-US" sz="2000" b="1" i="1" kern="0" dirty="0"/>
              <a:t>common</a:t>
            </a:r>
            <a:r>
              <a:rPr lang="en-US" sz="2000" b="1" kern="0" dirty="0"/>
              <a:t> change to the DNA sequence in which there are two or more different alleles</a:t>
            </a:r>
          </a:p>
          <a:p>
            <a:pPr lvl="1"/>
            <a:r>
              <a:rPr lang="en-US" sz="1800" b="1" kern="0" dirty="0"/>
              <a:t>The </a:t>
            </a:r>
            <a:r>
              <a:rPr lang="en-US" sz="1800" b="1" u="sng" kern="0" dirty="0"/>
              <a:t>minor allele</a:t>
            </a:r>
            <a:r>
              <a:rPr lang="en-US" sz="1800" b="1" kern="0" dirty="0"/>
              <a:t> occurs in &gt;1% of the population</a:t>
            </a:r>
          </a:p>
          <a:p>
            <a:pPr lvl="1"/>
            <a:r>
              <a:rPr lang="en-US" sz="1800" b="1" dirty="0">
                <a:cs typeface="Arial" pitchFamily="34" charset="0"/>
              </a:rPr>
              <a:t>Polymorphisms occur roughly every 300-1000bp (~10-15 million common polymorphisms in the genome)</a:t>
            </a:r>
            <a:endParaRPr lang="en-US" sz="1800" b="1" kern="0" dirty="0"/>
          </a:p>
          <a:p>
            <a:r>
              <a:rPr lang="en-US" sz="2000" u="sng" kern="0" dirty="0"/>
              <a:t>Genetic variant/marker</a:t>
            </a:r>
            <a:r>
              <a:rPr lang="en-US" sz="2000" kern="0" dirty="0"/>
              <a:t> – a polymorphic DNA segment of known location</a:t>
            </a:r>
            <a:endParaRPr lang="en-US" sz="2000" u="sng" kern="0" dirty="0"/>
          </a:p>
        </p:txBody>
      </p:sp>
    </p:spTree>
    <p:extLst>
      <p:ext uri="{BB962C8B-B14F-4D97-AF65-F5344CB8AC3E}">
        <p14:creationId xmlns:p14="http://schemas.microsoft.com/office/powerpoint/2010/main" val="4111963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0C41C-BFB4-DFD8-C575-84A691EFD54E}"/>
              </a:ext>
            </a:extLst>
          </p:cNvPr>
          <p:cNvSpPr>
            <a:spLocks noGrp="1"/>
          </p:cNvSpPr>
          <p:nvPr>
            <p:ph type="title"/>
          </p:nvPr>
        </p:nvSpPr>
        <p:spPr>
          <a:xfrm>
            <a:off x="628650" y="87478"/>
            <a:ext cx="7886700" cy="994172"/>
          </a:xfrm>
        </p:spPr>
        <p:txBody>
          <a:bodyPr/>
          <a:lstStyle/>
          <a:p>
            <a:r>
              <a:rPr lang="en-US" dirty="0">
                <a:latin typeface="+mn-lt"/>
              </a:rPr>
              <a:t>Types of genetic variation and mutations</a:t>
            </a:r>
          </a:p>
        </p:txBody>
      </p:sp>
      <p:sp>
        <p:nvSpPr>
          <p:cNvPr id="3" name="Content Placeholder 2">
            <a:extLst>
              <a:ext uri="{FF2B5EF4-FFF2-40B4-BE49-F238E27FC236}">
                <a16:creationId xmlns:a16="http://schemas.microsoft.com/office/drawing/2014/main" id="{5C46372E-6A86-B886-B140-B0B1C3AA3C47}"/>
              </a:ext>
            </a:extLst>
          </p:cNvPr>
          <p:cNvSpPr>
            <a:spLocks noGrp="1"/>
          </p:cNvSpPr>
          <p:nvPr>
            <p:ph idx="1"/>
          </p:nvPr>
        </p:nvSpPr>
        <p:spPr>
          <a:xfrm>
            <a:off x="473203" y="932569"/>
            <a:ext cx="6232397" cy="3494440"/>
          </a:xfrm>
        </p:spPr>
        <p:txBody>
          <a:bodyPr>
            <a:noAutofit/>
          </a:bodyPr>
          <a:lstStyle/>
          <a:p>
            <a:r>
              <a:rPr lang="en-US" sz="1800" dirty="0">
                <a:cs typeface="Arial" pitchFamily="34" charset="0"/>
              </a:rPr>
              <a:t>Single Nucleotide Variant (SNV)</a:t>
            </a:r>
          </a:p>
          <a:p>
            <a:pPr lvl="1"/>
            <a:r>
              <a:rPr lang="en-US" sz="1500" dirty="0">
                <a:cs typeface="Arial" pitchFamily="34" charset="0"/>
              </a:rPr>
              <a:t>Variation of a single DNA base pair (bp)</a:t>
            </a:r>
          </a:p>
          <a:p>
            <a:pPr lvl="1"/>
            <a:r>
              <a:rPr lang="en-US" sz="1500" u="sng" dirty="0">
                <a:cs typeface="Arial" pitchFamily="34" charset="0"/>
              </a:rPr>
              <a:t>Single Nucleotide Polymorphism (SNP)</a:t>
            </a:r>
            <a:r>
              <a:rPr lang="en-US" sz="1500" dirty="0">
                <a:cs typeface="Arial" pitchFamily="34" charset="0"/>
              </a:rPr>
              <a:t>: an SNV which occurs &gt;1% in the population</a:t>
            </a:r>
          </a:p>
          <a:p>
            <a:r>
              <a:rPr lang="en-US" sz="1800" u="sng" dirty="0">
                <a:cs typeface="Arial" pitchFamily="34" charset="0"/>
              </a:rPr>
              <a:t>Insertion/Deletion (</a:t>
            </a:r>
            <a:r>
              <a:rPr lang="en-US" sz="1800" u="sng" dirty="0" err="1">
                <a:cs typeface="Arial" pitchFamily="34" charset="0"/>
              </a:rPr>
              <a:t>InDel</a:t>
            </a:r>
            <a:r>
              <a:rPr lang="en-US" sz="1800" u="sng" dirty="0">
                <a:cs typeface="Arial" pitchFamily="34" charset="0"/>
              </a:rPr>
              <a:t>)</a:t>
            </a:r>
          </a:p>
          <a:p>
            <a:pPr lvl="1"/>
            <a:r>
              <a:rPr lang="en-US" sz="1500" dirty="0">
                <a:cs typeface="Arial" pitchFamily="34" charset="0"/>
              </a:rPr>
              <a:t>Less frequent than SNVs</a:t>
            </a:r>
          </a:p>
          <a:p>
            <a:pPr lvl="1"/>
            <a:r>
              <a:rPr lang="en-US" sz="1500" dirty="0">
                <a:cs typeface="Arial" pitchFamily="34" charset="0"/>
              </a:rPr>
              <a:t>Insertion or deletion of DNA bps (&lt;50 bps)</a:t>
            </a:r>
          </a:p>
          <a:p>
            <a:pPr lvl="1"/>
            <a:r>
              <a:rPr lang="en-US" sz="1500" dirty="0">
                <a:cs typeface="Arial" pitchFamily="34" charset="0"/>
              </a:rPr>
              <a:t>Short tandem repeats (STR) are repeats of short sequences of DNA and are a type of </a:t>
            </a:r>
            <a:r>
              <a:rPr lang="en-US" sz="1500" dirty="0" err="1">
                <a:cs typeface="Arial" pitchFamily="34" charset="0"/>
              </a:rPr>
              <a:t>InDel</a:t>
            </a:r>
            <a:endParaRPr lang="en-US" sz="1500" dirty="0">
              <a:cs typeface="Arial" pitchFamily="34" charset="0"/>
            </a:endParaRPr>
          </a:p>
          <a:p>
            <a:r>
              <a:rPr lang="en-US" sz="1800" dirty="0">
                <a:cs typeface="Arial" pitchFamily="34" charset="0"/>
              </a:rPr>
              <a:t>Structural Variation</a:t>
            </a:r>
          </a:p>
          <a:p>
            <a:pPr lvl="1"/>
            <a:r>
              <a:rPr lang="en-US" sz="1500" dirty="0">
                <a:cs typeface="Arial" pitchFamily="34" charset="0"/>
              </a:rPr>
              <a:t>Least frequent</a:t>
            </a:r>
          </a:p>
          <a:p>
            <a:pPr lvl="1"/>
            <a:r>
              <a:rPr lang="en-US" sz="1500" dirty="0">
                <a:cs typeface="Arial" pitchFamily="34" charset="0"/>
              </a:rPr>
              <a:t>Includes deletions, duplications, insertions, inversions, and translocations</a:t>
            </a:r>
          </a:p>
          <a:p>
            <a:pPr lvl="1"/>
            <a:r>
              <a:rPr lang="en-US" sz="1500" dirty="0">
                <a:cs typeface="Arial" pitchFamily="34" charset="0"/>
              </a:rPr>
              <a:t>Copy number variations (CNVs) are a subset of structural variations that lead to a change in copy number (loss or gain) of a DNA fragment &gt;50 bps (typically &gt;1kb)</a:t>
            </a:r>
          </a:p>
          <a:p>
            <a:pPr lvl="1"/>
            <a:r>
              <a:rPr lang="en-US" sz="1500" dirty="0">
                <a:cs typeface="Arial" pitchFamily="34" charset="0"/>
              </a:rPr>
              <a:t>Aneuploidies affect entire chromosomes (e.g., Trisomy 21)</a:t>
            </a:r>
          </a:p>
          <a:p>
            <a:endParaRPr lang="en-US" sz="2400" dirty="0">
              <a:cs typeface="Arial" pitchFamily="34" charset="0"/>
            </a:endParaRPr>
          </a:p>
          <a:p>
            <a:endParaRPr lang="en-US" dirty="0">
              <a:cs typeface="Arial" pitchFamily="34" charset="0"/>
            </a:endParaRPr>
          </a:p>
          <a:p>
            <a:endParaRPr lang="en-US" sz="1800" dirty="0">
              <a:cs typeface="Arial" pitchFamily="34" charset="0"/>
            </a:endParaRPr>
          </a:p>
        </p:txBody>
      </p:sp>
      <p:sp>
        <p:nvSpPr>
          <p:cNvPr id="4" name="TextBox 3">
            <a:extLst>
              <a:ext uri="{FF2B5EF4-FFF2-40B4-BE49-F238E27FC236}">
                <a16:creationId xmlns:a16="http://schemas.microsoft.com/office/drawing/2014/main" id="{92659E09-0F04-EA63-F866-55CB56AF4687}"/>
              </a:ext>
            </a:extLst>
          </p:cNvPr>
          <p:cNvSpPr txBox="1"/>
          <p:nvPr/>
        </p:nvSpPr>
        <p:spPr>
          <a:xfrm>
            <a:off x="6773636" y="1356350"/>
            <a:ext cx="2057400"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SNPs and </a:t>
            </a:r>
            <a:r>
              <a:rPr lang="en-US" sz="1600" dirty="0" err="1">
                <a:solidFill>
                  <a:schemeClr val="tx2">
                    <a:lumMod val="75000"/>
                  </a:schemeClr>
                </a:solidFill>
                <a:latin typeface="Ayuthaya" pitchFamily="2" charset="-34"/>
                <a:ea typeface="Ayuthaya" pitchFamily="2" charset="-34"/>
                <a:cs typeface="Ayuthaya" pitchFamily="2" charset="-34"/>
              </a:rPr>
              <a:t>InDels</a:t>
            </a:r>
            <a:r>
              <a:rPr lang="en-US" sz="1600" dirty="0">
                <a:solidFill>
                  <a:schemeClr val="tx2">
                    <a:lumMod val="75000"/>
                  </a:schemeClr>
                </a:solidFill>
                <a:latin typeface="Ayuthaya" pitchFamily="2" charset="-34"/>
                <a:ea typeface="Ayuthaya" pitchFamily="2" charset="-34"/>
                <a:cs typeface="Ayuthaya" pitchFamily="2" charset="-34"/>
              </a:rPr>
              <a:t> are the two major types of common genetic polymorphisms</a:t>
            </a:r>
          </a:p>
        </p:txBody>
      </p:sp>
    </p:spTree>
    <p:extLst>
      <p:ext uri="{BB962C8B-B14F-4D97-AF65-F5344CB8AC3E}">
        <p14:creationId xmlns:p14="http://schemas.microsoft.com/office/powerpoint/2010/main" val="446584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67808-8B5E-582D-F242-0AAED5E3FCD9}"/>
              </a:ext>
            </a:extLst>
          </p:cNvPr>
          <p:cNvSpPr>
            <a:spLocks noGrp="1"/>
          </p:cNvSpPr>
          <p:nvPr>
            <p:ph type="title"/>
          </p:nvPr>
        </p:nvSpPr>
        <p:spPr>
          <a:xfrm>
            <a:off x="390046" y="412968"/>
            <a:ext cx="8001000" cy="571500"/>
          </a:xfrm>
        </p:spPr>
        <p:txBody>
          <a:bodyPr/>
          <a:lstStyle/>
          <a:p>
            <a:r>
              <a:rPr lang="en-US" dirty="0"/>
              <a:t>SNPs</a:t>
            </a:r>
          </a:p>
        </p:txBody>
      </p:sp>
      <p:sp>
        <p:nvSpPr>
          <p:cNvPr id="3" name="Content Placeholder 2">
            <a:extLst>
              <a:ext uri="{FF2B5EF4-FFF2-40B4-BE49-F238E27FC236}">
                <a16:creationId xmlns:a16="http://schemas.microsoft.com/office/drawing/2014/main" id="{3E1D011A-0AF3-F1D9-5C78-85FBBC47B58D}"/>
              </a:ext>
            </a:extLst>
          </p:cNvPr>
          <p:cNvSpPr>
            <a:spLocks noGrp="1"/>
          </p:cNvSpPr>
          <p:nvPr>
            <p:ph idx="1"/>
          </p:nvPr>
        </p:nvSpPr>
        <p:spPr>
          <a:xfrm>
            <a:off x="433628" y="1154386"/>
            <a:ext cx="8081721" cy="4293914"/>
          </a:xfrm>
        </p:spPr>
        <p:txBody>
          <a:bodyPr>
            <a:normAutofit/>
          </a:bodyPr>
          <a:lstStyle/>
          <a:p>
            <a:r>
              <a:rPr lang="en-US" dirty="0"/>
              <a:t>Occur every ~100-300 base-pairs</a:t>
            </a:r>
          </a:p>
          <a:p>
            <a:pPr lvl="1"/>
            <a:r>
              <a:rPr lang="en-US" dirty="0"/>
              <a:t>&gt; 10 million SNPs in the human genome</a:t>
            </a:r>
          </a:p>
          <a:p>
            <a:pPr marL="0" indent="0">
              <a:buNone/>
            </a:pPr>
            <a:endParaRPr lang="en-US" b="1" dirty="0"/>
          </a:p>
          <a:p>
            <a:pPr marL="0" indent="0">
              <a:buNone/>
            </a:pPr>
            <a:r>
              <a:rPr lang="en-US" b="1" dirty="0"/>
              <a:t>An example SNP rs56372821</a:t>
            </a:r>
          </a:p>
          <a:p>
            <a:r>
              <a:rPr lang="en-US" dirty="0"/>
              <a:t>Possible alleles</a:t>
            </a:r>
          </a:p>
          <a:p>
            <a:pPr lvl="1"/>
            <a:r>
              <a:rPr lang="en-US" dirty="0"/>
              <a:t>G is the </a:t>
            </a:r>
            <a:r>
              <a:rPr lang="en-US" u="sng" dirty="0"/>
              <a:t>major allele</a:t>
            </a:r>
          </a:p>
          <a:p>
            <a:pPr lvl="1"/>
            <a:r>
              <a:rPr lang="en-US" dirty="0"/>
              <a:t>A is the </a:t>
            </a:r>
            <a:r>
              <a:rPr lang="en-US" u="sng" dirty="0"/>
              <a:t>minor allele</a:t>
            </a:r>
          </a:p>
          <a:p>
            <a:r>
              <a:rPr lang="en-US" dirty="0"/>
              <a:t>Possible genotypes</a:t>
            </a:r>
          </a:p>
          <a:p>
            <a:pPr lvl="1"/>
            <a:r>
              <a:rPr lang="en-US" dirty="0"/>
              <a:t>GG (</a:t>
            </a:r>
            <a:r>
              <a:rPr lang="en-US" u="sng" dirty="0"/>
              <a:t>homozygous</a:t>
            </a:r>
            <a:r>
              <a:rPr lang="en-US" dirty="0"/>
              <a:t> major allele)</a:t>
            </a:r>
          </a:p>
          <a:p>
            <a:pPr lvl="1"/>
            <a:r>
              <a:rPr lang="en-US" dirty="0"/>
              <a:t>GA (</a:t>
            </a:r>
            <a:r>
              <a:rPr lang="en-US" u="sng" dirty="0"/>
              <a:t>heterozygous</a:t>
            </a:r>
            <a:r>
              <a:rPr lang="en-US" dirty="0"/>
              <a:t>)</a:t>
            </a:r>
          </a:p>
          <a:p>
            <a:pPr lvl="1"/>
            <a:r>
              <a:rPr lang="en-US" dirty="0"/>
              <a:t>AA (</a:t>
            </a:r>
            <a:r>
              <a:rPr lang="en-US" u="sng" dirty="0"/>
              <a:t>homozygous</a:t>
            </a:r>
            <a:r>
              <a:rPr lang="en-US" dirty="0"/>
              <a:t> minor allele)</a:t>
            </a:r>
          </a:p>
          <a:p>
            <a:pPr lvl="2"/>
            <a:endParaRPr lang="en-US" dirty="0"/>
          </a:p>
        </p:txBody>
      </p:sp>
      <p:sp>
        <p:nvSpPr>
          <p:cNvPr id="4" name="Slide Number Placeholder 3">
            <a:extLst>
              <a:ext uri="{FF2B5EF4-FFF2-40B4-BE49-F238E27FC236}">
                <a16:creationId xmlns:a16="http://schemas.microsoft.com/office/drawing/2014/main" id="{9DCB5BEB-847B-1181-7317-25AF30D82501}"/>
              </a:ext>
            </a:extLst>
          </p:cNvPr>
          <p:cNvSpPr>
            <a:spLocks noGrp="1"/>
          </p:cNvSpPr>
          <p:nvPr>
            <p:ph type="sldNum" sz="quarter" idx="12"/>
          </p:nvPr>
        </p:nvSpPr>
        <p:spPr/>
        <p:txBody>
          <a:bodyPr/>
          <a:lstStyle/>
          <a:p>
            <a:fld id="{9708802B-CECE-C644-A6A3-3C9AAC922203}" type="slidenum">
              <a:rPr lang="en-US" smtClean="0"/>
              <a:pPr/>
              <a:t>8</a:t>
            </a:fld>
            <a:endParaRPr lang="en-US"/>
          </a:p>
        </p:txBody>
      </p:sp>
      <p:graphicFrame>
        <p:nvGraphicFramePr>
          <p:cNvPr id="6" name="Table 5">
            <a:extLst>
              <a:ext uri="{FF2B5EF4-FFF2-40B4-BE49-F238E27FC236}">
                <a16:creationId xmlns:a16="http://schemas.microsoft.com/office/drawing/2014/main" id="{4009222E-E475-EB5E-6343-1233FDD68D0D}"/>
              </a:ext>
            </a:extLst>
          </p:cNvPr>
          <p:cNvGraphicFramePr>
            <a:graphicFrameLocks noGrp="1"/>
          </p:cNvGraphicFramePr>
          <p:nvPr>
            <p:extLst>
              <p:ext uri="{D42A27DB-BD31-4B8C-83A1-F6EECF244321}">
                <p14:modId xmlns:p14="http://schemas.microsoft.com/office/powerpoint/2010/main" val="4340878"/>
              </p:ext>
            </p:extLst>
          </p:nvPr>
        </p:nvGraphicFramePr>
        <p:xfrm>
          <a:off x="6203062" y="3626877"/>
          <a:ext cx="2507309" cy="1244600"/>
        </p:xfrm>
        <a:graphic>
          <a:graphicData uri="http://schemas.openxmlformats.org/drawingml/2006/table">
            <a:tbl>
              <a:tblPr firstRow="1" bandRow="1">
                <a:tableStyleId>{5C22544A-7EE6-4342-B048-85BDC9FD1C3A}</a:tableStyleId>
              </a:tblPr>
              <a:tblGrid>
                <a:gridCol w="805830">
                  <a:extLst>
                    <a:ext uri="{9D8B030D-6E8A-4147-A177-3AD203B41FA5}">
                      <a16:colId xmlns:a16="http://schemas.microsoft.com/office/drawing/2014/main" val="1024833400"/>
                    </a:ext>
                  </a:extLst>
                </a:gridCol>
                <a:gridCol w="1701479">
                  <a:extLst>
                    <a:ext uri="{9D8B030D-6E8A-4147-A177-3AD203B41FA5}">
                      <a16:colId xmlns:a16="http://schemas.microsoft.com/office/drawing/2014/main" val="3330807687"/>
                    </a:ext>
                  </a:extLst>
                </a:gridCol>
              </a:tblGrid>
              <a:tr h="370840">
                <a:tc>
                  <a:txBody>
                    <a:bodyPr/>
                    <a:lstStyle/>
                    <a:p>
                      <a:r>
                        <a:rPr lang="en-US" dirty="0"/>
                        <a:t>Allele</a:t>
                      </a:r>
                    </a:p>
                  </a:txBody>
                  <a:tcPr/>
                </a:tc>
                <a:tc>
                  <a:txBody>
                    <a:bodyPr/>
                    <a:lstStyle/>
                    <a:p>
                      <a:r>
                        <a:rPr lang="en-US" dirty="0"/>
                        <a:t>Allele </a:t>
                      </a:r>
                    </a:p>
                    <a:p>
                      <a:r>
                        <a:rPr lang="en-US" dirty="0"/>
                        <a:t>Frequency*</a:t>
                      </a:r>
                    </a:p>
                  </a:txBody>
                  <a:tcPr/>
                </a:tc>
                <a:extLst>
                  <a:ext uri="{0D108BD9-81ED-4DB2-BD59-A6C34878D82A}">
                    <a16:rowId xmlns:a16="http://schemas.microsoft.com/office/drawing/2014/main" val="921697172"/>
                  </a:ext>
                </a:extLst>
              </a:tr>
              <a:tr h="370840">
                <a:tc>
                  <a:txBody>
                    <a:bodyPr/>
                    <a:lstStyle/>
                    <a:p>
                      <a:r>
                        <a:rPr lang="en-US" dirty="0"/>
                        <a:t>G</a:t>
                      </a:r>
                    </a:p>
                  </a:txBody>
                  <a:tcPr/>
                </a:tc>
                <a:tc>
                  <a:txBody>
                    <a:bodyPr/>
                    <a:lstStyle/>
                    <a:p>
                      <a:r>
                        <a:rPr lang="en-US" dirty="0"/>
                        <a:t>84%</a:t>
                      </a:r>
                    </a:p>
                  </a:txBody>
                  <a:tcPr/>
                </a:tc>
                <a:extLst>
                  <a:ext uri="{0D108BD9-81ED-4DB2-BD59-A6C34878D82A}">
                    <a16:rowId xmlns:a16="http://schemas.microsoft.com/office/drawing/2014/main" val="4224313701"/>
                  </a:ext>
                </a:extLst>
              </a:tr>
              <a:tr h="370840">
                <a:tc>
                  <a:txBody>
                    <a:bodyPr/>
                    <a:lstStyle/>
                    <a:p>
                      <a:r>
                        <a:rPr lang="en-US" dirty="0"/>
                        <a:t>A</a:t>
                      </a:r>
                    </a:p>
                  </a:txBody>
                  <a:tcPr/>
                </a:tc>
                <a:tc>
                  <a:txBody>
                    <a:bodyPr/>
                    <a:lstStyle/>
                    <a:p>
                      <a:r>
                        <a:rPr lang="en-US" dirty="0"/>
                        <a:t>16%</a:t>
                      </a:r>
                    </a:p>
                  </a:txBody>
                  <a:tcPr/>
                </a:tc>
                <a:extLst>
                  <a:ext uri="{0D108BD9-81ED-4DB2-BD59-A6C34878D82A}">
                    <a16:rowId xmlns:a16="http://schemas.microsoft.com/office/drawing/2014/main" val="415717019"/>
                  </a:ext>
                </a:extLst>
              </a:tr>
            </a:tbl>
          </a:graphicData>
        </a:graphic>
      </p:graphicFrame>
      <p:sp>
        <p:nvSpPr>
          <p:cNvPr id="7" name="TextBox 6">
            <a:extLst>
              <a:ext uri="{FF2B5EF4-FFF2-40B4-BE49-F238E27FC236}">
                <a16:creationId xmlns:a16="http://schemas.microsoft.com/office/drawing/2014/main" id="{2C4F2550-C364-8DDD-7238-358534A09BAF}"/>
              </a:ext>
            </a:extLst>
          </p:cNvPr>
          <p:cNvSpPr txBox="1"/>
          <p:nvPr/>
        </p:nvSpPr>
        <p:spPr>
          <a:xfrm>
            <a:off x="5902816" y="5087796"/>
            <a:ext cx="3276601"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 Individuals of European ancestry only</a:t>
            </a:r>
          </a:p>
          <a:p>
            <a:r>
              <a:rPr lang="en-US" sz="1200" dirty="0">
                <a:latin typeface="Arial" panose="020B0604020202020204" pitchFamily="34" charset="0"/>
                <a:cs typeface="Arial" panose="020B0604020202020204" pitchFamily="34" charset="0"/>
              </a:rPr>
              <a:t>Frequencies may vary in other populations</a:t>
            </a:r>
          </a:p>
        </p:txBody>
      </p:sp>
      <p:sp>
        <p:nvSpPr>
          <p:cNvPr id="8" name="TextBox 7">
            <a:extLst>
              <a:ext uri="{FF2B5EF4-FFF2-40B4-BE49-F238E27FC236}">
                <a16:creationId xmlns:a16="http://schemas.microsoft.com/office/drawing/2014/main" id="{CE1C11B8-8CBD-B1FB-406F-AA77AF121406}"/>
              </a:ext>
            </a:extLst>
          </p:cNvPr>
          <p:cNvSpPr txBox="1"/>
          <p:nvPr/>
        </p:nvSpPr>
        <p:spPr>
          <a:xfrm>
            <a:off x="4953000" y="2930357"/>
            <a:ext cx="4698998" cy="646331"/>
          </a:xfrm>
          <a:prstGeom prst="rect">
            <a:avLst/>
          </a:prstGeom>
          <a:noFill/>
        </p:spPr>
        <p:txBody>
          <a:bodyPr wrap="square">
            <a:spAutoFit/>
          </a:bodyPr>
          <a:lstStyle/>
          <a:p>
            <a:pPr algn="ctr"/>
            <a:r>
              <a:rPr lang="en-US" sz="1800" b="1" dirty="0">
                <a:latin typeface="Arial" panose="020B0604020202020204" pitchFamily="34" charset="0"/>
                <a:cs typeface="Arial" panose="020B0604020202020204" pitchFamily="34" charset="0"/>
              </a:rPr>
              <a:t>SNP </a:t>
            </a:r>
            <a:r>
              <a:rPr lang="en-US" sz="1800" b="1" i="0" dirty="0">
                <a:effectLst/>
                <a:latin typeface="Arial" panose="020B0604020202020204" pitchFamily="34" charset="0"/>
                <a:cs typeface="Arial" panose="020B0604020202020204" pitchFamily="34" charset="0"/>
              </a:rPr>
              <a:t>rs56372821</a:t>
            </a:r>
          </a:p>
          <a:p>
            <a:pPr algn="ctr"/>
            <a:r>
              <a:rPr lang="en-US" sz="1800" b="1" i="0" dirty="0">
                <a:effectLst/>
                <a:latin typeface="Arial" panose="020B0604020202020204" pitchFamily="34" charset="0"/>
                <a:cs typeface="Arial" panose="020B0604020202020204" pitchFamily="34" charset="0"/>
              </a:rPr>
              <a:t>chr8:27578983 (build GRCh38)</a:t>
            </a:r>
            <a:endParaRPr lang="en-US" sz="18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C20A2DD-B99A-AA27-57BF-DAF43DBEBE80}"/>
              </a:ext>
            </a:extLst>
          </p:cNvPr>
          <p:cNvSpPr txBox="1"/>
          <p:nvPr/>
        </p:nvSpPr>
        <p:spPr>
          <a:xfrm>
            <a:off x="6067697" y="511308"/>
            <a:ext cx="2946838" cy="2062103"/>
          </a:xfrm>
          <a:prstGeom prst="rect">
            <a:avLst/>
          </a:prstGeom>
          <a:noFill/>
        </p:spPr>
        <p:txBody>
          <a:bodyPr wrap="square" rtlCol="0">
            <a:spAutoFit/>
          </a:bodyPr>
          <a:lstStyle/>
          <a:p>
            <a:r>
              <a:rPr lang="en-US" sz="1600" u="sng" dirty="0" err="1">
                <a:solidFill>
                  <a:schemeClr val="tx2">
                    <a:lumMod val="75000"/>
                  </a:schemeClr>
                </a:solidFill>
                <a:latin typeface="Ayuthaya" pitchFamily="2" charset="-34"/>
                <a:ea typeface="Ayuthaya" pitchFamily="2" charset="-34"/>
                <a:cs typeface="Ayuthaya" pitchFamily="2" charset="-34"/>
              </a:rPr>
              <a:t>rsID</a:t>
            </a:r>
            <a:r>
              <a:rPr lang="en-US" sz="1600" dirty="0">
                <a:solidFill>
                  <a:schemeClr val="tx2">
                    <a:lumMod val="75000"/>
                  </a:schemeClr>
                </a:solidFill>
                <a:latin typeface="Ayuthaya" pitchFamily="2" charset="-34"/>
                <a:ea typeface="Ayuthaya" pitchFamily="2" charset="-34"/>
                <a:cs typeface="Ayuthaya" pitchFamily="2" charset="-34"/>
              </a:rPr>
              <a:t> = a unique and stable identifier for every SNP. It links the alleles/genotypes to a chromosomal location (which is updated with each genome build)</a:t>
            </a:r>
          </a:p>
        </p:txBody>
      </p:sp>
      <p:cxnSp>
        <p:nvCxnSpPr>
          <p:cNvPr id="10" name="Straight Arrow Connector 9">
            <a:extLst>
              <a:ext uri="{FF2B5EF4-FFF2-40B4-BE49-F238E27FC236}">
                <a16:creationId xmlns:a16="http://schemas.microsoft.com/office/drawing/2014/main" id="{8218538D-4D30-101C-FF55-FDAB7E2C747E}"/>
              </a:ext>
            </a:extLst>
          </p:cNvPr>
          <p:cNvCxnSpPr>
            <a:cxnSpLocks/>
          </p:cNvCxnSpPr>
          <p:nvPr/>
        </p:nvCxnSpPr>
        <p:spPr bwMode="auto">
          <a:xfrm flipH="1">
            <a:off x="4267200" y="1863491"/>
            <a:ext cx="1676400" cy="46060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030078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8EE30-122E-F07D-A7CD-FF08244034A4}"/>
              </a:ext>
            </a:extLst>
          </p:cNvPr>
          <p:cNvSpPr>
            <a:spLocks noGrp="1"/>
          </p:cNvSpPr>
          <p:nvPr>
            <p:ph type="title"/>
          </p:nvPr>
        </p:nvSpPr>
        <p:spPr>
          <a:xfrm>
            <a:off x="528974" y="136939"/>
            <a:ext cx="7886700" cy="994172"/>
          </a:xfrm>
        </p:spPr>
        <p:txBody>
          <a:bodyPr/>
          <a:lstStyle/>
          <a:p>
            <a:r>
              <a:rPr lang="en-US" dirty="0">
                <a:latin typeface="+mn-lt"/>
              </a:rPr>
              <a:t>Impact of genetic variation</a:t>
            </a:r>
          </a:p>
        </p:txBody>
      </p:sp>
      <p:sp>
        <p:nvSpPr>
          <p:cNvPr id="3" name="Content Placeholder 2">
            <a:extLst>
              <a:ext uri="{FF2B5EF4-FFF2-40B4-BE49-F238E27FC236}">
                <a16:creationId xmlns:a16="http://schemas.microsoft.com/office/drawing/2014/main" id="{66AF6F80-13D0-D0D1-644C-E3AFF3C0686F}"/>
              </a:ext>
            </a:extLst>
          </p:cNvPr>
          <p:cNvSpPr>
            <a:spLocks noGrp="1"/>
          </p:cNvSpPr>
          <p:nvPr>
            <p:ph idx="1"/>
          </p:nvPr>
        </p:nvSpPr>
        <p:spPr>
          <a:xfrm>
            <a:off x="628650" y="1028700"/>
            <a:ext cx="4626379" cy="4215885"/>
          </a:xfrm>
        </p:spPr>
        <p:txBody>
          <a:bodyPr>
            <a:normAutofit/>
          </a:bodyPr>
          <a:lstStyle/>
          <a:p>
            <a:r>
              <a:rPr lang="en-US" dirty="0"/>
              <a:t>Genetic variation can impact a phenotype in many ways</a:t>
            </a:r>
          </a:p>
          <a:p>
            <a:r>
              <a:rPr lang="en-US" sz="1800" dirty="0">
                <a:cs typeface="Arial" pitchFamily="34" charset="0"/>
              </a:rPr>
              <a:t>Variants that directly affect the coding sequence of a protein</a:t>
            </a:r>
          </a:p>
          <a:p>
            <a:pPr lvl="1"/>
            <a:r>
              <a:rPr lang="en-US" sz="1500" dirty="0">
                <a:cs typeface="Arial" pitchFamily="34" charset="0"/>
              </a:rPr>
              <a:t>Often have the highest impact</a:t>
            </a:r>
          </a:p>
          <a:p>
            <a:pPr lvl="1"/>
            <a:r>
              <a:rPr lang="en-US" sz="1500" dirty="0">
                <a:cs typeface="Arial" pitchFamily="34" charset="0"/>
              </a:rPr>
              <a:t>Easiest to predict their impact</a:t>
            </a:r>
          </a:p>
          <a:p>
            <a:r>
              <a:rPr lang="en-US" sz="1800" b="1" dirty="0">
                <a:cs typeface="Arial" pitchFamily="34" charset="0"/>
              </a:rPr>
              <a:t>Variants outside of the coding region often have a milder impact</a:t>
            </a:r>
          </a:p>
          <a:p>
            <a:pPr lvl="1"/>
            <a:r>
              <a:rPr lang="en-US" sz="1500" b="1" dirty="0">
                <a:cs typeface="Arial" pitchFamily="34" charset="0"/>
              </a:rPr>
              <a:t>Much more common than changes to the coding sequence</a:t>
            </a:r>
          </a:p>
          <a:p>
            <a:pPr lvl="2"/>
            <a:r>
              <a:rPr lang="en-US" sz="1275" b="1" dirty="0">
                <a:cs typeface="Arial" pitchFamily="34" charset="0"/>
              </a:rPr>
              <a:t>&gt;80% of the genome is non-coding</a:t>
            </a:r>
          </a:p>
          <a:p>
            <a:pPr lvl="2"/>
            <a:r>
              <a:rPr lang="en-US" sz="1275" b="1" dirty="0">
                <a:cs typeface="Arial" pitchFamily="34" charset="0"/>
              </a:rPr>
              <a:t>Milder effects are less likely to be severely deleterious</a:t>
            </a:r>
          </a:p>
          <a:p>
            <a:pPr lvl="1"/>
            <a:r>
              <a:rPr lang="en-US" sz="1500" b="1" dirty="0">
                <a:cs typeface="Arial" pitchFamily="34" charset="0"/>
              </a:rPr>
              <a:t>Can affect the expression, stability, or function of a gene product (typically a protein)</a:t>
            </a:r>
          </a:p>
          <a:p>
            <a:endParaRPr lang="en-US" sz="1500" b="1" dirty="0">
              <a:cs typeface="Arial" pitchFamily="34" charset="0"/>
            </a:endParaRPr>
          </a:p>
          <a:p>
            <a:pPr lvl="1"/>
            <a:endParaRPr lang="en-US" sz="1500" dirty="0">
              <a:cs typeface="Arial" pitchFamily="34" charset="0"/>
            </a:endParaRPr>
          </a:p>
        </p:txBody>
      </p:sp>
      <p:pic>
        <p:nvPicPr>
          <p:cNvPr id="2050" name="Picture 2" descr="Type of DNA Mutations - Biochemistry - Medbullets Step 1">
            <a:extLst>
              <a:ext uri="{FF2B5EF4-FFF2-40B4-BE49-F238E27FC236}">
                <a16:creationId xmlns:a16="http://schemas.microsoft.com/office/drawing/2014/main" id="{08ED79F6-CAEF-D045-9BEB-00C5A820B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0424" y="757307"/>
            <a:ext cx="3160645" cy="40515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906DD54-C0A9-4A00-C1AB-165FB757ECAC}"/>
              </a:ext>
            </a:extLst>
          </p:cNvPr>
          <p:cNvSpPr txBox="1"/>
          <p:nvPr/>
        </p:nvSpPr>
        <p:spPr>
          <a:xfrm>
            <a:off x="5871826" y="144751"/>
            <a:ext cx="2743200" cy="646331"/>
          </a:xfrm>
          <a:prstGeom prst="rect">
            <a:avLst/>
          </a:prstGeom>
          <a:noFill/>
        </p:spPr>
        <p:txBody>
          <a:bodyPr wrap="square" rtlCol="0">
            <a:spAutoFit/>
          </a:bodyPr>
          <a:lstStyle/>
          <a:p>
            <a:pPr algn="ctr"/>
            <a:r>
              <a:rPr lang="en-US" sz="1800" u="sng" dirty="0">
                <a:latin typeface="+mn-lt"/>
              </a:rPr>
              <a:t>Variants that affect the coding sequence</a:t>
            </a:r>
          </a:p>
        </p:txBody>
      </p:sp>
      <p:sp>
        <p:nvSpPr>
          <p:cNvPr id="6" name="TextBox 5">
            <a:extLst>
              <a:ext uri="{FF2B5EF4-FFF2-40B4-BE49-F238E27FC236}">
                <a16:creationId xmlns:a16="http://schemas.microsoft.com/office/drawing/2014/main" id="{35A6EE86-4DC1-61BE-10C1-5633D9D74F5E}"/>
              </a:ext>
            </a:extLst>
          </p:cNvPr>
          <p:cNvSpPr txBox="1"/>
          <p:nvPr/>
        </p:nvSpPr>
        <p:spPr>
          <a:xfrm>
            <a:off x="4572000" y="5244585"/>
            <a:ext cx="4570821" cy="207749"/>
          </a:xfrm>
          <a:prstGeom prst="rect">
            <a:avLst/>
          </a:prstGeom>
          <a:noFill/>
        </p:spPr>
        <p:txBody>
          <a:bodyPr wrap="square">
            <a:spAutoFit/>
          </a:bodyPr>
          <a:lstStyle/>
          <a:p>
            <a:pPr algn="r"/>
            <a:r>
              <a:rPr lang="en-US" sz="750" dirty="0">
                <a:latin typeface="+mn-lt"/>
                <a:cs typeface="Arial" panose="020B0604020202020204" pitchFamily="34" charset="0"/>
              </a:rPr>
              <a:t>https://step1.medbullets.com/biochemistry/102010/type-of-</a:t>
            </a:r>
            <a:r>
              <a:rPr lang="en-US" sz="750" dirty="0" err="1">
                <a:latin typeface="+mn-lt"/>
                <a:cs typeface="Arial" panose="020B0604020202020204" pitchFamily="34" charset="0"/>
              </a:rPr>
              <a:t>dna</a:t>
            </a:r>
            <a:r>
              <a:rPr lang="en-US" sz="750" dirty="0">
                <a:latin typeface="+mn-lt"/>
                <a:cs typeface="Arial" panose="020B0604020202020204" pitchFamily="34" charset="0"/>
              </a:rPr>
              <a:t>-mutations</a:t>
            </a:r>
          </a:p>
        </p:txBody>
      </p:sp>
      <p:sp>
        <p:nvSpPr>
          <p:cNvPr id="7" name="TextBox 6">
            <a:extLst>
              <a:ext uri="{FF2B5EF4-FFF2-40B4-BE49-F238E27FC236}">
                <a16:creationId xmlns:a16="http://schemas.microsoft.com/office/drawing/2014/main" id="{B3B121EB-414A-F80F-FDCB-B5A342E71453}"/>
              </a:ext>
            </a:extLst>
          </p:cNvPr>
          <p:cNvSpPr txBox="1"/>
          <p:nvPr/>
        </p:nvSpPr>
        <p:spPr>
          <a:xfrm>
            <a:off x="5637341" y="4818159"/>
            <a:ext cx="3506659" cy="369332"/>
          </a:xfrm>
          <a:prstGeom prst="rect">
            <a:avLst/>
          </a:prstGeom>
          <a:noFill/>
        </p:spPr>
        <p:txBody>
          <a:bodyPr wrap="square" rtlCol="0">
            <a:spAutoFit/>
          </a:bodyPr>
          <a:lstStyle/>
          <a:p>
            <a:r>
              <a:rPr lang="en-US" sz="1800" dirty="0">
                <a:latin typeface="+mn-lt"/>
              </a:rPr>
              <a:t>+ splice variants, CNVs, and SV</a:t>
            </a:r>
          </a:p>
        </p:txBody>
      </p:sp>
    </p:spTree>
    <p:extLst>
      <p:ext uri="{BB962C8B-B14F-4D97-AF65-F5344CB8AC3E}">
        <p14:creationId xmlns:p14="http://schemas.microsoft.com/office/powerpoint/2010/main" val="534278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F020-36AC-3FF6-F607-F1F3CA2051FE}"/>
              </a:ext>
            </a:extLst>
          </p:cNvPr>
          <p:cNvSpPr>
            <a:spLocks noGrp="1"/>
          </p:cNvSpPr>
          <p:nvPr>
            <p:ph type="title"/>
          </p:nvPr>
        </p:nvSpPr>
        <p:spPr>
          <a:xfrm>
            <a:off x="328448" y="2389369"/>
            <a:ext cx="8001000" cy="514350"/>
          </a:xfrm>
        </p:spPr>
        <p:txBody>
          <a:bodyPr/>
          <a:lstStyle/>
          <a:p>
            <a:r>
              <a:rPr lang="en-US" sz="3000" dirty="0"/>
              <a:t>Monogenic disease vs. Common disease</a:t>
            </a:r>
            <a:endParaRPr lang="en-US" dirty="0"/>
          </a:p>
        </p:txBody>
      </p:sp>
      <p:sp>
        <p:nvSpPr>
          <p:cNvPr id="3" name="Slide Number Placeholder 2">
            <a:extLst>
              <a:ext uri="{FF2B5EF4-FFF2-40B4-BE49-F238E27FC236}">
                <a16:creationId xmlns:a16="http://schemas.microsoft.com/office/drawing/2014/main" id="{2CE11435-4C16-FEDE-3EA3-F30383DDAFB8}"/>
              </a:ext>
            </a:extLst>
          </p:cNvPr>
          <p:cNvSpPr>
            <a:spLocks noGrp="1"/>
          </p:cNvSpPr>
          <p:nvPr>
            <p:ph type="sldNum" sz="quarter" idx="12"/>
          </p:nvPr>
        </p:nvSpPr>
        <p:spPr/>
        <p:txBody>
          <a:bodyPr/>
          <a:lstStyle/>
          <a:p>
            <a:fld id="{8C17B027-94AA-734A-ACC9-170E40BA2B18}" type="slidenum">
              <a:rPr lang="en-US" smtClean="0"/>
              <a:pPr/>
              <a:t>10</a:t>
            </a:fld>
            <a:endParaRPr lang="en-US"/>
          </a:p>
        </p:txBody>
      </p:sp>
      <p:pic>
        <p:nvPicPr>
          <p:cNvPr id="4" name="Picture 3">
            <a:extLst>
              <a:ext uri="{FF2B5EF4-FFF2-40B4-BE49-F238E27FC236}">
                <a16:creationId xmlns:a16="http://schemas.microsoft.com/office/drawing/2014/main" id="{8229EAB5-AC74-66BE-5023-EB210CD14339}"/>
              </a:ext>
            </a:extLst>
          </p:cNvPr>
          <p:cNvPicPr>
            <a:picLocks noChangeAspect="1"/>
          </p:cNvPicPr>
          <p:nvPr/>
        </p:nvPicPr>
        <p:blipFill>
          <a:blip r:embed="rId3"/>
          <a:stretch>
            <a:fillRect/>
          </a:stretch>
        </p:blipFill>
        <p:spPr>
          <a:xfrm>
            <a:off x="229427" y="2903719"/>
            <a:ext cx="8609773" cy="159863"/>
          </a:xfrm>
          <a:prstGeom prst="rect">
            <a:avLst/>
          </a:prstGeom>
        </p:spPr>
      </p:pic>
    </p:spTree>
    <p:extLst>
      <p:ext uri="{BB962C8B-B14F-4D97-AF65-F5344CB8AC3E}">
        <p14:creationId xmlns:p14="http://schemas.microsoft.com/office/powerpoint/2010/main" val="294687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64814-87CC-9280-DC16-0387E7E33310}"/>
              </a:ext>
            </a:extLst>
          </p:cNvPr>
          <p:cNvSpPr>
            <a:spLocks noGrp="1"/>
          </p:cNvSpPr>
          <p:nvPr>
            <p:ph type="title"/>
          </p:nvPr>
        </p:nvSpPr>
        <p:spPr>
          <a:xfrm>
            <a:off x="457200" y="446870"/>
            <a:ext cx="8001000" cy="571500"/>
          </a:xfrm>
        </p:spPr>
        <p:txBody>
          <a:bodyPr>
            <a:normAutofit fontScale="90000"/>
          </a:bodyPr>
          <a:lstStyle/>
          <a:p>
            <a:r>
              <a:rPr lang="en-US" dirty="0"/>
              <a:t>Monogenic disease = Mendelian disease</a:t>
            </a:r>
            <a:br>
              <a:rPr lang="en-US" dirty="0"/>
            </a:br>
            <a:endParaRPr lang="en-US" dirty="0"/>
          </a:p>
        </p:txBody>
      </p:sp>
      <p:sp>
        <p:nvSpPr>
          <p:cNvPr id="5" name="Content Placeholder 4">
            <a:extLst>
              <a:ext uri="{FF2B5EF4-FFF2-40B4-BE49-F238E27FC236}">
                <a16:creationId xmlns:a16="http://schemas.microsoft.com/office/drawing/2014/main" id="{638F63AF-90EA-0A8A-C7CC-613733BEEE85}"/>
              </a:ext>
            </a:extLst>
          </p:cNvPr>
          <p:cNvSpPr>
            <a:spLocks noGrp="1"/>
          </p:cNvSpPr>
          <p:nvPr>
            <p:ph idx="1"/>
          </p:nvPr>
        </p:nvSpPr>
        <p:spPr>
          <a:xfrm>
            <a:off x="628650" y="1018370"/>
            <a:ext cx="7886700" cy="3626115"/>
          </a:xfrm>
        </p:spPr>
        <p:txBody>
          <a:bodyPr/>
          <a:lstStyle/>
          <a:p>
            <a:r>
              <a:rPr lang="en-US" sz="2200" dirty="0"/>
              <a:t>Definition: A “single gene/genetic variant” causes disease</a:t>
            </a:r>
          </a:p>
          <a:p>
            <a:r>
              <a:rPr lang="en-US" sz="2200" dirty="0"/>
              <a:t>Reality: Factors outside of the causative gene/genetic variant can contribute to variable disease presentation</a:t>
            </a:r>
          </a:p>
          <a:p>
            <a:pPr lvl="1"/>
            <a:r>
              <a:rPr lang="en-US" dirty="0"/>
              <a:t>Huntington’s disease: variable disease presentation (e.g., unaffected, mild, severe) based on the number of CAG repeats in the </a:t>
            </a:r>
            <a:r>
              <a:rPr lang="en-US" i="1" dirty="0"/>
              <a:t>HTT</a:t>
            </a:r>
            <a:r>
              <a:rPr lang="en-US" dirty="0"/>
              <a:t> gene</a:t>
            </a:r>
          </a:p>
          <a:p>
            <a:pPr lvl="1"/>
            <a:r>
              <a:rPr lang="en-US" dirty="0"/>
              <a:t>Duchenne and Becker muscular dystrophies: severity depends on which genetic variant in the dystrophin gene </a:t>
            </a:r>
            <a:r>
              <a:rPr lang="en-US" i="1" dirty="0"/>
              <a:t>(DMD)</a:t>
            </a:r>
            <a:r>
              <a:rPr lang="en-US" dirty="0"/>
              <a:t> you inherit</a:t>
            </a:r>
          </a:p>
          <a:p>
            <a:pPr lvl="1"/>
            <a:endParaRPr lang="en-US" sz="2200" dirty="0"/>
          </a:p>
          <a:p>
            <a:pPr lvl="1"/>
            <a:endParaRPr lang="en-US" sz="2200" dirty="0"/>
          </a:p>
        </p:txBody>
      </p:sp>
      <p:sp>
        <p:nvSpPr>
          <p:cNvPr id="3" name="Slide Number Placeholder 2">
            <a:extLst>
              <a:ext uri="{FF2B5EF4-FFF2-40B4-BE49-F238E27FC236}">
                <a16:creationId xmlns:a16="http://schemas.microsoft.com/office/drawing/2014/main" id="{658D0EA6-D07C-D533-4CC6-0F61E4E92C04}"/>
              </a:ext>
            </a:extLst>
          </p:cNvPr>
          <p:cNvSpPr>
            <a:spLocks noGrp="1"/>
          </p:cNvSpPr>
          <p:nvPr>
            <p:ph type="sldNum" sz="quarter" idx="12"/>
          </p:nvPr>
        </p:nvSpPr>
        <p:spPr/>
        <p:txBody>
          <a:bodyPr/>
          <a:lstStyle/>
          <a:p>
            <a:fld id="{8C17B027-94AA-734A-ACC9-170E40BA2B18}" type="slidenum">
              <a:rPr lang="en-US" smtClean="0"/>
              <a:pPr/>
              <a:t>11</a:t>
            </a:fld>
            <a:endParaRPr lang="en-US"/>
          </a:p>
        </p:txBody>
      </p:sp>
    </p:spTree>
    <p:extLst>
      <p:ext uri="{BB962C8B-B14F-4D97-AF65-F5344CB8AC3E}">
        <p14:creationId xmlns:p14="http://schemas.microsoft.com/office/powerpoint/2010/main" val="1632301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DF7C2-8941-254B-1A80-00E9E349A3E7}"/>
              </a:ext>
            </a:extLst>
          </p:cNvPr>
          <p:cNvSpPr>
            <a:spLocks noGrp="1"/>
          </p:cNvSpPr>
          <p:nvPr>
            <p:ph type="title"/>
          </p:nvPr>
        </p:nvSpPr>
        <p:spPr>
          <a:xfrm>
            <a:off x="521270" y="74766"/>
            <a:ext cx="7886700" cy="1104636"/>
          </a:xfrm>
        </p:spPr>
        <p:txBody>
          <a:bodyPr/>
          <a:lstStyle/>
          <a:p>
            <a:r>
              <a:rPr lang="en-US" dirty="0"/>
              <a:t>Common disease and Complex traits</a:t>
            </a:r>
          </a:p>
        </p:txBody>
      </p:sp>
      <p:sp>
        <p:nvSpPr>
          <p:cNvPr id="3" name="Content Placeholder 2">
            <a:extLst>
              <a:ext uri="{FF2B5EF4-FFF2-40B4-BE49-F238E27FC236}">
                <a16:creationId xmlns:a16="http://schemas.microsoft.com/office/drawing/2014/main" id="{64E46BC9-051E-BD22-1528-92F58294ED08}"/>
              </a:ext>
            </a:extLst>
          </p:cNvPr>
          <p:cNvSpPr>
            <a:spLocks noGrp="1"/>
          </p:cNvSpPr>
          <p:nvPr>
            <p:ph idx="1"/>
          </p:nvPr>
        </p:nvSpPr>
        <p:spPr>
          <a:xfrm>
            <a:off x="611095" y="1091970"/>
            <a:ext cx="7886700" cy="3263504"/>
          </a:xfrm>
        </p:spPr>
        <p:txBody>
          <a:bodyPr/>
          <a:lstStyle/>
          <a:p>
            <a:r>
              <a:rPr lang="en-US" dirty="0"/>
              <a:t>Diseases and traits which are caused by a combination of multiple genetic and environmental factors (and their interactions) </a:t>
            </a:r>
          </a:p>
        </p:txBody>
      </p:sp>
      <p:sp>
        <p:nvSpPr>
          <p:cNvPr id="6" name="Left-Right Arrow 5">
            <a:extLst>
              <a:ext uri="{FF2B5EF4-FFF2-40B4-BE49-F238E27FC236}">
                <a16:creationId xmlns:a16="http://schemas.microsoft.com/office/drawing/2014/main" id="{B2A4F835-A669-9B11-C6A7-7BAF071A4EA7}"/>
              </a:ext>
            </a:extLst>
          </p:cNvPr>
          <p:cNvSpPr/>
          <p:nvPr/>
        </p:nvSpPr>
        <p:spPr bwMode="auto">
          <a:xfrm>
            <a:off x="2103120" y="3069269"/>
            <a:ext cx="4937760" cy="908685"/>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a:endParaRPr lang="en-US" sz="2160">
              <a:ea typeface="Osaka" charset="-128"/>
              <a:cs typeface="Osaka" charset="-128"/>
            </a:endParaRPr>
          </a:p>
        </p:txBody>
      </p:sp>
      <p:sp>
        <p:nvSpPr>
          <p:cNvPr id="7" name="TextBox 6">
            <a:extLst>
              <a:ext uri="{FF2B5EF4-FFF2-40B4-BE49-F238E27FC236}">
                <a16:creationId xmlns:a16="http://schemas.microsoft.com/office/drawing/2014/main" id="{E70952F8-4009-102A-69E8-E2FB734A13DE}"/>
              </a:ext>
            </a:extLst>
          </p:cNvPr>
          <p:cNvSpPr txBox="1"/>
          <p:nvPr/>
        </p:nvSpPr>
        <p:spPr>
          <a:xfrm>
            <a:off x="679019" y="2411011"/>
            <a:ext cx="1956662" cy="867930"/>
          </a:xfrm>
          <a:prstGeom prst="rect">
            <a:avLst/>
          </a:prstGeom>
          <a:noFill/>
        </p:spPr>
        <p:txBody>
          <a:bodyPr wrap="square" rtlCol="0">
            <a:spAutoFit/>
          </a:bodyPr>
          <a:lstStyle/>
          <a:p>
            <a:r>
              <a:rPr lang="en-US" sz="2520" u="sng" dirty="0">
                <a:solidFill>
                  <a:schemeClr val="tx2">
                    <a:lumMod val="75000"/>
                  </a:schemeClr>
                </a:solidFill>
                <a:latin typeface="Ayuthaya" pitchFamily="2" charset="-34"/>
                <a:ea typeface="Ayuthaya" pitchFamily="2" charset="-34"/>
                <a:cs typeface="Ayuthaya" pitchFamily="2" charset="-34"/>
              </a:rPr>
              <a:t>Monogenic </a:t>
            </a:r>
            <a:r>
              <a:rPr lang="en-US" sz="2520" dirty="0">
                <a:solidFill>
                  <a:schemeClr val="tx2">
                    <a:lumMod val="75000"/>
                  </a:schemeClr>
                </a:solidFill>
                <a:latin typeface="Ayuthaya" pitchFamily="2" charset="-34"/>
                <a:ea typeface="Ayuthaya" pitchFamily="2" charset="-34"/>
                <a:cs typeface="Ayuthaya" pitchFamily="2" charset="-34"/>
              </a:rPr>
              <a:t>Disease</a:t>
            </a:r>
          </a:p>
        </p:txBody>
      </p:sp>
      <p:sp>
        <p:nvSpPr>
          <p:cNvPr id="8" name="TextBox 7">
            <a:extLst>
              <a:ext uri="{FF2B5EF4-FFF2-40B4-BE49-F238E27FC236}">
                <a16:creationId xmlns:a16="http://schemas.microsoft.com/office/drawing/2014/main" id="{8B6E1176-89B5-CBBF-1A03-BB15787C5F91}"/>
              </a:ext>
            </a:extLst>
          </p:cNvPr>
          <p:cNvSpPr txBox="1"/>
          <p:nvPr/>
        </p:nvSpPr>
        <p:spPr>
          <a:xfrm>
            <a:off x="6149340" y="2411009"/>
            <a:ext cx="2315641" cy="867930"/>
          </a:xfrm>
          <a:prstGeom prst="rect">
            <a:avLst/>
          </a:prstGeom>
          <a:noFill/>
        </p:spPr>
        <p:txBody>
          <a:bodyPr wrap="square" rtlCol="0">
            <a:spAutoFit/>
          </a:bodyPr>
          <a:lstStyle/>
          <a:p>
            <a:pPr algn="r"/>
            <a:r>
              <a:rPr lang="en-US" sz="2520" u="sng" dirty="0">
                <a:solidFill>
                  <a:schemeClr val="tx2">
                    <a:lumMod val="75000"/>
                  </a:schemeClr>
                </a:solidFill>
                <a:latin typeface="Ayuthaya" pitchFamily="2" charset="-34"/>
                <a:ea typeface="Ayuthaya" pitchFamily="2" charset="-34"/>
                <a:cs typeface="Ayuthaya" pitchFamily="2" charset="-34"/>
              </a:rPr>
              <a:t>Polygenic </a:t>
            </a:r>
            <a:r>
              <a:rPr lang="en-US" sz="2520" dirty="0">
                <a:solidFill>
                  <a:schemeClr val="tx2">
                    <a:lumMod val="75000"/>
                  </a:schemeClr>
                </a:solidFill>
                <a:latin typeface="Ayuthaya" pitchFamily="2" charset="-34"/>
                <a:ea typeface="Ayuthaya" pitchFamily="2" charset="-34"/>
                <a:cs typeface="Ayuthaya" pitchFamily="2" charset="-34"/>
              </a:rPr>
              <a:t>Traits</a:t>
            </a:r>
          </a:p>
        </p:txBody>
      </p:sp>
      <p:sp>
        <p:nvSpPr>
          <p:cNvPr id="9" name="TextBox 8">
            <a:extLst>
              <a:ext uri="{FF2B5EF4-FFF2-40B4-BE49-F238E27FC236}">
                <a16:creationId xmlns:a16="http://schemas.microsoft.com/office/drawing/2014/main" id="{BD1577C8-7D58-CEFF-0B62-5F31EF843B24}"/>
              </a:ext>
            </a:extLst>
          </p:cNvPr>
          <p:cNvSpPr txBox="1"/>
          <p:nvPr/>
        </p:nvSpPr>
        <p:spPr>
          <a:xfrm>
            <a:off x="734381" y="3676273"/>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Cystic fibrosis</a:t>
            </a:r>
          </a:p>
        </p:txBody>
      </p:sp>
      <p:sp>
        <p:nvSpPr>
          <p:cNvPr id="10" name="TextBox 9">
            <a:extLst>
              <a:ext uri="{FF2B5EF4-FFF2-40B4-BE49-F238E27FC236}">
                <a16:creationId xmlns:a16="http://schemas.microsoft.com/office/drawing/2014/main" id="{E2810FED-876E-3E73-EA23-5638414D6647}"/>
              </a:ext>
            </a:extLst>
          </p:cNvPr>
          <p:cNvSpPr txBox="1"/>
          <p:nvPr/>
        </p:nvSpPr>
        <p:spPr>
          <a:xfrm>
            <a:off x="722359" y="4343348"/>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Marfan syndrome</a:t>
            </a:r>
          </a:p>
        </p:txBody>
      </p:sp>
      <p:sp>
        <p:nvSpPr>
          <p:cNvPr id="11" name="TextBox 10">
            <a:extLst>
              <a:ext uri="{FF2B5EF4-FFF2-40B4-BE49-F238E27FC236}">
                <a16:creationId xmlns:a16="http://schemas.microsoft.com/office/drawing/2014/main" id="{0271A55E-BB74-0598-29E0-8E2CCBD78D95}"/>
              </a:ext>
            </a:extLst>
          </p:cNvPr>
          <p:cNvSpPr txBox="1"/>
          <p:nvPr/>
        </p:nvSpPr>
        <p:spPr>
          <a:xfrm>
            <a:off x="722360" y="4004916"/>
            <a:ext cx="289165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Familial hypercholesterolemia</a:t>
            </a:r>
          </a:p>
        </p:txBody>
      </p:sp>
      <p:sp>
        <p:nvSpPr>
          <p:cNvPr id="12" name="TextBox 11">
            <a:extLst>
              <a:ext uri="{FF2B5EF4-FFF2-40B4-BE49-F238E27FC236}">
                <a16:creationId xmlns:a16="http://schemas.microsoft.com/office/drawing/2014/main" id="{8806EFD4-3DBD-AF5D-B315-91D22698B2E9}"/>
              </a:ext>
            </a:extLst>
          </p:cNvPr>
          <p:cNvSpPr txBox="1"/>
          <p:nvPr/>
        </p:nvSpPr>
        <p:spPr>
          <a:xfrm>
            <a:off x="722359" y="4672169"/>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Monogenic diabetes</a:t>
            </a:r>
          </a:p>
        </p:txBody>
      </p:sp>
      <p:sp>
        <p:nvSpPr>
          <p:cNvPr id="13" name="TextBox 12">
            <a:extLst>
              <a:ext uri="{FF2B5EF4-FFF2-40B4-BE49-F238E27FC236}">
                <a16:creationId xmlns:a16="http://schemas.microsoft.com/office/drawing/2014/main" id="{E54FEC43-5630-BD57-55F6-57CB98F800A0}"/>
              </a:ext>
            </a:extLst>
          </p:cNvPr>
          <p:cNvSpPr txBox="1"/>
          <p:nvPr/>
        </p:nvSpPr>
        <p:spPr>
          <a:xfrm>
            <a:off x="3448189" y="3875066"/>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Breast cancer</a:t>
            </a:r>
          </a:p>
        </p:txBody>
      </p:sp>
      <p:sp>
        <p:nvSpPr>
          <p:cNvPr id="14" name="TextBox 13">
            <a:extLst>
              <a:ext uri="{FF2B5EF4-FFF2-40B4-BE49-F238E27FC236}">
                <a16:creationId xmlns:a16="http://schemas.microsoft.com/office/drawing/2014/main" id="{7B383294-B0E8-6B51-772D-8C60C3AE9CE1}"/>
              </a:ext>
            </a:extLst>
          </p:cNvPr>
          <p:cNvSpPr txBox="1"/>
          <p:nvPr/>
        </p:nvSpPr>
        <p:spPr>
          <a:xfrm>
            <a:off x="6342174" y="4355474"/>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Type 2 Diabetes</a:t>
            </a:r>
          </a:p>
        </p:txBody>
      </p:sp>
      <p:sp>
        <p:nvSpPr>
          <p:cNvPr id="15" name="TextBox 14">
            <a:extLst>
              <a:ext uri="{FF2B5EF4-FFF2-40B4-BE49-F238E27FC236}">
                <a16:creationId xmlns:a16="http://schemas.microsoft.com/office/drawing/2014/main" id="{B696284D-00CB-2E60-C623-FEDEED0BF3E3}"/>
              </a:ext>
            </a:extLst>
          </p:cNvPr>
          <p:cNvSpPr txBox="1"/>
          <p:nvPr/>
        </p:nvSpPr>
        <p:spPr>
          <a:xfrm>
            <a:off x="6984360" y="3819204"/>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Height</a:t>
            </a:r>
          </a:p>
        </p:txBody>
      </p:sp>
      <p:sp>
        <p:nvSpPr>
          <p:cNvPr id="16" name="TextBox 15">
            <a:extLst>
              <a:ext uri="{FF2B5EF4-FFF2-40B4-BE49-F238E27FC236}">
                <a16:creationId xmlns:a16="http://schemas.microsoft.com/office/drawing/2014/main" id="{D1FD1232-D14F-88B5-DC04-5D67E7DF10BE}"/>
              </a:ext>
            </a:extLst>
          </p:cNvPr>
          <p:cNvSpPr txBox="1"/>
          <p:nvPr/>
        </p:nvSpPr>
        <p:spPr>
          <a:xfrm>
            <a:off x="5193521" y="3935453"/>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Heart disease</a:t>
            </a:r>
          </a:p>
        </p:txBody>
      </p:sp>
      <p:sp>
        <p:nvSpPr>
          <p:cNvPr id="17" name="TextBox 16">
            <a:extLst>
              <a:ext uri="{FF2B5EF4-FFF2-40B4-BE49-F238E27FC236}">
                <a16:creationId xmlns:a16="http://schemas.microsoft.com/office/drawing/2014/main" id="{0FA01AD0-24FF-FBA2-DE8F-62FF50F065DC}"/>
              </a:ext>
            </a:extLst>
          </p:cNvPr>
          <p:cNvSpPr txBox="1"/>
          <p:nvPr/>
        </p:nvSpPr>
        <p:spPr>
          <a:xfrm>
            <a:off x="4261177" y="4907618"/>
            <a:ext cx="1956662"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Some cancers</a:t>
            </a:r>
          </a:p>
        </p:txBody>
      </p:sp>
      <p:sp>
        <p:nvSpPr>
          <p:cNvPr id="18" name="TextBox 17">
            <a:extLst>
              <a:ext uri="{FF2B5EF4-FFF2-40B4-BE49-F238E27FC236}">
                <a16:creationId xmlns:a16="http://schemas.microsoft.com/office/drawing/2014/main" id="{7650DA17-0BF1-A825-1071-C1F4F863D41E}"/>
              </a:ext>
            </a:extLst>
          </p:cNvPr>
          <p:cNvSpPr txBox="1"/>
          <p:nvPr/>
        </p:nvSpPr>
        <p:spPr>
          <a:xfrm>
            <a:off x="3683575" y="4374325"/>
            <a:ext cx="2373068"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Late onset Alzheimer’s</a:t>
            </a:r>
          </a:p>
        </p:txBody>
      </p:sp>
      <p:sp>
        <p:nvSpPr>
          <p:cNvPr id="19" name="TextBox 18">
            <a:extLst>
              <a:ext uri="{FF2B5EF4-FFF2-40B4-BE49-F238E27FC236}">
                <a16:creationId xmlns:a16="http://schemas.microsoft.com/office/drawing/2014/main" id="{B07A9DE0-B313-B71E-EC0A-924B0E312218}"/>
              </a:ext>
            </a:extLst>
          </p:cNvPr>
          <p:cNvSpPr txBox="1"/>
          <p:nvPr/>
        </p:nvSpPr>
        <p:spPr>
          <a:xfrm>
            <a:off x="2772730" y="4753975"/>
            <a:ext cx="2373068"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Eye color</a:t>
            </a:r>
          </a:p>
        </p:txBody>
      </p:sp>
      <p:sp>
        <p:nvSpPr>
          <p:cNvPr id="20" name="TextBox 19">
            <a:extLst>
              <a:ext uri="{FF2B5EF4-FFF2-40B4-BE49-F238E27FC236}">
                <a16:creationId xmlns:a16="http://schemas.microsoft.com/office/drawing/2014/main" id="{09938EE2-D54F-6B24-DA74-5A78C0A9DFBF}"/>
              </a:ext>
            </a:extLst>
          </p:cNvPr>
          <p:cNvSpPr txBox="1"/>
          <p:nvPr/>
        </p:nvSpPr>
        <p:spPr>
          <a:xfrm>
            <a:off x="5589623" y="4733707"/>
            <a:ext cx="2373068" cy="258532"/>
          </a:xfrm>
          <a:prstGeom prst="rect">
            <a:avLst/>
          </a:prstGeom>
          <a:noFill/>
        </p:spPr>
        <p:txBody>
          <a:bodyPr wrap="square" rtlCol="0">
            <a:spAutoFit/>
          </a:bodyPr>
          <a:lstStyle/>
          <a:p>
            <a:r>
              <a:rPr lang="en-US" sz="1080" i="1" dirty="0">
                <a:solidFill>
                  <a:schemeClr val="tx2">
                    <a:lumMod val="75000"/>
                  </a:schemeClr>
                </a:solidFill>
                <a:latin typeface="Ayuthaya" pitchFamily="2" charset="-34"/>
                <a:ea typeface="Ayuthaya" pitchFamily="2" charset="-34"/>
                <a:cs typeface="Ayuthaya" pitchFamily="2" charset="-34"/>
              </a:rPr>
              <a:t>Schizophrenia</a:t>
            </a:r>
          </a:p>
        </p:txBody>
      </p:sp>
    </p:spTree>
    <p:extLst>
      <p:ext uri="{BB962C8B-B14F-4D97-AF65-F5344CB8AC3E}">
        <p14:creationId xmlns:p14="http://schemas.microsoft.com/office/powerpoint/2010/main" val="142522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B455455-F610-B7C8-11BB-79FD495D29C9}"/>
              </a:ext>
            </a:extLst>
          </p:cNvPr>
          <p:cNvSpPr txBox="1"/>
          <p:nvPr/>
        </p:nvSpPr>
        <p:spPr>
          <a:xfrm>
            <a:off x="4481563" y="5174373"/>
            <a:ext cx="4526280" cy="207749"/>
          </a:xfrm>
          <a:prstGeom prst="rect">
            <a:avLst/>
          </a:prstGeom>
          <a:noFill/>
        </p:spPr>
        <p:txBody>
          <a:bodyPr wrap="square" rtlCol="0">
            <a:spAutoFit/>
          </a:bodyPr>
          <a:lstStyle/>
          <a:p>
            <a:pPr algn="r"/>
            <a:r>
              <a:rPr lang="en-US" sz="750" dirty="0" err="1">
                <a:latin typeface="Arial" panose="020B0604020202020204" pitchFamily="34" charset="0"/>
                <a:cs typeface="Arial" panose="020B0604020202020204" pitchFamily="34" charset="0"/>
              </a:rPr>
              <a:t>Atonarakis</a:t>
            </a:r>
            <a:r>
              <a:rPr lang="en-US" sz="750" dirty="0">
                <a:latin typeface="Arial" panose="020B0604020202020204" pitchFamily="34" charset="0"/>
                <a:cs typeface="Arial" panose="020B0604020202020204" pitchFamily="34" charset="0"/>
              </a:rPr>
              <a:t> </a:t>
            </a:r>
            <a:r>
              <a:rPr lang="en-US" sz="750" i="1" dirty="0">
                <a:latin typeface="Arial" panose="020B0604020202020204" pitchFamily="34" charset="0"/>
                <a:cs typeface="Arial" panose="020B0604020202020204" pitchFamily="34" charset="0"/>
              </a:rPr>
              <a:t>et al.,</a:t>
            </a:r>
            <a:r>
              <a:rPr lang="en-US" sz="750" dirty="0">
                <a:latin typeface="Arial" panose="020B0604020202020204" pitchFamily="34" charset="0"/>
                <a:cs typeface="Arial" panose="020B0604020202020204" pitchFamily="34" charset="0"/>
              </a:rPr>
              <a:t> </a:t>
            </a:r>
            <a:r>
              <a:rPr lang="en-US" sz="750" i="1" dirty="0">
                <a:latin typeface="Arial" panose="020B0604020202020204" pitchFamily="34" charset="0"/>
                <a:cs typeface="Arial" panose="020B0604020202020204" pitchFamily="34" charset="0"/>
              </a:rPr>
              <a:t>Nature Reviews Genetics </a:t>
            </a:r>
            <a:r>
              <a:rPr lang="en-US" sz="750" dirty="0">
                <a:latin typeface="Arial" panose="020B0604020202020204" pitchFamily="34" charset="0"/>
                <a:cs typeface="Arial" panose="020B0604020202020204" pitchFamily="34" charset="0"/>
              </a:rPr>
              <a:t>2010</a:t>
            </a:r>
          </a:p>
        </p:txBody>
      </p:sp>
      <p:pic>
        <p:nvPicPr>
          <p:cNvPr id="7" name="Picture 6">
            <a:extLst>
              <a:ext uri="{FF2B5EF4-FFF2-40B4-BE49-F238E27FC236}">
                <a16:creationId xmlns:a16="http://schemas.microsoft.com/office/drawing/2014/main" id="{822E85F4-0B6F-497B-BC6A-772323FAFA6B}"/>
              </a:ext>
            </a:extLst>
          </p:cNvPr>
          <p:cNvPicPr>
            <a:picLocks noChangeAspect="1"/>
          </p:cNvPicPr>
          <p:nvPr/>
        </p:nvPicPr>
        <p:blipFill>
          <a:blip r:embed="rId3"/>
          <a:stretch>
            <a:fillRect/>
          </a:stretch>
        </p:blipFill>
        <p:spPr>
          <a:xfrm>
            <a:off x="546400" y="784074"/>
            <a:ext cx="8051200" cy="4146852"/>
          </a:xfrm>
          <a:prstGeom prst="rect">
            <a:avLst/>
          </a:prstGeom>
        </p:spPr>
      </p:pic>
    </p:spTree>
    <p:extLst>
      <p:ext uri="{BB962C8B-B14F-4D97-AF65-F5344CB8AC3E}">
        <p14:creationId xmlns:p14="http://schemas.microsoft.com/office/powerpoint/2010/main" val="215709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F020-36AC-3FF6-F607-F1F3CA2051FE}"/>
              </a:ext>
            </a:extLst>
          </p:cNvPr>
          <p:cNvSpPr>
            <a:spLocks noGrp="1"/>
          </p:cNvSpPr>
          <p:nvPr>
            <p:ph type="title"/>
          </p:nvPr>
        </p:nvSpPr>
        <p:spPr>
          <a:xfrm>
            <a:off x="328448" y="2389369"/>
            <a:ext cx="8001000" cy="514350"/>
          </a:xfrm>
        </p:spPr>
        <p:txBody>
          <a:bodyPr/>
          <a:lstStyle/>
          <a:p>
            <a:r>
              <a:rPr lang="en-US" sz="3000" dirty="0"/>
              <a:t>How to identify disease loci?</a:t>
            </a:r>
            <a:endParaRPr lang="en-US" dirty="0"/>
          </a:p>
        </p:txBody>
      </p:sp>
      <p:sp>
        <p:nvSpPr>
          <p:cNvPr id="3" name="Slide Number Placeholder 2">
            <a:extLst>
              <a:ext uri="{FF2B5EF4-FFF2-40B4-BE49-F238E27FC236}">
                <a16:creationId xmlns:a16="http://schemas.microsoft.com/office/drawing/2014/main" id="{2CE11435-4C16-FEDE-3EA3-F30383DDAFB8}"/>
              </a:ext>
            </a:extLst>
          </p:cNvPr>
          <p:cNvSpPr>
            <a:spLocks noGrp="1"/>
          </p:cNvSpPr>
          <p:nvPr>
            <p:ph type="sldNum" sz="quarter" idx="12"/>
          </p:nvPr>
        </p:nvSpPr>
        <p:spPr/>
        <p:txBody>
          <a:bodyPr/>
          <a:lstStyle/>
          <a:p>
            <a:fld id="{8C17B027-94AA-734A-ACC9-170E40BA2B18}" type="slidenum">
              <a:rPr lang="en-US" smtClean="0"/>
              <a:pPr/>
              <a:t>14</a:t>
            </a:fld>
            <a:endParaRPr lang="en-US"/>
          </a:p>
        </p:txBody>
      </p:sp>
      <p:pic>
        <p:nvPicPr>
          <p:cNvPr id="4" name="Picture 3">
            <a:extLst>
              <a:ext uri="{FF2B5EF4-FFF2-40B4-BE49-F238E27FC236}">
                <a16:creationId xmlns:a16="http://schemas.microsoft.com/office/drawing/2014/main" id="{8229EAB5-AC74-66BE-5023-EB210CD14339}"/>
              </a:ext>
            </a:extLst>
          </p:cNvPr>
          <p:cNvPicPr>
            <a:picLocks noChangeAspect="1"/>
          </p:cNvPicPr>
          <p:nvPr/>
        </p:nvPicPr>
        <p:blipFill>
          <a:blip r:embed="rId3"/>
          <a:stretch>
            <a:fillRect/>
          </a:stretch>
        </p:blipFill>
        <p:spPr>
          <a:xfrm>
            <a:off x="229427" y="2903719"/>
            <a:ext cx="8609773" cy="159863"/>
          </a:xfrm>
          <a:prstGeom prst="rect">
            <a:avLst/>
          </a:prstGeom>
        </p:spPr>
      </p:pic>
      <p:sp>
        <p:nvSpPr>
          <p:cNvPr id="5" name="TextBox 4">
            <a:extLst>
              <a:ext uri="{FF2B5EF4-FFF2-40B4-BE49-F238E27FC236}">
                <a16:creationId xmlns:a16="http://schemas.microsoft.com/office/drawing/2014/main" id="{63EE4B4D-243B-0DA2-B2AD-7240861CB0ED}"/>
              </a:ext>
            </a:extLst>
          </p:cNvPr>
          <p:cNvSpPr txBox="1"/>
          <p:nvPr/>
        </p:nvSpPr>
        <p:spPr>
          <a:xfrm>
            <a:off x="244452" y="3177822"/>
            <a:ext cx="7985148" cy="1015663"/>
          </a:xfrm>
          <a:prstGeom prst="rect">
            <a:avLst/>
          </a:prstGeom>
          <a:noFill/>
        </p:spPr>
        <p:txBody>
          <a:bodyPr wrap="square" rtlCol="0">
            <a:spAutoFit/>
          </a:bodyPr>
          <a:lstStyle/>
          <a:p>
            <a:r>
              <a:rPr lang="en-US" sz="2000" u="sng" dirty="0">
                <a:solidFill>
                  <a:schemeClr val="tx2">
                    <a:lumMod val="75000"/>
                  </a:schemeClr>
                </a:solidFill>
                <a:latin typeface="Ayuthaya" pitchFamily="2" charset="-34"/>
                <a:ea typeface="Ayuthaya" pitchFamily="2" charset="-34"/>
                <a:cs typeface="Ayuthaya" pitchFamily="2" charset="-34"/>
              </a:rPr>
              <a:t>Locus</a:t>
            </a:r>
            <a:r>
              <a:rPr lang="en-US" sz="2000" dirty="0">
                <a:solidFill>
                  <a:schemeClr val="tx2">
                    <a:lumMod val="75000"/>
                  </a:schemeClr>
                </a:solidFill>
                <a:latin typeface="Ayuthaya" pitchFamily="2" charset="-34"/>
                <a:ea typeface="Ayuthaya" pitchFamily="2" charset="-34"/>
                <a:cs typeface="Ayuthaya" pitchFamily="2" charset="-34"/>
              </a:rPr>
              <a:t> (plural loci): a physical location in the genome. Typically used to refer to a region of the genome associated with your trait of interest.</a:t>
            </a:r>
          </a:p>
        </p:txBody>
      </p:sp>
    </p:spTree>
    <p:extLst>
      <p:ext uri="{BB962C8B-B14F-4D97-AF65-F5344CB8AC3E}">
        <p14:creationId xmlns:p14="http://schemas.microsoft.com/office/powerpoint/2010/main" val="4090910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66E66-550A-ECB8-0B97-E8BB7CB45610}"/>
              </a:ext>
            </a:extLst>
          </p:cNvPr>
          <p:cNvSpPr>
            <a:spLocks noGrp="1"/>
          </p:cNvSpPr>
          <p:nvPr>
            <p:ph type="title"/>
          </p:nvPr>
        </p:nvSpPr>
        <p:spPr/>
        <p:txBody>
          <a:bodyPr/>
          <a:lstStyle/>
          <a:p>
            <a:r>
              <a:rPr lang="en-US" dirty="0"/>
              <a:t>Association Studies</a:t>
            </a:r>
          </a:p>
        </p:txBody>
      </p:sp>
      <p:sp>
        <p:nvSpPr>
          <p:cNvPr id="5" name="Content Placeholder 4">
            <a:extLst>
              <a:ext uri="{FF2B5EF4-FFF2-40B4-BE49-F238E27FC236}">
                <a16:creationId xmlns:a16="http://schemas.microsoft.com/office/drawing/2014/main" id="{7098908E-F211-1421-34FA-9CE7A939A23A}"/>
              </a:ext>
            </a:extLst>
          </p:cNvPr>
          <p:cNvSpPr>
            <a:spLocks noGrp="1"/>
          </p:cNvSpPr>
          <p:nvPr>
            <p:ph idx="1"/>
          </p:nvPr>
        </p:nvSpPr>
        <p:spPr/>
        <p:txBody>
          <a:bodyPr/>
          <a:lstStyle/>
          <a:p>
            <a:pPr marL="514350" indent="-457200"/>
            <a:r>
              <a:rPr lang="en-US" dirty="0"/>
              <a:t>Test for the statistical relationship between genotype and phenotype</a:t>
            </a:r>
          </a:p>
          <a:p>
            <a:pPr marL="514350" indent="-457200"/>
            <a:r>
              <a:rPr lang="en-US" dirty="0"/>
              <a:t>Candidate gene association studies</a:t>
            </a:r>
          </a:p>
          <a:p>
            <a:pPr marL="514350" indent="-457200"/>
            <a:r>
              <a:rPr lang="en-US" dirty="0"/>
              <a:t>Genome-wide association studies (GWAS)</a:t>
            </a:r>
          </a:p>
          <a:p>
            <a:pPr marL="514350" indent="-457200"/>
            <a:r>
              <a:rPr lang="en-US" dirty="0"/>
              <a:t>Next generation sequencing association studies</a:t>
            </a:r>
          </a:p>
        </p:txBody>
      </p:sp>
      <p:sp>
        <p:nvSpPr>
          <p:cNvPr id="3" name="Slide Number Placeholder 2">
            <a:extLst>
              <a:ext uri="{FF2B5EF4-FFF2-40B4-BE49-F238E27FC236}">
                <a16:creationId xmlns:a16="http://schemas.microsoft.com/office/drawing/2014/main" id="{B0D28082-3FD5-55C5-0092-EBFCAFA4F8DC}"/>
              </a:ext>
            </a:extLst>
          </p:cNvPr>
          <p:cNvSpPr>
            <a:spLocks noGrp="1"/>
          </p:cNvSpPr>
          <p:nvPr>
            <p:ph type="sldNum" sz="quarter" idx="12"/>
          </p:nvPr>
        </p:nvSpPr>
        <p:spPr/>
        <p:txBody>
          <a:bodyPr/>
          <a:lstStyle/>
          <a:p>
            <a:fld id="{8C17B027-94AA-734A-ACC9-170E40BA2B18}" type="slidenum">
              <a:rPr lang="en-US" smtClean="0"/>
              <a:pPr/>
              <a:t>15</a:t>
            </a:fld>
            <a:endParaRPr lang="en-US"/>
          </a:p>
        </p:txBody>
      </p:sp>
    </p:spTree>
    <p:extLst>
      <p:ext uri="{BB962C8B-B14F-4D97-AF65-F5344CB8AC3E}">
        <p14:creationId xmlns:p14="http://schemas.microsoft.com/office/powerpoint/2010/main" val="426509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B455455-F610-B7C8-11BB-79FD495D29C9}"/>
              </a:ext>
            </a:extLst>
          </p:cNvPr>
          <p:cNvSpPr txBox="1"/>
          <p:nvPr/>
        </p:nvSpPr>
        <p:spPr>
          <a:xfrm>
            <a:off x="4481563" y="5174373"/>
            <a:ext cx="4526280" cy="207749"/>
          </a:xfrm>
          <a:prstGeom prst="rect">
            <a:avLst/>
          </a:prstGeom>
          <a:noFill/>
        </p:spPr>
        <p:txBody>
          <a:bodyPr wrap="square" rtlCol="0">
            <a:spAutoFit/>
          </a:bodyPr>
          <a:lstStyle/>
          <a:p>
            <a:pPr algn="r"/>
            <a:r>
              <a:rPr lang="en-US" sz="750" dirty="0" err="1">
                <a:latin typeface="Arial" panose="020B0604020202020204" pitchFamily="34" charset="0"/>
                <a:cs typeface="Arial" panose="020B0604020202020204" pitchFamily="34" charset="0"/>
              </a:rPr>
              <a:t>Atonarakis</a:t>
            </a:r>
            <a:r>
              <a:rPr lang="en-US" sz="750" dirty="0">
                <a:latin typeface="Arial" panose="020B0604020202020204" pitchFamily="34" charset="0"/>
                <a:cs typeface="Arial" panose="020B0604020202020204" pitchFamily="34" charset="0"/>
              </a:rPr>
              <a:t> </a:t>
            </a:r>
            <a:r>
              <a:rPr lang="en-US" sz="750" i="1" dirty="0">
                <a:latin typeface="Arial" panose="020B0604020202020204" pitchFamily="34" charset="0"/>
                <a:cs typeface="Arial" panose="020B0604020202020204" pitchFamily="34" charset="0"/>
              </a:rPr>
              <a:t>et al.,</a:t>
            </a:r>
            <a:r>
              <a:rPr lang="en-US" sz="750" dirty="0">
                <a:latin typeface="Arial" panose="020B0604020202020204" pitchFamily="34" charset="0"/>
                <a:cs typeface="Arial" panose="020B0604020202020204" pitchFamily="34" charset="0"/>
              </a:rPr>
              <a:t> </a:t>
            </a:r>
            <a:r>
              <a:rPr lang="en-US" sz="750" i="1" dirty="0">
                <a:latin typeface="Arial" panose="020B0604020202020204" pitchFamily="34" charset="0"/>
                <a:cs typeface="Arial" panose="020B0604020202020204" pitchFamily="34" charset="0"/>
              </a:rPr>
              <a:t>Nature Reviews Genetics </a:t>
            </a:r>
            <a:r>
              <a:rPr lang="en-US" sz="750" dirty="0">
                <a:latin typeface="Arial" panose="020B0604020202020204" pitchFamily="34" charset="0"/>
                <a:cs typeface="Arial" panose="020B0604020202020204" pitchFamily="34" charset="0"/>
              </a:rPr>
              <a:t>2010</a:t>
            </a:r>
          </a:p>
        </p:txBody>
      </p:sp>
      <p:pic>
        <p:nvPicPr>
          <p:cNvPr id="7" name="Picture 6">
            <a:extLst>
              <a:ext uri="{FF2B5EF4-FFF2-40B4-BE49-F238E27FC236}">
                <a16:creationId xmlns:a16="http://schemas.microsoft.com/office/drawing/2014/main" id="{822E85F4-0B6F-497B-BC6A-772323FAFA6B}"/>
              </a:ext>
            </a:extLst>
          </p:cNvPr>
          <p:cNvPicPr>
            <a:picLocks noChangeAspect="1"/>
          </p:cNvPicPr>
          <p:nvPr/>
        </p:nvPicPr>
        <p:blipFill>
          <a:blip r:embed="rId3"/>
          <a:stretch>
            <a:fillRect/>
          </a:stretch>
        </p:blipFill>
        <p:spPr>
          <a:xfrm>
            <a:off x="868680" y="996648"/>
            <a:ext cx="7225766" cy="3721704"/>
          </a:xfrm>
          <a:prstGeom prst="rect">
            <a:avLst/>
          </a:prstGeom>
        </p:spPr>
      </p:pic>
      <p:sp>
        <p:nvSpPr>
          <p:cNvPr id="3" name="Title 1">
            <a:extLst>
              <a:ext uri="{FF2B5EF4-FFF2-40B4-BE49-F238E27FC236}">
                <a16:creationId xmlns:a16="http://schemas.microsoft.com/office/drawing/2014/main" id="{D159D650-AA98-0A4B-813E-01348BDA04BB}"/>
              </a:ext>
            </a:extLst>
          </p:cNvPr>
          <p:cNvSpPr>
            <a:spLocks noGrp="1"/>
          </p:cNvSpPr>
          <p:nvPr>
            <p:ph type="title"/>
          </p:nvPr>
        </p:nvSpPr>
        <p:spPr>
          <a:xfrm>
            <a:off x="164076" y="176137"/>
            <a:ext cx="8979925" cy="994172"/>
          </a:xfrm>
        </p:spPr>
        <p:txBody>
          <a:bodyPr/>
          <a:lstStyle/>
          <a:p>
            <a:r>
              <a:rPr lang="en-US" dirty="0"/>
              <a:t>Polygenic traits: Identify the genetic variants</a:t>
            </a:r>
          </a:p>
        </p:txBody>
      </p:sp>
      <p:sp>
        <p:nvSpPr>
          <p:cNvPr id="4" name="Rectangle 3">
            <a:extLst>
              <a:ext uri="{FF2B5EF4-FFF2-40B4-BE49-F238E27FC236}">
                <a16:creationId xmlns:a16="http://schemas.microsoft.com/office/drawing/2014/main" id="{081710BE-F5FE-F45D-C047-C9DDF925454A}"/>
              </a:ext>
            </a:extLst>
          </p:cNvPr>
          <p:cNvSpPr/>
          <p:nvPr/>
        </p:nvSpPr>
        <p:spPr>
          <a:xfrm>
            <a:off x="6137675" y="2711860"/>
            <a:ext cx="1777181" cy="1430594"/>
          </a:xfrm>
          <a:prstGeom prst="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00"/>
          </a:p>
        </p:txBody>
      </p:sp>
    </p:spTree>
    <p:extLst>
      <p:ext uri="{BB962C8B-B14F-4D97-AF65-F5344CB8AC3E}">
        <p14:creationId xmlns:p14="http://schemas.microsoft.com/office/powerpoint/2010/main" val="3590371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2ECB1-C0A8-D87E-894F-11BEEE065C0D}"/>
              </a:ext>
            </a:extLst>
          </p:cNvPr>
          <p:cNvSpPr>
            <a:spLocks noGrp="1"/>
          </p:cNvSpPr>
          <p:nvPr>
            <p:ph type="title"/>
          </p:nvPr>
        </p:nvSpPr>
        <p:spPr/>
        <p:txBody>
          <a:bodyPr/>
          <a:lstStyle/>
          <a:p>
            <a:r>
              <a:rPr lang="en-US" dirty="0"/>
              <a:t>The genetic underpinnings of common complex traits (i.e. polygenic traits)</a:t>
            </a:r>
          </a:p>
        </p:txBody>
      </p:sp>
      <p:sp>
        <p:nvSpPr>
          <p:cNvPr id="3" name="Content Placeholder 2">
            <a:extLst>
              <a:ext uri="{FF2B5EF4-FFF2-40B4-BE49-F238E27FC236}">
                <a16:creationId xmlns:a16="http://schemas.microsoft.com/office/drawing/2014/main" id="{548D57B4-5E13-2F7C-2177-298E70AEDFFE}"/>
              </a:ext>
            </a:extLst>
          </p:cNvPr>
          <p:cNvSpPr>
            <a:spLocks noGrp="1"/>
          </p:cNvSpPr>
          <p:nvPr>
            <p:ph idx="1"/>
          </p:nvPr>
        </p:nvSpPr>
        <p:spPr/>
        <p:txBody>
          <a:bodyPr>
            <a:normAutofit/>
          </a:bodyPr>
          <a:lstStyle/>
          <a:p>
            <a:r>
              <a:rPr lang="en-US" sz="2000" dirty="0">
                <a:cs typeface="Arial" pitchFamily="34" charset="0"/>
              </a:rPr>
              <a:t>Multiple variants with small effect sizes </a:t>
            </a:r>
          </a:p>
          <a:p>
            <a:r>
              <a:rPr lang="en-US" sz="2000" dirty="0">
                <a:cs typeface="Arial" pitchFamily="34" charset="0"/>
              </a:rPr>
              <a:t>Environment plays a role in etiology</a:t>
            </a:r>
          </a:p>
          <a:p>
            <a:r>
              <a:rPr lang="en-US" sz="2000" dirty="0">
                <a:cs typeface="Arial" pitchFamily="34" charset="0"/>
              </a:rPr>
              <a:t>Many adult-onset phenotypes</a:t>
            </a:r>
          </a:p>
          <a:p>
            <a:r>
              <a:rPr lang="en-US" sz="2000" dirty="0">
                <a:cs typeface="Arial" pitchFamily="34" charset="0"/>
              </a:rPr>
              <a:t>E.g., diabetes, asthma, height, blood pressure, Crohn’s disease, schizophrenia, age-related macular degeneration, etc.</a:t>
            </a:r>
          </a:p>
          <a:p>
            <a:endParaRPr lang="en-US" sz="2400" dirty="0"/>
          </a:p>
        </p:txBody>
      </p:sp>
    </p:spTree>
    <p:extLst>
      <p:ext uri="{BB962C8B-B14F-4D97-AF65-F5344CB8AC3E}">
        <p14:creationId xmlns:p14="http://schemas.microsoft.com/office/powerpoint/2010/main" val="621185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DE2E1-0904-E153-5FD6-9FF96C359CAA}"/>
              </a:ext>
            </a:extLst>
          </p:cNvPr>
          <p:cNvSpPr>
            <a:spLocks noGrp="1"/>
          </p:cNvSpPr>
          <p:nvPr>
            <p:ph type="title"/>
          </p:nvPr>
        </p:nvSpPr>
        <p:spPr/>
        <p:txBody>
          <a:bodyPr/>
          <a:lstStyle/>
          <a:p>
            <a:r>
              <a:rPr lang="en-US" dirty="0"/>
              <a:t>Association studies</a:t>
            </a:r>
          </a:p>
        </p:txBody>
      </p:sp>
      <p:sp>
        <p:nvSpPr>
          <p:cNvPr id="3" name="Content Placeholder 2">
            <a:extLst>
              <a:ext uri="{FF2B5EF4-FFF2-40B4-BE49-F238E27FC236}">
                <a16:creationId xmlns:a16="http://schemas.microsoft.com/office/drawing/2014/main" id="{0C1865E2-490C-1D67-A9B2-5F0EFA3967BB}"/>
              </a:ext>
            </a:extLst>
          </p:cNvPr>
          <p:cNvSpPr>
            <a:spLocks noGrp="1"/>
          </p:cNvSpPr>
          <p:nvPr>
            <p:ph idx="1"/>
          </p:nvPr>
        </p:nvSpPr>
        <p:spPr>
          <a:xfrm>
            <a:off x="628650" y="1654969"/>
            <a:ext cx="4327814" cy="3263504"/>
          </a:xfrm>
        </p:spPr>
        <p:txBody>
          <a:bodyPr>
            <a:normAutofit lnSpcReduction="10000"/>
          </a:bodyPr>
          <a:lstStyle/>
          <a:p>
            <a:r>
              <a:rPr lang="en-US" dirty="0"/>
              <a:t>Test for the statistical association between genotype and phenotype</a:t>
            </a:r>
          </a:p>
          <a:p>
            <a:r>
              <a:rPr lang="en-US" dirty="0"/>
              <a:t>Typically, under an </a:t>
            </a:r>
            <a:r>
              <a:rPr lang="en-US" u="sng" dirty="0"/>
              <a:t>additive genetic model</a:t>
            </a:r>
            <a:r>
              <a:rPr lang="en-US" dirty="0"/>
              <a:t>, where each additional minor allele changes the phenotype by the same amount (See Plot)</a:t>
            </a:r>
          </a:p>
          <a:p>
            <a:r>
              <a:rPr lang="en-US" dirty="0"/>
              <a:t>Though less frequently done, you can also test for an association under dominant, recessive, or genotype models</a:t>
            </a:r>
          </a:p>
          <a:p>
            <a:endParaRPr lang="en-US" dirty="0"/>
          </a:p>
        </p:txBody>
      </p:sp>
      <p:pic>
        <p:nvPicPr>
          <p:cNvPr id="4" name="Picture 3">
            <a:extLst>
              <a:ext uri="{FF2B5EF4-FFF2-40B4-BE49-F238E27FC236}">
                <a16:creationId xmlns:a16="http://schemas.microsoft.com/office/drawing/2014/main" id="{CB618C9E-5EB8-3626-498D-F18992C776B4}"/>
              </a:ext>
            </a:extLst>
          </p:cNvPr>
          <p:cNvPicPr>
            <a:picLocks noChangeAspect="1"/>
          </p:cNvPicPr>
          <p:nvPr/>
        </p:nvPicPr>
        <p:blipFill>
          <a:blip r:embed="rId2"/>
          <a:stretch>
            <a:fillRect/>
          </a:stretch>
        </p:blipFill>
        <p:spPr>
          <a:xfrm>
            <a:off x="5264483" y="1545241"/>
            <a:ext cx="3172936" cy="2587277"/>
          </a:xfrm>
          <a:prstGeom prst="rect">
            <a:avLst/>
          </a:prstGeom>
        </p:spPr>
      </p:pic>
      <p:sp>
        <p:nvSpPr>
          <p:cNvPr id="5" name="TextBox 4">
            <a:extLst>
              <a:ext uri="{FF2B5EF4-FFF2-40B4-BE49-F238E27FC236}">
                <a16:creationId xmlns:a16="http://schemas.microsoft.com/office/drawing/2014/main" id="{08E06CA9-C2EF-0F86-3ECC-135A4F89FDF9}"/>
              </a:ext>
            </a:extLst>
          </p:cNvPr>
          <p:cNvSpPr txBox="1"/>
          <p:nvPr/>
        </p:nvSpPr>
        <p:spPr>
          <a:xfrm>
            <a:off x="5181355" y="4208573"/>
            <a:ext cx="3734045" cy="769441"/>
          </a:xfrm>
          <a:prstGeom prst="rect">
            <a:avLst/>
          </a:prstGeom>
          <a:noFill/>
        </p:spPr>
        <p:txBody>
          <a:bodyPr wrap="square" rtlCol="0">
            <a:spAutoFit/>
          </a:bodyPr>
          <a:lstStyle/>
          <a:p>
            <a:r>
              <a:rPr lang="en-US" sz="1100" dirty="0">
                <a:latin typeface="Ayuthaya" pitchFamily="2" charset="-34"/>
                <a:ea typeface="Ayuthaya" pitchFamily="2" charset="-34"/>
                <a:cs typeface="Ayuthaya" pitchFamily="2" charset="-34"/>
              </a:rPr>
              <a:t>Quantitative outcomes are prettier to plot, but the same general approach (with slightly different statistical regressions) applies for case-control GWAS</a:t>
            </a:r>
          </a:p>
        </p:txBody>
      </p:sp>
    </p:spTree>
    <p:extLst>
      <p:ext uri="{BB962C8B-B14F-4D97-AF65-F5344CB8AC3E}">
        <p14:creationId xmlns:p14="http://schemas.microsoft.com/office/powerpoint/2010/main" val="4250851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6F8D-3D25-0721-06E8-28A4187F419C}"/>
              </a:ext>
            </a:extLst>
          </p:cNvPr>
          <p:cNvSpPr>
            <a:spLocks noGrp="1"/>
          </p:cNvSpPr>
          <p:nvPr>
            <p:ph type="title"/>
          </p:nvPr>
        </p:nvSpPr>
        <p:spPr/>
        <p:txBody>
          <a:bodyPr/>
          <a:lstStyle/>
          <a:p>
            <a:r>
              <a:rPr lang="en-US" dirty="0"/>
              <a:t>Association Studies</a:t>
            </a:r>
          </a:p>
        </p:txBody>
      </p:sp>
      <p:sp>
        <p:nvSpPr>
          <p:cNvPr id="4" name="Slide Number Placeholder 3">
            <a:extLst>
              <a:ext uri="{FF2B5EF4-FFF2-40B4-BE49-F238E27FC236}">
                <a16:creationId xmlns:a16="http://schemas.microsoft.com/office/drawing/2014/main" id="{33900114-8246-B726-E0AE-E9306F03EB5B}"/>
              </a:ext>
            </a:extLst>
          </p:cNvPr>
          <p:cNvSpPr>
            <a:spLocks noGrp="1"/>
          </p:cNvSpPr>
          <p:nvPr>
            <p:ph type="sldNum" sz="quarter" idx="12"/>
          </p:nvPr>
        </p:nvSpPr>
        <p:spPr/>
        <p:txBody>
          <a:bodyPr/>
          <a:lstStyle/>
          <a:p>
            <a:fld id="{9708802B-CECE-C644-A6A3-3C9AAC922203}" type="slidenum">
              <a:rPr lang="en-US" smtClean="0"/>
              <a:pPr/>
              <a:t>19</a:t>
            </a:fld>
            <a:endParaRPr lang="en-US"/>
          </a:p>
        </p:txBody>
      </p:sp>
      <p:sp>
        <p:nvSpPr>
          <p:cNvPr id="8" name="Content Placeholder 2">
            <a:extLst>
              <a:ext uri="{FF2B5EF4-FFF2-40B4-BE49-F238E27FC236}">
                <a16:creationId xmlns:a16="http://schemas.microsoft.com/office/drawing/2014/main" id="{1C838DF8-31A2-FC0A-F16B-8AC3459CBD20}"/>
              </a:ext>
            </a:extLst>
          </p:cNvPr>
          <p:cNvSpPr txBox="1">
            <a:spLocks/>
          </p:cNvSpPr>
          <p:nvPr/>
        </p:nvSpPr>
        <p:spPr bwMode="auto">
          <a:xfrm>
            <a:off x="419100" y="1238250"/>
            <a:ext cx="8305800" cy="3238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lvl1pPr marL="342900" indent="-342900" algn="l" rtl="0" eaLnBrk="1" fontAlgn="base" hangingPunct="1">
              <a:spcBef>
                <a:spcPts val="1000"/>
              </a:spcBef>
              <a:spcAft>
                <a:spcPct val="0"/>
              </a:spcAft>
              <a:buClr>
                <a:srgbClr val="B99B49"/>
              </a:buClr>
              <a:buFont typeface="Wingdings" charset="2"/>
              <a:buChar char="§"/>
              <a:defRPr sz="2400">
                <a:solidFill>
                  <a:schemeClr val="tx1"/>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a:lstStyle>
          <a:p>
            <a:r>
              <a:rPr lang="en-US" u="sng" kern="0" dirty="0"/>
              <a:t>Candidate gene studies</a:t>
            </a:r>
            <a:r>
              <a:rPr lang="en-US" kern="0" dirty="0"/>
              <a:t> test a limited number of variants/genes based on a priori information (e.g., biological hypotheses or focus on a linkage peak)</a:t>
            </a:r>
          </a:p>
          <a:p>
            <a:pPr lvl="1"/>
            <a:r>
              <a:rPr lang="en-US" kern="0" dirty="0"/>
              <a:t>Very high false positive rate</a:t>
            </a:r>
          </a:p>
        </p:txBody>
      </p:sp>
    </p:spTree>
    <p:extLst>
      <p:ext uri="{BB962C8B-B14F-4D97-AF65-F5344CB8AC3E}">
        <p14:creationId xmlns:p14="http://schemas.microsoft.com/office/powerpoint/2010/main" val="545224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6F8D-3D25-0721-06E8-28A4187F419C}"/>
              </a:ext>
            </a:extLst>
          </p:cNvPr>
          <p:cNvSpPr>
            <a:spLocks noGrp="1"/>
          </p:cNvSpPr>
          <p:nvPr>
            <p:ph type="title"/>
          </p:nvPr>
        </p:nvSpPr>
        <p:spPr/>
        <p:txBody>
          <a:bodyPr/>
          <a:lstStyle/>
          <a:p>
            <a:r>
              <a:rPr lang="en-US" dirty="0"/>
              <a:t>Association Studies</a:t>
            </a:r>
          </a:p>
        </p:txBody>
      </p:sp>
      <p:sp>
        <p:nvSpPr>
          <p:cNvPr id="4" name="Slide Number Placeholder 3">
            <a:extLst>
              <a:ext uri="{FF2B5EF4-FFF2-40B4-BE49-F238E27FC236}">
                <a16:creationId xmlns:a16="http://schemas.microsoft.com/office/drawing/2014/main" id="{33900114-8246-B726-E0AE-E9306F03EB5B}"/>
              </a:ext>
            </a:extLst>
          </p:cNvPr>
          <p:cNvSpPr>
            <a:spLocks noGrp="1"/>
          </p:cNvSpPr>
          <p:nvPr>
            <p:ph type="sldNum" sz="quarter" idx="12"/>
          </p:nvPr>
        </p:nvSpPr>
        <p:spPr/>
        <p:txBody>
          <a:bodyPr/>
          <a:lstStyle/>
          <a:p>
            <a:fld id="{9708802B-CECE-C644-A6A3-3C9AAC922203}" type="slidenum">
              <a:rPr lang="en-US" smtClean="0"/>
              <a:pPr/>
              <a:t>20</a:t>
            </a:fld>
            <a:endParaRPr lang="en-US"/>
          </a:p>
        </p:txBody>
      </p:sp>
      <p:sp>
        <p:nvSpPr>
          <p:cNvPr id="8" name="Content Placeholder 2">
            <a:extLst>
              <a:ext uri="{FF2B5EF4-FFF2-40B4-BE49-F238E27FC236}">
                <a16:creationId xmlns:a16="http://schemas.microsoft.com/office/drawing/2014/main" id="{1C838DF8-31A2-FC0A-F16B-8AC3459CBD20}"/>
              </a:ext>
            </a:extLst>
          </p:cNvPr>
          <p:cNvSpPr txBox="1">
            <a:spLocks/>
          </p:cNvSpPr>
          <p:nvPr/>
        </p:nvSpPr>
        <p:spPr bwMode="auto">
          <a:xfrm>
            <a:off x="419100" y="1238250"/>
            <a:ext cx="8305800" cy="3238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lvl1pPr marL="342900" indent="-342900" algn="l" rtl="0" eaLnBrk="1" fontAlgn="base" hangingPunct="1">
              <a:spcBef>
                <a:spcPts val="1000"/>
              </a:spcBef>
              <a:spcAft>
                <a:spcPct val="0"/>
              </a:spcAft>
              <a:buClr>
                <a:srgbClr val="B99B49"/>
              </a:buClr>
              <a:buFont typeface="Wingdings" charset="2"/>
              <a:buChar char="§"/>
              <a:defRPr sz="2400">
                <a:solidFill>
                  <a:schemeClr val="tx1"/>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a:lstStyle>
          <a:p>
            <a:r>
              <a:rPr lang="en-US" u="sng" kern="0" dirty="0"/>
              <a:t>Genome-wide association studies (GWAS)</a:t>
            </a:r>
            <a:r>
              <a:rPr lang="en-US" kern="0" dirty="0"/>
              <a:t> test millions of common genetic variants across the genome for a statistical relationship with your phenotype of interest</a:t>
            </a:r>
          </a:p>
          <a:p>
            <a:pPr lvl="1"/>
            <a:r>
              <a:rPr lang="en-US" dirty="0">
                <a:cs typeface="Arial" pitchFamily="34" charset="0"/>
              </a:rPr>
              <a:t>i.e. Is there a significant difference in genotypes between cases and controls? across quantitative outcomes?</a:t>
            </a:r>
            <a:endParaRPr lang="en-US" kern="0" dirty="0"/>
          </a:p>
        </p:txBody>
      </p:sp>
    </p:spTree>
    <p:extLst>
      <p:ext uri="{BB962C8B-B14F-4D97-AF65-F5344CB8AC3E}">
        <p14:creationId xmlns:p14="http://schemas.microsoft.com/office/powerpoint/2010/main" val="3917704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E622886-959C-80D5-EFA9-A376C3C88BF0}"/>
              </a:ext>
            </a:extLst>
          </p:cNvPr>
          <p:cNvSpPr txBox="1"/>
          <p:nvPr/>
        </p:nvSpPr>
        <p:spPr>
          <a:xfrm>
            <a:off x="4191000" y="1582387"/>
            <a:ext cx="4191000" cy="1323439"/>
          </a:xfrm>
          <a:prstGeom prst="rect">
            <a:avLst/>
          </a:prstGeom>
          <a:noFill/>
        </p:spPr>
        <p:txBody>
          <a:bodyPr wrap="square">
            <a:spAutoFit/>
          </a:bodyPr>
          <a:lstStyle/>
          <a:p>
            <a:pPr lvl="1"/>
            <a:r>
              <a:rPr lang="en-US" sz="2000" kern="0" dirty="0">
                <a:latin typeface="Helvetica" pitchFamily="2" charset="0"/>
              </a:rPr>
              <a:t>~1 million variants (e.g., SNPs and indels) are directly measured on a microarray with oligonucleotide probes</a:t>
            </a:r>
          </a:p>
        </p:txBody>
      </p:sp>
      <p:sp>
        <p:nvSpPr>
          <p:cNvPr id="9" name="TextBox 8">
            <a:extLst>
              <a:ext uri="{FF2B5EF4-FFF2-40B4-BE49-F238E27FC236}">
                <a16:creationId xmlns:a16="http://schemas.microsoft.com/office/drawing/2014/main" id="{BA309374-34C1-2034-44B5-AB870A1BCAC7}"/>
              </a:ext>
            </a:extLst>
          </p:cNvPr>
          <p:cNvSpPr txBox="1"/>
          <p:nvPr/>
        </p:nvSpPr>
        <p:spPr>
          <a:xfrm>
            <a:off x="4256871" y="3082770"/>
            <a:ext cx="4402158" cy="1231106"/>
          </a:xfrm>
          <a:prstGeom prst="rect">
            <a:avLst/>
          </a:prstGeom>
          <a:noFill/>
        </p:spPr>
        <p:txBody>
          <a:bodyPr wrap="square" lIns="0" tIns="0" rIns="0" bIns="0">
            <a:spAutoFit/>
          </a:bodyPr>
          <a:lstStyle/>
          <a:p>
            <a:pPr lvl="1"/>
            <a:r>
              <a:rPr lang="en-US" sz="2000" kern="0" dirty="0">
                <a:latin typeface="Helvetica" pitchFamily="2" charset="0"/>
              </a:rPr>
              <a:t>Then millions of additional variants are inferred through imputation using large whole-genome sequencing reference panels</a:t>
            </a:r>
          </a:p>
        </p:txBody>
      </p:sp>
      <p:pic>
        <p:nvPicPr>
          <p:cNvPr id="10" name="Picture 9">
            <a:extLst>
              <a:ext uri="{FF2B5EF4-FFF2-40B4-BE49-F238E27FC236}">
                <a16:creationId xmlns:a16="http://schemas.microsoft.com/office/drawing/2014/main" id="{959989B4-C127-2BA9-F65F-D6956D724E75}"/>
              </a:ext>
            </a:extLst>
          </p:cNvPr>
          <p:cNvPicPr>
            <a:picLocks noChangeAspect="1"/>
          </p:cNvPicPr>
          <p:nvPr/>
        </p:nvPicPr>
        <p:blipFill>
          <a:blip r:embed="rId2"/>
          <a:stretch>
            <a:fillRect/>
          </a:stretch>
        </p:blipFill>
        <p:spPr>
          <a:xfrm>
            <a:off x="0" y="0"/>
            <a:ext cx="4689835" cy="5715000"/>
          </a:xfrm>
          <a:prstGeom prst="rect">
            <a:avLst/>
          </a:prstGeom>
        </p:spPr>
      </p:pic>
      <p:sp>
        <p:nvSpPr>
          <p:cNvPr id="11" name="TextBox 10">
            <a:extLst>
              <a:ext uri="{FF2B5EF4-FFF2-40B4-BE49-F238E27FC236}">
                <a16:creationId xmlns:a16="http://schemas.microsoft.com/office/drawing/2014/main" id="{A96C5060-977E-D48C-FA8B-3F395B3E7FA9}"/>
              </a:ext>
            </a:extLst>
          </p:cNvPr>
          <p:cNvSpPr txBox="1"/>
          <p:nvPr/>
        </p:nvSpPr>
        <p:spPr>
          <a:xfrm>
            <a:off x="4190999" y="205508"/>
            <a:ext cx="4953001" cy="1015663"/>
          </a:xfrm>
          <a:prstGeom prst="rect">
            <a:avLst/>
          </a:prstGeom>
          <a:noFill/>
        </p:spPr>
        <p:txBody>
          <a:bodyPr wrap="square">
            <a:spAutoFit/>
          </a:bodyPr>
          <a:lstStyle/>
          <a:p>
            <a:pPr lvl="1"/>
            <a:r>
              <a:rPr lang="en-US" sz="2000" kern="0" dirty="0">
                <a:latin typeface="Helvetica" pitchFamily="2" charset="0"/>
              </a:rPr>
              <a:t>Consider: homogeneity, trait prevalence, inclusion and equity, genetic ancestry, sample size</a:t>
            </a:r>
          </a:p>
        </p:txBody>
      </p:sp>
      <p:sp>
        <p:nvSpPr>
          <p:cNvPr id="13" name="TextBox 12">
            <a:extLst>
              <a:ext uri="{FF2B5EF4-FFF2-40B4-BE49-F238E27FC236}">
                <a16:creationId xmlns:a16="http://schemas.microsoft.com/office/drawing/2014/main" id="{0F9F2926-D5AF-3CB8-46E2-180C2658AE7F}"/>
              </a:ext>
            </a:extLst>
          </p:cNvPr>
          <p:cNvSpPr txBox="1"/>
          <p:nvPr/>
        </p:nvSpPr>
        <p:spPr>
          <a:xfrm>
            <a:off x="4172445" y="4585567"/>
            <a:ext cx="4689834" cy="1015663"/>
          </a:xfrm>
          <a:prstGeom prst="rect">
            <a:avLst/>
          </a:prstGeom>
          <a:noFill/>
        </p:spPr>
        <p:txBody>
          <a:bodyPr wrap="square">
            <a:spAutoFit/>
          </a:bodyPr>
          <a:lstStyle/>
          <a:p>
            <a:pPr lvl="1"/>
            <a:r>
              <a:rPr lang="en-US" sz="2000" kern="0" dirty="0">
                <a:latin typeface="Helvetica" pitchFamily="2" charset="0"/>
              </a:rPr>
              <a:t>Test for the statistical association between genotype and phenotype, one by one, at all variants</a:t>
            </a:r>
          </a:p>
        </p:txBody>
      </p:sp>
    </p:spTree>
    <p:extLst>
      <p:ext uri="{BB962C8B-B14F-4D97-AF65-F5344CB8AC3E}">
        <p14:creationId xmlns:p14="http://schemas.microsoft.com/office/powerpoint/2010/main" val="110889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20846-107F-9689-D152-3A2A9F8D23C1}"/>
              </a:ext>
            </a:extLst>
          </p:cNvPr>
          <p:cNvSpPr>
            <a:spLocks noGrp="1"/>
          </p:cNvSpPr>
          <p:nvPr>
            <p:ph type="title"/>
          </p:nvPr>
        </p:nvSpPr>
        <p:spPr/>
        <p:txBody>
          <a:bodyPr/>
          <a:lstStyle/>
          <a:p>
            <a:r>
              <a:rPr lang="en-US" dirty="0"/>
              <a:t>Target population</a:t>
            </a:r>
          </a:p>
        </p:txBody>
      </p:sp>
      <p:sp>
        <p:nvSpPr>
          <p:cNvPr id="3" name="Content Placeholder 2">
            <a:extLst>
              <a:ext uri="{FF2B5EF4-FFF2-40B4-BE49-F238E27FC236}">
                <a16:creationId xmlns:a16="http://schemas.microsoft.com/office/drawing/2014/main" id="{E2E20E70-07DA-3362-A2AB-283D177BFF83}"/>
              </a:ext>
            </a:extLst>
          </p:cNvPr>
          <p:cNvSpPr>
            <a:spLocks noGrp="1"/>
          </p:cNvSpPr>
          <p:nvPr>
            <p:ph idx="1"/>
          </p:nvPr>
        </p:nvSpPr>
        <p:spPr/>
        <p:txBody>
          <a:bodyPr/>
          <a:lstStyle/>
          <a:p>
            <a:r>
              <a:rPr lang="en-US" dirty="0"/>
              <a:t>Historically, conduct GWAS in a single homogeneous genetic ancestry</a:t>
            </a:r>
          </a:p>
          <a:p>
            <a:pPr lvl="1"/>
            <a:r>
              <a:rPr lang="en-US" dirty="0"/>
              <a:t>Most GWAS are in individuals of European ancestry</a:t>
            </a:r>
          </a:p>
          <a:p>
            <a:pPr lvl="1"/>
            <a:r>
              <a:rPr lang="en-US" dirty="0"/>
              <a:t>Avoids “population stratification” – ancestral differences in allele frequencies that lead to spurious associations with the phenotype</a:t>
            </a:r>
          </a:p>
          <a:p>
            <a:endParaRPr lang="en-US" dirty="0"/>
          </a:p>
        </p:txBody>
      </p:sp>
      <p:sp>
        <p:nvSpPr>
          <p:cNvPr id="5" name="Slide Number Placeholder 4">
            <a:extLst>
              <a:ext uri="{FF2B5EF4-FFF2-40B4-BE49-F238E27FC236}">
                <a16:creationId xmlns:a16="http://schemas.microsoft.com/office/drawing/2014/main" id="{5CBD6610-E2D0-36FE-4B7C-91B518FEE80C}"/>
              </a:ext>
            </a:extLst>
          </p:cNvPr>
          <p:cNvSpPr>
            <a:spLocks noGrp="1"/>
          </p:cNvSpPr>
          <p:nvPr>
            <p:ph type="sldNum" sz="quarter" idx="12"/>
          </p:nvPr>
        </p:nvSpPr>
        <p:spPr/>
        <p:txBody>
          <a:bodyPr/>
          <a:lstStyle/>
          <a:p>
            <a:fld id="{9708802B-CECE-C644-A6A3-3C9AAC922203}" type="slidenum">
              <a:rPr lang="en-US" smtClean="0"/>
              <a:pPr/>
              <a:t>22</a:t>
            </a:fld>
            <a:endParaRPr lang="en-US"/>
          </a:p>
        </p:txBody>
      </p:sp>
    </p:spTree>
    <p:extLst>
      <p:ext uri="{BB962C8B-B14F-4D97-AF65-F5344CB8AC3E}">
        <p14:creationId xmlns:p14="http://schemas.microsoft.com/office/powerpoint/2010/main" val="700622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E175-75DA-B8E0-6662-D66BF7528D78}"/>
              </a:ext>
            </a:extLst>
          </p:cNvPr>
          <p:cNvSpPr>
            <a:spLocks noGrp="1"/>
          </p:cNvSpPr>
          <p:nvPr>
            <p:ph type="title"/>
          </p:nvPr>
        </p:nvSpPr>
        <p:spPr>
          <a:xfrm>
            <a:off x="451809" y="285751"/>
            <a:ext cx="7886700" cy="994172"/>
          </a:xfrm>
        </p:spPr>
        <p:txBody>
          <a:bodyPr/>
          <a:lstStyle/>
          <a:p>
            <a:r>
              <a:rPr lang="en-US" dirty="0"/>
              <a:t>Population Stratification</a:t>
            </a:r>
          </a:p>
        </p:txBody>
      </p:sp>
      <p:pic>
        <p:nvPicPr>
          <p:cNvPr id="4" name="Picture 3" descr="a group of individuals labeled T2D cases and a group of individuals labeled T2D controls">
            <a:extLst>
              <a:ext uri="{FF2B5EF4-FFF2-40B4-BE49-F238E27FC236}">
                <a16:creationId xmlns:a16="http://schemas.microsoft.com/office/drawing/2014/main" id="{91F46F28-2771-A176-BDB5-6B4C802DF648}"/>
              </a:ext>
            </a:extLst>
          </p:cNvPr>
          <p:cNvPicPr>
            <a:picLocks noChangeAspect="1"/>
          </p:cNvPicPr>
          <p:nvPr/>
        </p:nvPicPr>
        <p:blipFill>
          <a:blip r:embed="rId2"/>
          <a:srcRect t="-731" b="57999"/>
          <a:stretch/>
        </p:blipFill>
        <p:spPr>
          <a:xfrm>
            <a:off x="2527540" y="1081536"/>
            <a:ext cx="3748178" cy="1442770"/>
          </a:xfrm>
          <a:prstGeom prst="rect">
            <a:avLst/>
          </a:prstGeom>
        </p:spPr>
      </p:pic>
      <p:sp>
        <p:nvSpPr>
          <p:cNvPr id="6" name="Rectangle 5">
            <a:extLst>
              <a:ext uri="{FF2B5EF4-FFF2-40B4-BE49-F238E27FC236}">
                <a16:creationId xmlns:a16="http://schemas.microsoft.com/office/drawing/2014/main" id="{808C2B2D-D5F1-903C-BC95-FDE6A0AC151C}"/>
              </a:ext>
            </a:extLst>
          </p:cNvPr>
          <p:cNvSpPr/>
          <p:nvPr/>
        </p:nvSpPr>
        <p:spPr>
          <a:xfrm>
            <a:off x="2471468" y="3190695"/>
            <a:ext cx="4114800" cy="12918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Box 8">
            <a:extLst>
              <a:ext uri="{FF2B5EF4-FFF2-40B4-BE49-F238E27FC236}">
                <a16:creationId xmlns:a16="http://schemas.microsoft.com/office/drawing/2014/main" id="{4B7058E9-371A-B9B2-99FF-04C6F5A8D916}"/>
              </a:ext>
            </a:extLst>
          </p:cNvPr>
          <p:cNvSpPr txBox="1"/>
          <p:nvPr/>
        </p:nvSpPr>
        <p:spPr>
          <a:xfrm>
            <a:off x="3065612" y="2705947"/>
            <a:ext cx="3642504" cy="646331"/>
          </a:xfrm>
          <a:prstGeom prst="rect">
            <a:avLst/>
          </a:prstGeom>
          <a:noFill/>
        </p:spPr>
        <p:txBody>
          <a:bodyPr wrap="square" rtlCol="0">
            <a:spAutoFit/>
          </a:bodyPr>
          <a:lstStyle/>
          <a:p>
            <a:r>
              <a:rPr lang="en-US" sz="1800" dirty="0"/>
              <a:t>GWAS: Find SNPs with different allele frequencies between groups</a:t>
            </a:r>
          </a:p>
        </p:txBody>
      </p:sp>
    </p:spTree>
    <p:extLst>
      <p:ext uri="{BB962C8B-B14F-4D97-AF65-F5344CB8AC3E}">
        <p14:creationId xmlns:p14="http://schemas.microsoft.com/office/powerpoint/2010/main" val="1102074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0D27-C606-5B4E-0CF4-F108068F5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ACFC5-8CC2-FF12-95D2-A48CC08A0E18}"/>
              </a:ext>
            </a:extLst>
          </p:cNvPr>
          <p:cNvSpPr>
            <a:spLocks noGrp="1"/>
          </p:cNvSpPr>
          <p:nvPr>
            <p:ph type="title"/>
          </p:nvPr>
        </p:nvSpPr>
        <p:spPr>
          <a:xfrm>
            <a:off x="451809" y="285751"/>
            <a:ext cx="7886700" cy="994172"/>
          </a:xfrm>
        </p:spPr>
        <p:txBody>
          <a:bodyPr/>
          <a:lstStyle/>
          <a:p>
            <a:r>
              <a:rPr lang="en-US" dirty="0"/>
              <a:t>Population Stratification</a:t>
            </a:r>
          </a:p>
        </p:txBody>
      </p:sp>
      <p:pic>
        <p:nvPicPr>
          <p:cNvPr id="4" name="Picture 3" descr="a group of individuals labeled T2D cases colored orange and a group of individuals labeled T2D controls colored blue&#10;&#10;Now the same group below is colored with different proportions of purple and green to represent different ancestry proportions in each group. This figure represents population stratificaiton. ">
            <a:extLst>
              <a:ext uri="{FF2B5EF4-FFF2-40B4-BE49-F238E27FC236}">
                <a16:creationId xmlns:a16="http://schemas.microsoft.com/office/drawing/2014/main" id="{21466728-1D8E-A765-4E99-5E466514AB94}"/>
              </a:ext>
            </a:extLst>
          </p:cNvPr>
          <p:cNvPicPr>
            <a:picLocks noChangeAspect="1"/>
          </p:cNvPicPr>
          <p:nvPr/>
        </p:nvPicPr>
        <p:blipFill>
          <a:blip r:embed="rId3"/>
          <a:srcRect t="-731"/>
          <a:stretch/>
        </p:blipFill>
        <p:spPr>
          <a:xfrm>
            <a:off x="2527540" y="1081537"/>
            <a:ext cx="3748178" cy="3401015"/>
          </a:xfrm>
          <a:prstGeom prst="rect">
            <a:avLst/>
          </a:prstGeom>
        </p:spPr>
      </p:pic>
      <p:sp>
        <p:nvSpPr>
          <p:cNvPr id="10" name="Content Placeholder 2">
            <a:extLst>
              <a:ext uri="{FF2B5EF4-FFF2-40B4-BE49-F238E27FC236}">
                <a16:creationId xmlns:a16="http://schemas.microsoft.com/office/drawing/2014/main" id="{150594B0-A364-67E9-488F-F04D43668680}"/>
              </a:ext>
            </a:extLst>
          </p:cNvPr>
          <p:cNvSpPr txBox="1">
            <a:spLocks/>
          </p:cNvSpPr>
          <p:nvPr/>
        </p:nvSpPr>
        <p:spPr>
          <a:xfrm>
            <a:off x="628650" y="4808148"/>
            <a:ext cx="7886700" cy="479104"/>
          </a:xfrm>
          <a:prstGeom prst="rect">
            <a:avLst/>
          </a:prstGeom>
        </p:spPr>
        <p:txBody>
          <a:bodyPr vert="horz" lIns="68580" tIns="34290" rIns="68580" bIns="3429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100" dirty="0"/>
              <a:t>If cases and controls differ by other characteristics, your GWAS will find genetic associations with those other characteristics (false positive associations)</a:t>
            </a:r>
          </a:p>
        </p:txBody>
      </p:sp>
      <p:sp>
        <p:nvSpPr>
          <p:cNvPr id="12" name="TextBox 11">
            <a:extLst>
              <a:ext uri="{FF2B5EF4-FFF2-40B4-BE49-F238E27FC236}">
                <a16:creationId xmlns:a16="http://schemas.microsoft.com/office/drawing/2014/main" id="{123479E0-C40C-B677-C0E3-054371A98BF6}"/>
              </a:ext>
            </a:extLst>
          </p:cNvPr>
          <p:cNvSpPr txBox="1"/>
          <p:nvPr/>
        </p:nvSpPr>
        <p:spPr>
          <a:xfrm>
            <a:off x="3065612" y="2705947"/>
            <a:ext cx="3642504" cy="646331"/>
          </a:xfrm>
          <a:prstGeom prst="rect">
            <a:avLst/>
          </a:prstGeom>
          <a:solidFill>
            <a:schemeClr val="bg1"/>
          </a:solidFill>
        </p:spPr>
        <p:txBody>
          <a:bodyPr wrap="square" rtlCol="0">
            <a:spAutoFit/>
          </a:bodyPr>
          <a:lstStyle/>
          <a:p>
            <a:r>
              <a:rPr lang="en-US" sz="1800" dirty="0"/>
              <a:t>GWAS: Find SNPs with different allele frequencies between groups</a:t>
            </a:r>
          </a:p>
        </p:txBody>
      </p:sp>
      <p:sp>
        <p:nvSpPr>
          <p:cNvPr id="13" name="Oval 12">
            <a:extLst>
              <a:ext uri="{FF2B5EF4-FFF2-40B4-BE49-F238E27FC236}">
                <a16:creationId xmlns:a16="http://schemas.microsoft.com/office/drawing/2014/main" id="{E4E81E28-8420-051C-90DA-8F0D76A052C0}"/>
              </a:ext>
            </a:extLst>
          </p:cNvPr>
          <p:cNvSpPr/>
          <p:nvPr/>
        </p:nvSpPr>
        <p:spPr>
          <a:xfrm>
            <a:off x="628650" y="3475367"/>
            <a:ext cx="176841" cy="178308"/>
          </a:xfrm>
          <a:prstGeom prst="ellipse">
            <a:avLst/>
          </a:prstGeom>
          <a:solidFill>
            <a:srgbClr val="A055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Oval 13">
            <a:extLst>
              <a:ext uri="{FF2B5EF4-FFF2-40B4-BE49-F238E27FC236}">
                <a16:creationId xmlns:a16="http://schemas.microsoft.com/office/drawing/2014/main" id="{C16498AA-CF3C-97D6-B316-76E2F4B35C73}"/>
              </a:ext>
            </a:extLst>
          </p:cNvPr>
          <p:cNvSpPr/>
          <p:nvPr/>
        </p:nvSpPr>
        <p:spPr>
          <a:xfrm>
            <a:off x="625415" y="3821113"/>
            <a:ext cx="176841" cy="178308"/>
          </a:xfrm>
          <a:prstGeom prst="ellipse">
            <a:avLst/>
          </a:prstGeom>
          <a:solidFill>
            <a:srgbClr val="3059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Box 14">
            <a:extLst>
              <a:ext uri="{FF2B5EF4-FFF2-40B4-BE49-F238E27FC236}">
                <a16:creationId xmlns:a16="http://schemas.microsoft.com/office/drawing/2014/main" id="{A99EBD2B-BD55-15A2-B5B7-2871B423F1B8}"/>
              </a:ext>
            </a:extLst>
          </p:cNvPr>
          <p:cNvSpPr txBox="1"/>
          <p:nvPr/>
        </p:nvSpPr>
        <p:spPr>
          <a:xfrm>
            <a:off x="929496" y="3426022"/>
            <a:ext cx="1820174" cy="646331"/>
          </a:xfrm>
          <a:prstGeom prst="rect">
            <a:avLst/>
          </a:prstGeom>
          <a:solidFill>
            <a:schemeClr val="bg1"/>
          </a:solidFill>
        </p:spPr>
        <p:txBody>
          <a:bodyPr wrap="square" rtlCol="0">
            <a:spAutoFit/>
          </a:bodyPr>
          <a:lstStyle/>
          <a:p>
            <a:r>
              <a:rPr lang="en-US" sz="1800" dirty="0"/>
              <a:t>South Asian ancestry</a:t>
            </a:r>
          </a:p>
        </p:txBody>
      </p:sp>
      <p:sp>
        <p:nvSpPr>
          <p:cNvPr id="16" name="TextBox 15">
            <a:extLst>
              <a:ext uri="{FF2B5EF4-FFF2-40B4-BE49-F238E27FC236}">
                <a16:creationId xmlns:a16="http://schemas.microsoft.com/office/drawing/2014/main" id="{82CFFAC9-5919-DF38-93E0-3C599F615578}"/>
              </a:ext>
            </a:extLst>
          </p:cNvPr>
          <p:cNvSpPr txBox="1"/>
          <p:nvPr/>
        </p:nvSpPr>
        <p:spPr>
          <a:xfrm>
            <a:off x="923564" y="3771767"/>
            <a:ext cx="1820174" cy="646331"/>
          </a:xfrm>
          <a:prstGeom prst="rect">
            <a:avLst/>
          </a:prstGeom>
          <a:solidFill>
            <a:schemeClr val="bg1"/>
          </a:solidFill>
        </p:spPr>
        <p:txBody>
          <a:bodyPr wrap="square" rtlCol="0">
            <a:spAutoFit/>
          </a:bodyPr>
          <a:lstStyle/>
          <a:p>
            <a:r>
              <a:rPr lang="en-US" sz="1800" dirty="0"/>
              <a:t>European ancestry</a:t>
            </a:r>
          </a:p>
        </p:txBody>
      </p:sp>
    </p:spTree>
    <p:extLst>
      <p:ext uri="{BB962C8B-B14F-4D97-AF65-F5344CB8AC3E}">
        <p14:creationId xmlns:p14="http://schemas.microsoft.com/office/powerpoint/2010/main" val="4080008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192AD-0BDB-79AB-621E-5AC561CAE8CB}"/>
              </a:ext>
            </a:extLst>
          </p:cNvPr>
          <p:cNvSpPr>
            <a:spLocks noGrp="1"/>
          </p:cNvSpPr>
          <p:nvPr>
            <p:ph type="title"/>
          </p:nvPr>
        </p:nvSpPr>
        <p:spPr/>
        <p:txBody>
          <a:bodyPr/>
          <a:lstStyle/>
          <a:p>
            <a:r>
              <a:rPr lang="en-US" dirty="0"/>
              <a:t>How to address population stratification</a:t>
            </a:r>
          </a:p>
        </p:txBody>
      </p:sp>
      <p:sp>
        <p:nvSpPr>
          <p:cNvPr id="3" name="Content Placeholder 2">
            <a:extLst>
              <a:ext uri="{FF2B5EF4-FFF2-40B4-BE49-F238E27FC236}">
                <a16:creationId xmlns:a16="http://schemas.microsoft.com/office/drawing/2014/main" id="{EAA5E2D0-7DE5-00C6-6973-8702F32AAA76}"/>
              </a:ext>
            </a:extLst>
          </p:cNvPr>
          <p:cNvSpPr>
            <a:spLocks noGrp="1"/>
          </p:cNvSpPr>
          <p:nvPr>
            <p:ph idx="1"/>
          </p:nvPr>
        </p:nvSpPr>
        <p:spPr/>
        <p:txBody>
          <a:bodyPr/>
          <a:lstStyle/>
          <a:p>
            <a:r>
              <a:rPr lang="en-US" dirty="0"/>
              <a:t>Minimize population heterogeneity in your sample</a:t>
            </a:r>
          </a:p>
          <a:p>
            <a:r>
              <a:rPr lang="en-US" dirty="0"/>
              <a:t>Adjust for genetic ancestry as covariates</a:t>
            </a:r>
          </a:p>
          <a:p>
            <a:r>
              <a:rPr lang="en-US" dirty="0"/>
              <a:t>Fancier statistical models: mixed models with random effects for genetic ‘relatedness’</a:t>
            </a:r>
          </a:p>
          <a:p>
            <a:endParaRPr lang="en-US" dirty="0"/>
          </a:p>
        </p:txBody>
      </p:sp>
    </p:spTree>
    <p:extLst>
      <p:ext uri="{BB962C8B-B14F-4D97-AF65-F5344CB8AC3E}">
        <p14:creationId xmlns:p14="http://schemas.microsoft.com/office/powerpoint/2010/main" val="1739671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8D34A-B5ED-310B-E4AE-C5B57AED4986}"/>
              </a:ext>
            </a:extLst>
          </p:cNvPr>
          <p:cNvSpPr>
            <a:spLocks noGrp="1"/>
          </p:cNvSpPr>
          <p:nvPr>
            <p:ph type="title"/>
          </p:nvPr>
        </p:nvSpPr>
        <p:spPr/>
        <p:txBody>
          <a:bodyPr/>
          <a:lstStyle/>
          <a:p>
            <a:r>
              <a:rPr lang="en-US" dirty="0"/>
              <a:t>Genetic principal components analysis (PCA)</a:t>
            </a:r>
          </a:p>
        </p:txBody>
      </p:sp>
      <p:sp>
        <p:nvSpPr>
          <p:cNvPr id="3" name="Content Placeholder 2">
            <a:extLst>
              <a:ext uri="{FF2B5EF4-FFF2-40B4-BE49-F238E27FC236}">
                <a16:creationId xmlns:a16="http://schemas.microsoft.com/office/drawing/2014/main" id="{83852D2A-012A-67D5-F30D-470E643781C3}"/>
              </a:ext>
            </a:extLst>
          </p:cNvPr>
          <p:cNvSpPr>
            <a:spLocks noGrp="1"/>
          </p:cNvSpPr>
          <p:nvPr>
            <p:ph idx="1"/>
          </p:nvPr>
        </p:nvSpPr>
        <p:spPr>
          <a:xfrm>
            <a:off x="628650" y="1654969"/>
            <a:ext cx="3632454" cy="3263504"/>
          </a:xfrm>
        </p:spPr>
        <p:txBody>
          <a:bodyPr/>
          <a:lstStyle/>
          <a:p>
            <a:r>
              <a:rPr lang="en-US" dirty="0"/>
              <a:t>Common approach to control for population stratification</a:t>
            </a:r>
          </a:p>
          <a:p>
            <a:r>
              <a:rPr lang="en-US" dirty="0"/>
              <a:t>Genetic PCA identifies the largest axes of genetic variation across individuals</a:t>
            </a:r>
          </a:p>
          <a:p>
            <a:pPr lvl="1"/>
            <a:r>
              <a:rPr lang="en-US" dirty="0"/>
              <a:t>The biggest difference between all people is genetic ancestry</a:t>
            </a:r>
          </a:p>
          <a:p>
            <a:endParaRPr lang="en-US" dirty="0"/>
          </a:p>
        </p:txBody>
      </p:sp>
      <p:sp>
        <p:nvSpPr>
          <p:cNvPr id="4" name="TextBox 3">
            <a:extLst>
              <a:ext uri="{FF2B5EF4-FFF2-40B4-BE49-F238E27FC236}">
                <a16:creationId xmlns:a16="http://schemas.microsoft.com/office/drawing/2014/main" id="{238AE676-2513-6BED-C133-1E56944F0F29}"/>
              </a:ext>
            </a:extLst>
          </p:cNvPr>
          <p:cNvSpPr txBox="1"/>
          <p:nvPr/>
        </p:nvSpPr>
        <p:spPr>
          <a:xfrm>
            <a:off x="7525512" y="4580551"/>
            <a:ext cx="1536192" cy="253916"/>
          </a:xfrm>
          <a:prstGeom prst="rect">
            <a:avLst/>
          </a:prstGeom>
          <a:noFill/>
        </p:spPr>
        <p:txBody>
          <a:bodyPr wrap="square" rtlCol="0">
            <a:spAutoFit/>
          </a:bodyPr>
          <a:lstStyle/>
          <a:p>
            <a:r>
              <a:rPr lang="en-US" sz="1050" dirty="0" err="1"/>
              <a:t>Kachuri</a:t>
            </a:r>
            <a:r>
              <a:rPr lang="en-US" sz="1050" dirty="0"/>
              <a:t> et al 2024</a:t>
            </a:r>
          </a:p>
        </p:txBody>
      </p:sp>
      <p:pic>
        <p:nvPicPr>
          <p:cNvPr id="5" name="Picture 4" descr="A traditional PCA plot of ancestry. This plot shows PC1 vs. PC2 and is colored by different ancestry groups. It shows separation of ancestry by genetic PCs from a PCA on their genetic data. ">
            <a:extLst>
              <a:ext uri="{FF2B5EF4-FFF2-40B4-BE49-F238E27FC236}">
                <a16:creationId xmlns:a16="http://schemas.microsoft.com/office/drawing/2014/main" id="{F43A1044-730F-29E7-1083-760CEAAE24C8}"/>
              </a:ext>
            </a:extLst>
          </p:cNvPr>
          <p:cNvPicPr>
            <a:picLocks noChangeAspect="1"/>
          </p:cNvPicPr>
          <p:nvPr/>
        </p:nvPicPr>
        <p:blipFill>
          <a:blip r:embed="rId2"/>
          <a:srcRect r="1953"/>
          <a:stretch>
            <a:fillRect/>
          </a:stretch>
        </p:blipFill>
        <p:spPr>
          <a:xfrm>
            <a:off x="4444555" y="1553766"/>
            <a:ext cx="4333685" cy="2956430"/>
          </a:xfrm>
          <a:prstGeom prst="rect">
            <a:avLst/>
          </a:prstGeom>
        </p:spPr>
      </p:pic>
      <p:sp>
        <p:nvSpPr>
          <p:cNvPr id="6" name="Rectangle 5">
            <a:extLst>
              <a:ext uri="{FF2B5EF4-FFF2-40B4-BE49-F238E27FC236}">
                <a16:creationId xmlns:a16="http://schemas.microsoft.com/office/drawing/2014/main" id="{BB18A2DB-53FE-35D0-1D5C-55FF420509EC}"/>
              </a:ext>
            </a:extLst>
          </p:cNvPr>
          <p:cNvSpPr/>
          <p:nvPr/>
        </p:nvSpPr>
        <p:spPr>
          <a:xfrm>
            <a:off x="5897880" y="2004822"/>
            <a:ext cx="484632" cy="118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extLst>
              <a:ext uri="{FF2B5EF4-FFF2-40B4-BE49-F238E27FC236}">
                <a16:creationId xmlns:a16="http://schemas.microsoft.com/office/drawing/2014/main" id="{F6F7E5DB-B7C1-F2F8-82A2-91A62C7116ED}"/>
              </a:ext>
            </a:extLst>
          </p:cNvPr>
          <p:cNvSpPr/>
          <p:nvPr/>
        </p:nvSpPr>
        <p:spPr>
          <a:xfrm>
            <a:off x="5650992" y="3335274"/>
            <a:ext cx="484632" cy="2377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CD0E2196-F6DA-5431-71D7-E708FECA2855}"/>
              </a:ext>
            </a:extLst>
          </p:cNvPr>
          <p:cNvSpPr/>
          <p:nvPr/>
        </p:nvSpPr>
        <p:spPr>
          <a:xfrm>
            <a:off x="6259068" y="3943350"/>
            <a:ext cx="484632" cy="118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CEFDCD09-8CA2-E591-AF88-CA42D549AD2E}"/>
              </a:ext>
            </a:extLst>
          </p:cNvPr>
          <p:cNvSpPr/>
          <p:nvPr/>
        </p:nvSpPr>
        <p:spPr>
          <a:xfrm>
            <a:off x="7662672" y="3637026"/>
            <a:ext cx="484632" cy="118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5B34B14B-998A-E5BA-B877-34DA76567C44}"/>
              </a:ext>
            </a:extLst>
          </p:cNvPr>
          <p:cNvSpPr/>
          <p:nvPr/>
        </p:nvSpPr>
        <p:spPr>
          <a:xfrm>
            <a:off x="7936992" y="2160270"/>
            <a:ext cx="484632" cy="118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extLst>
              <a:ext uri="{FF2B5EF4-FFF2-40B4-BE49-F238E27FC236}">
                <a16:creationId xmlns:a16="http://schemas.microsoft.com/office/drawing/2014/main" id="{6108BD1E-D6D6-D4C6-33B3-DB9FC19BEE95}"/>
              </a:ext>
            </a:extLst>
          </p:cNvPr>
          <p:cNvSpPr/>
          <p:nvPr/>
        </p:nvSpPr>
        <p:spPr>
          <a:xfrm>
            <a:off x="7264908" y="2727280"/>
            <a:ext cx="260604" cy="1302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7002834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B60D8-8869-210B-B035-5E428E471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718A3-533A-2788-D6A9-380E338FE825}"/>
              </a:ext>
            </a:extLst>
          </p:cNvPr>
          <p:cNvSpPr>
            <a:spLocks noGrp="1"/>
          </p:cNvSpPr>
          <p:nvPr>
            <p:ph type="title"/>
          </p:nvPr>
        </p:nvSpPr>
        <p:spPr/>
        <p:txBody>
          <a:bodyPr/>
          <a:lstStyle/>
          <a:p>
            <a:r>
              <a:rPr lang="en-US" dirty="0"/>
              <a:t>Target population</a:t>
            </a:r>
          </a:p>
        </p:txBody>
      </p:sp>
      <p:sp>
        <p:nvSpPr>
          <p:cNvPr id="3" name="Content Placeholder 2">
            <a:extLst>
              <a:ext uri="{FF2B5EF4-FFF2-40B4-BE49-F238E27FC236}">
                <a16:creationId xmlns:a16="http://schemas.microsoft.com/office/drawing/2014/main" id="{9D33B4F1-DBF8-7DC3-3858-79E2681C611A}"/>
              </a:ext>
            </a:extLst>
          </p:cNvPr>
          <p:cNvSpPr>
            <a:spLocks noGrp="1"/>
          </p:cNvSpPr>
          <p:nvPr>
            <p:ph idx="1"/>
          </p:nvPr>
        </p:nvSpPr>
        <p:spPr/>
        <p:txBody>
          <a:bodyPr/>
          <a:lstStyle/>
          <a:p>
            <a:r>
              <a:rPr lang="en-US" dirty="0"/>
              <a:t>Historically, conduct GWAS in a single homogeneous genetic ancestry</a:t>
            </a:r>
          </a:p>
          <a:p>
            <a:pPr lvl="1"/>
            <a:r>
              <a:rPr lang="en-US" dirty="0"/>
              <a:t>Most GWAS are in individuals of European ancestry</a:t>
            </a:r>
          </a:p>
          <a:p>
            <a:pPr lvl="1"/>
            <a:r>
              <a:rPr lang="en-US" dirty="0"/>
              <a:t>Avoids “population stratification” – ancestral differences in allele frequencies that lead to spurious associations with the phenotype</a:t>
            </a:r>
          </a:p>
          <a:p>
            <a:r>
              <a:rPr lang="en-US" dirty="0"/>
              <a:t>Now, many studies combine individuals of multiple ancestries</a:t>
            </a:r>
          </a:p>
          <a:p>
            <a:pPr lvl="1"/>
            <a:r>
              <a:rPr lang="en-US" dirty="0"/>
              <a:t>Use advanced statistical approaches to correct for relatedness and ancestry</a:t>
            </a:r>
          </a:p>
          <a:p>
            <a:pPr lvl="1"/>
            <a:r>
              <a:rPr lang="en-US" dirty="0"/>
              <a:t>More inclusive, larger sample sizes</a:t>
            </a:r>
          </a:p>
          <a:p>
            <a:pPr lvl="1"/>
            <a:r>
              <a:rPr lang="en-US" dirty="0"/>
              <a:t>Not always statistically appropriate if the phenotype greatly differs across populations</a:t>
            </a:r>
          </a:p>
          <a:p>
            <a:endParaRPr lang="en-US" dirty="0"/>
          </a:p>
        </p:txBody>
      </p:sp>
      <p:sp>
        <p:nvSpPr>
          <p:cNvPr id="5" name="Slide Number Placeholder 4">
            <a:extLst>
              <a:ext uri="{FF2B5EF4-FFF2-40B4-BE49-F238E27FC236}">
                <a16:creationId xmlns:a16="http://schemas.microsoft.com/office/drawing/2014/main" id="{6DF99BFE-7D17-D480-20B8-0BB74C9567A8}"/>
              </a:ext>
            </a:extLst>
          </p:cNvPr>
          <p:cNvSpPr>
            <a:spLocks noGrp="1"/>
          </p:cNvSpPr>
          <p:nvPr>
            <p:ph type="sldNum" sz="quarter" idx="12"/>
          </p:nvPr>
        </p:nvSpPr>
        <p:spPr/>
        <p:txBody>
          <a:bodyPr/>
          <a:lstStyle/>
          <a:p>
            <a:fld id="{9708802B-CECE-C644-A6A3-3C9AAC922203}" type="slidenum">
              <a:rPr lang="en-US" smtClean="0"/>
              <a:pPr/>
              <a:t>27</a:t>
            </a:fld>
            <a:endParaRPr lang="en-US"/>
          </a:p>
        </p:txBody>
      </p:sp>
    </p:spTree>
    <p:extLst>
      <p:ext uri="{BB962C8B-B14F-4D97-AF65-F5344CB8AC3E}">
        <p14:creationId xmlns:p14="http://schemas.microsoft.com/office/powerpoint/2010/main" val="2343182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4DADE-4A8A-BEBB-4977-4A80D46C5204}"/>
              </a:ext>
            </a:extLst>
          </p:cNvPr>
          <p:cNvSpPr>
            <a:spLocks noGrp="1"/>
          </p:cNvSpPr>
          <p:nvPr>
            <p:ph type="title"/>
          </p:nvPr>
        </p:nvSpPr>
        <p:spPr>
          <a:xfrm>
            <a:off x="628650" y="262667"/>
            <a:ext cx="8075735" cy="994172"/>
          </a:xfrm>
        </p:spPr>
        <p:txBody>
          <a:bodyPr/>
          <a:lstStyle/>
          <a:p>
            <a:r>
              <a:rPr lang="en-US" dirty="0"/>
              <a:t>Genotyping arrays vs sequencing technologies</a:t>
            </a:r>
          </a:p>
        </p:txBody>
      </p:sp>
      <p:sp>
        <p:nvSpPr>
          <p:cNvPr id="3" name="Content Placeholder 2">
            <a:extLst>
              <a:ext uri="{FF2B5EF4-FFF2-40B4-BE49-F238E27FC236}">
                <a16:creationId xmlns:a16="http://schemas.microsoft.com/office/drawing/2014/main" id="{314F359B-D2A5-4F9C-B348-67F0AE2FA9F4}"/>
              </a:ext>
            </a:extLst>
          </p:cNvPr>
          <p:cNvSpPr>
            <a:spLocks noGrp="1"/>
          </p:cNvSpPr>
          <p:nvPr>
            <p:ph idx="1"/>
          </p:nvPr>
        </p:nvSpPr>
        <p:spPr>
          <a:xfrm>
            <a:off x="628650" y="3582865"/>
            <a:ext cx="3829050" cy="1684802"/>
          </a:xfrm>
        </p:spPr>
        <p:txBody>
          <a:bodyPr>
            <a:normAutofit/>
          </a:bodyPr>
          <a:lstStyle/>
          <a:p>
            <a:r>
              <a:rPr lang="en-US" sz="1650" dirty="0"/>
              <a:t>Targets specific variants using pre-designed probes/primers on an array </a:t>
            </a:r>
          </a:p>
          <a:p>
            <a:r>
              <a:rPr lang="en-US" sz="1650" dirty="0"/>
              <a:t>Cheaper and fairly comprehensive capture of </a:t>
            </a:r>
            <a:r>
              <a:rPr lang="en-US" sz="1650" u="sng" dirty="0"/>
              <a:t>common</a:t>
            </a:r>
            <a:r>
              <a:rPr lang="en-US" sz="1650" dirty="0"/>
              <a:t> variants</a:t>
            </a:r>
          </a:p>
          <a:p>
            <a:r>
              <a:rPr lang="en-US" sz="1650" dirty="0"/>
              <a:t>Misses any alleles or variants not included</a:t>
            </a:r>
          </a:p>
        </p:txBody>
      </p:sp>
      <p:pic>
        <p:nvPicPr>
          <p:cNvPr id="1026" name="Picture 2" descr="genotyping vs. sequencing figure">
            <a:extLst>
              <a:ext uri="{FF2B5EF4-FFF2-40B4-BE49-F238E27FC236}">
                <a16:creationId xmlns:a16="http://schemas.microsoft.com/office/drawing/2014/main" id="{C13D43F8-4A0B-7CE1-0987-174F11230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562" y="1553767"/>
            <a:ext cx="4144108" cy="182828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1A6B6674-DF0B-D3E7-15C0-A49A89157000}"/>
              </a:ext>
            </a:extLst>
          </p:cNvPr>
          <p:cNvSpPr txBox="1">
            <a:spLocks/>
          </p:cNvSpPr>
          <p:nvPr/>
        </p:nvSpPr>
        <p:spPr>
          <a:xfrm>
            <a:off x="4686301" y="3582865"/>
            <a:ext cx="4144108" cy="1684802"/>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50" dirty="0"/>
              <a:t>Captures every base in a region, exome, or genome-wide using different technology</a:t>
            </a:r>
          </a:p>
          <a:p>
            <a:r>
              <a:rPr lang="en-US" sz="1650" dirty="0"/>
              <a:t>Includes Sanger, Next Gen, and Third Gen </a:t>
            </a:r>
          </a:p>
          <a:p>
            <a:r>
              <a:rPr lang="en-US" sz="1650" dirty="0"/>
              <a:t>Higher resolution, higher cost, more data, for better or for worse</a:t>
            </a:r>
          </a:p>
        </p:txBody>
      </p:sp>
      <p:sp>
        <p:nvSpPr>
          <p:cNvPr id="6" name="TextBox 5">
            <a:extLst>
              <a:ext uri="{FF2B5EF4-FFF2-40B4-BE49-F238E27FC236}">
                <a16:creationId xmlns:a16="http://schemas.microsoft.com/office/drawing/2014/main" id="{A598CF93-9AFB-281C-31DE-FAA17E3B2DFD}"/>
              </a:ext>
            </a:extLst>
          </p:cNvPr>
          <p:cNvSpPr txBox="1"/>
          <p:nvPr/>
        </p:nvSpPr>
        <p:spPr>
          <a:xfrm>
            <a:off x="7543800" y="5487255"/>
            <a:ext cx="4572000" cy="184666"/>
          </a:xfrm>
          <a:prstGeom prst="rect">
            <a:avLst/>
          </a:prstGeom>
          <a:noFill/>
        </p:spPr>
        <p:txBody>
          <a:bodyPr wrap="square">
            <a:spAutoFit/>
          </a:bodyPr>
          <a:lstStyle/>
          <a:p>
            <a:r>
              <a:rPr lang="en-US" sz="600" dirty="0"/>
              <a:t>Figure: </a:t>
            </a:r>
            <a:r>
              <a:rPr lang="en-US" sz="600" dirty="0" err="1"/>
              <a:t>www.aboutgeneticcounselors.com</a:t>
            </a:r>
            <a:endParaRPr lang="en-US" sz="600" dirty="0"/>
          </a:p>
        </p:txBody>
      </p:sp>
    </p:spTree>
    <p:extLst>
      <p:ext uri="{BB962C8B-B14F-4D97-AF65-F5344CB8AC3E}">
        <p14:creationId xmlns:p14="http://schemas.microsoft.com/office/powerpoint/2010/main" val="3019052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A1B7-A50B-1994-B7EB-D3798D904564}"/>
              </a:ext>
            </a:extLst>
          </p:cNvPr>
          <p:cNvSpPr>
            <a:spLocks noGrp="1"/>
          </p:cNvSpPr>
          <p:nvPr>
            <p:ph type="title"/>
          </p:nvPr>
        </p:nvSpPr>
        <p:spPr>
          <a:xfrm>
            <a:off x="304800" y="82060"/>
            <a:ext cx="7886700" cy="994172"/>
          </a:xfrm>
        </p:spPr>
        <p:txBody>
          <a:bodyPr/>
          <a:lstStyle/>
          <a:p>
            <a:r>
              <a:rPr lang="en-US" dirty="0">
                <a:latin typeface="+mn-lt"/>
              </a:rPr>
              <a:t>Imputation</a:t>
            </a:r>
          </a:p>
        </p:txBody>
      </p:sp>
      <p:sp>
        <p:nvSpPr>
          <p:cNvPr id="8" name="TextBox 7">
            <a:extLst>
              <a:ext uri="{FF2B5EF4-FFF2-40B4-BE49-F238E27FC236}">
                <a16:creationId xmlns:a16="http://schemas.microsoft.com/office/drawing/2014/main" id="{47EC072A-7EBB-DE2D-0AC1-AB3125630EA8}"/>
              </a:ext>
            </a:extLst>
          </p:cNvPr>
          <p:cNvSpPr txBox="1"/>
          <p:nvPr/>
        </p:nvSpPr>
        <p:spPr>
          <a:xfrm>
            <a:off x="153265" y="1078238"/>
            <a:ext cx="3261447" cy="1077218"/>
          </a:xfrm>
          <a:prstGeom prst="rect">
            <a:avLst/>
          </a:prstGeom>
          <a:noFill/>
        </p:spPr>
        <p:txBody>
          <a:bodyPr wrap="square" rtlCol="0">
            <a:spAutoFit/>
          </a:bodyPr>
          <a:lstStyle/>
          <a:p>
            <a:r>
              <a:rPr lang="en-US" sz="1600" dirty="0">
                <a:latin typeface="+mn-lt"/>
              </a:rPr>
              <a:t>1. We have genotyped data with missing information from genetic variants that were not on the genotyping array</a:t>
            </a:r>
          </a:p>
        </p:txBody>
      </p:sp>
      <p:pic>
        <p:nvPicPr>
          <p:cNvPr id="9" name="Picture 8">
            <a:extLst>
              <a:ext uri="{FF2B5EF4-FFF2-40B4-BE49-F238E27FC236}">
                <a16:creationId xmlns:a16="http://schemas.microsoft.com/office/drawing/2014/main" id="{B86425A3-2141-B935-209C-DD2BA10689D4}"/>
              </a:ext>
            </a:extLst>
          </p:cNvPr>
          <p:cNvPicPr>
            <a:picLocks noChangeAspect="1"/>
          </p:cNvPicPr>
          <p:nvPr/>
        </p:nvPicPr>
        <p:blipFill>
          <a:blip r:embed="rId2"/>
          <a:stretch>
            <a:fillRect/>
          </a:stretch>
        </p:blipFill>
        <p:spPr>
          <a:xfrm>
            <a:off x="561844" y="2166532"/>
            <a:ext cx="8020309" cy="2657475"/>
          </a:xfrm>
          <a:prstGeom prst="rect">
            <a:avLst/>
          </a:prstGeom>
        </p:spPr>
      </p:pic>
      <p:pic>
        <p:nvPicPr>
          <p:cNvPr id="3" name="Picture 2">
            <a:extLst>
              <a:ext uri="{FF2B5EF4-FFF2-40B4-BE49-F238E27FC236}">
                <a16:creationId xmlns:a16="http://schemas.microsoft.com/office/drawing/2014/main" id="{6933A8DE-F669-BE06-DD9A-79FC88B1E423}"/>
              </a:ext>
            </a:extLst>
          </p:cNvPr>
          <p:cNvPicPr>
            <a:picLocks noChangeAspect="1"/>
          </p:cNvPicPr>
          <p:nvPr/>
        </p:nvPicPr>
        <p:blipFill>
          <a:blip r:embed="rId3"/>
          <a:stretch>
            <a:fillRect/>
          </a:stretch>
        </p:blipFill>
        <p:spPr>
          <a:xfrm>
            <a:off x="3600406" y="667343"/>
            <a:ext cx="1709132" cy="1486674"/>
          </a:xfrm>
          <a:prstGeom prst="rect">
            <a:avLst/>
          </a:prstGeom>
        </p:spPr>
      </p:pic>
      <p:sp>
        <p:nvSpPr>
          <p:cNvPr id="10" name="TextBox 9">
            <a:extLst>
              <a:ext uri="{FF2B5EF4-FFF2-40B4-BE49-F238E27FC236}">
                <a16:creationId xmlns:a16="http://schemas.microsoft.com/office/drawing/2014/main" id="{38260E05-91DF-B1DB-F71B-1AD102F1FFB3}"/>
              </a:ext>
            </a:extLst>
          </p:cNvPr>
          <p:cNvSpPr txBox="1"/>
          <p:nvPr/>
        </p:nvSpPr>
        <p:spPr>
          <a:xfrm>
            <a:off x="3244862" y="237558"/>
            <a:ext cx="2420219" cy="461665"/>
          </a:xfrm>
          <a:prstGeom prst="rect">
            <a:avLst/>
          </a:prstGeom>
          <a:noFill/>
        </p:spPr>
        <p:txBody>
          <a:bodyPr wrap="square" rtlCol="0">
            <a:spAutoFit/>
          </a:bodyPr>
          <a:lstStyle/>
          <a:p>
            <a:pPr algn="ctr"/>
            <a:r>
              <a:rPr lang="en-US" sz="1200" dirty="0">
                <a:latin typeface="Ayuthaya" pitchFamily="2" charset="-34"/>
                <a:ea typeface="Ayuthaya" pitchFamily="2" charset="-34"/>
                <a:cs typeface="Ayuthaya" pitchFamily="2" charset="-34"/>
              </a:rPr>
              <a:t>Reference set of sequenced haplotypes</a:t>
            </a:r>
          </a:p>
        </p:txBody>
      </p:sp>
      <p:sp>
        <p:nvSpPr>
          <p:cNvPr id="13" name="TextBox 12">
            <a:extLst>
              <a:ext uri="{FF2B5EF4-FFF2-40B4-BE49-F238E27FC236}">
                <a16:creationId xmlns:a16="http://schemas.microsoft.com/office/drawing/2014/main" id="{B84D0C9C-B9BF-A3ED-8CFE-E7DED9322388}"/>
              </a:ext>
            </a:extLst>
          </p:cNvPr>
          <p:cNvSpPr txBox="1"/>
          <p:nvPr/>
        </p:nvSpPr>
        <p:spPr>
          <a:xfrm>
            <a:off x="153265" y="4704182"/>
            <a:ext cx="3261447" cy="1015663"/>
          </a:xfrm>
          <a:prstGeom prst="rect">
            <a:avLst/>
          </a:prstGeom>
          <a:noFill/>
        </p:spPr>
        <p:txBody>
          <a:bodyPr wrap="square" rtlCol="0">
            <a:spAutoFit/>
          </a:bodyPr>
          <a:lstStyle/>
          <a:p>
            <a:r>
              <a:rPr lang="en-US" sz="1200" dirty="0">
                <a:latin typeface="Ayuthaya" pitchFamily="2" charset="-34"/>
                <a:ea typeface="Ayuthaya" pitchFamily="2" charset="-34"/>
                <a:cs typeface="Ayuthaya" pitchFamily="2" charset="-34"/>
              </a:rPr>
              <a:t>Each row is an individual, each number represents the number of alternate alleles present at that genetic marker (0/1/2 for the three possible genotypes)</a:t>
            </a:r>
          </a:p>
        </p:txBody>
      </p:sp>
      <p:sp>
        <p:nvSpPr>
          <p:cNvPr id="14" name="TextBox 13">
            <a:extLst>
              <a:ext uri="{FF2B5EF4-FFF2-40B4-BE49-F238E27FC236}">
                <a16:creationId xmlns:a16="http://schemas.microsoft.com/office/drawing/2014/main" id="{DB8810C7-EFA9-8D62-4081-B345CAA4BB23}"/>
              </a:ext>
            </a:extLst>
          </p:cNvPr>
          <p:cNvSpPr txBox="1"/>
          <p:nvPr/>
        </p:nvSpPr>
        <p:spPr>
          <a:xfrm>
            <a:off x="5729288" y="1072625"/>
            <a:ext cx="3261447" cy="1077218"/>
          </a:xfrm>
          <a:prstGeom prst="rect">
            <a:avLst/>
          </a:prstGeom>
          <a:noFill/>
        </p:spPr>
        <p:txBody>
          <a:bodyPr wrap="square" rtlCol="0">
            <a:spAutoFit/>
          </a:bodyPr>
          <a:lstStyle/>
          <a:p>
            <a:r>
              <a:rPr lang="en-US" sz="1600" dirty="0">
                <a:latin typeface="+mn-lt"/>
              </a:rPr>
              <a:t>2. We match each row to a reference set of sequenced haplotypes to fill in the missing information</a:t>
            </a:r>
          </a:p>
        </p:txBody>
      </p:sp>
      <p:sp>
        <p:nvSpPr>
          <p:cNvPr id="15" name="TextBox 14">
            <a:extLst>
              <a:ext uri="{FF2B5EF4-FFF2-40B4-BE49-F238E27FC236}">
                <a16:creationId xmlns:a16="http://schemas.microsoft.com/office/drawing/2014/main" id="{1D722B89-23FE-FE60-B961-046C95E4CC6A}"/>
              </a:ext>
            </a:extLst>
          </p:cNvPr>
          <p:cNvSpPr txBox="1"/>
          <p:nvPr/>
        </p:nvSpPr>
        <p:spPr>
          <a:xfrm>
            <a:off x="5856735" y="5379305"/>
            <a:ext cx="3261447" cy="307777"/>
          </a:xfrm>
          <a:prstGeom prst="rect">
            <a:avLst/>
          </a:prstGeom>
          <a:noFill/>
        </p:spPr>
        <p:txBody>
          <a:bodyPr wrap="square" rtlCol="0">
            <a:spAutoFit/>
          </a:bodyPr>
          <a:lstStyle/>
          <a:p>
            <a:pPr algn="r"/>
            <a:r>
              <a:rPr lang="en-US" sz="1400" dirty="0" err="1">
                <a:latin typeface="+mn-lt"/>
              </a:rPr>
              <a:t>Marchini</a:t>
            </a:r>
            <a:r>
              <a:rPr lang="en-US" sz="1400" dirty="0">
                <a:latin typeface="+mn-lt"/>
              </a:rPr>
              <a:t> and Howie 2010</a:t>
            </a:r>
          </a:p>
        </p:txBody>
      </p:sp>
    </p:spTree>
    <p:extLst>
      <p:ext uri="{BB962C8B-B14F-4D97-AF65-F5344CB8AC3E}">
        <p14:creationId xmlns:p14="http://schemas.microsoft.com/office/powerpoint/2010/main" val="2721117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5217-9682-88C5-1811-07742DAA82A4}"/>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2FDA127-1D45-C03B-F4F0-A46EEC41C31C}"/>
              </a:ext>
            </a:extLst>
          </p:cNvPr>
          <p:cNvSpPr>
            <a:spLocks noGrp="1"/>
          </p:cNvSpPr>
          <p:nvPr>
            <p:ph type="sldNum" sz="quarter" idx="12"/>
          </p:nvPr>
        </p:nvSpPr>
        <p:spPr/>
        <p:txBody>
          <a:bodyPr/>
          <a:lstStyle/>
          <a:p>
            <a:fld id="{9708802B-CECE-C644-A6A3-3C9AAC922203}" type="slidenum">
              <a:rPr lang="en-US" smtClean="0"/>
              <a:pPr/>
              <a:t>30</a:t>
            </a:fld>
            <a:endParaRPr lang="en-US"/>
          </a:p>
        </p:txBody>
      </p:sp>
      <p:pic>
        <p:nvPicPr>
          <p:cNvPr id="7" name="Picture 6">
            <a:extLst>
              <a:ext uri="{FF2B5EF4-FFF2-40B4-BE49-F238E27FC236}">
                <a16:creationId xmlns:a16="http://schemas.microsoft.com/office/drawing/2014/main" id="{61336E5C-577A-987A-43C9-032AC45EDF26}"/>
              </a:ext>
            </a:extLst>
          </p:cNvPr>
          <p:cNvPicPr>
            <a:picLocks noChangeAspect="1"/>
          </p:cNvPicPr>
          <p:nvPr/>
        </p:nvPicPr>
        <p:blipFill>
          <a:blip r:embed="rId3"/>
          <a:stretch>
            <a:fillRect/>
          </a:stretch>
        </p:blipFill>
        <p:spPr>
          <a:xfrm>
            <a:off x="2891739" y="711751"/>
            <a:ext cx="5714568" cy="447924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1266" name="Picture 2" descr="Nature Reviews Methods Primers (@MethodsPrimers) / X">
            <a:extLst>
              <a:ext uri="{FF2B5EF4-FFF2-40B4-BE49-F238E27FC236}">
                <a16:creationId xmlns:a16="http://schemas.microsoft.com/office/drawing/2014/main" id="{B6F9085C-491D-BFF3-EFB7-BCE75D77AE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10439"/>
            <a:ext cx="2190750" cy="21907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4945030-6BE6-07D3-E007-479BB25934F7}"/>
              </a:ext>
            </a:extLst>
          </p:cNvPr>
          <p:cNvSpPr txBox="1"/>
          <p:nvPr/>
        </p:nvSpPr>
        <p:spPr>
          <a:xfrm>
            <a:off x="333375" y="2829910"/>
            <a:ext cx="1981200" cy="523220"/>
          </a:xfrm>
          <a:prstGeom prst="rect">
            <a:avLst/>
          </a:prstGeom>
          <a:noFill/>
        </p:spPr>
        <p:txBody>
          <a:bodyPr wrap="square" rtlCol="0">
            <a:spAutoFit/>
          </a:bodyPr>
          <a:lstStyle/>
          <a:p>
            <a:r>
              <a:rPr lang="en-US" sz="1400" dirty="0">
                <a:solidFill>
                  <a:schemeClr val="tx2">
                    <a:lumMod val="75000"/>
                  </a:schemeClr>
                </a:solidFill>
                <a:latin typeface="Ayuthaya" pitchFamily="2" charset="-34"/>
                <a:ea typeface="Ayuthaya" pitchFamily="2" charset="-34"/>
                <a:cs typeface="Ayuthaya" pitchFamily="2" charset="-34"/>
              </a:rPr>
              <a:t>I recommend this paper on GWAS</a:t>
            </a:r>
          </a:p>
        </p:txBody>
      </p:sp>
    </p:spTree>
    <p:extLst>
      <p:ext uri="{BB962C8B-B14F-4D97-AF65-F5344CB8AC3E}">
        <p14:creationId xmlns:p14="http://schemas.microsoft.com/office/powerpoint/2010/main" val="2670693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F020-36AC-3FF6-F607-F1F3CA2051FE}"/>
              </a:ext>
            </a:extLst>
          </p:cNvPr>
          <p:cNvSpPr>
            <a:spLocks noGrp="1"/>
          </p:cNvSpPr>
          <p:nvPr>
            <p:ph type="title"/>
          </p:nvPr>
        </p:nvSpPr>
        <p:spPr>
          <a:xfrm>
            <a:off x="328448" y="2389369"/>
            <a:ext cx="8001000" cy="514350"/>
          </a:xfrm>
        </p:spPr>
        <p:txBody>
          <a:bodyPr/>
          <a:lstStyle/>
          <a:p>
            <a:r>
              <a:rPr lang="en-US" sz="3000" dirty="0"/>
              <a:t>Let’s do a GWAS!</a:t>
            </a:r>
            <a:endParaRPr lang="en-US" dirty="0"/>
          </a:p>
        </p:txBody>
      </p:sp>
      <p:sp>
        <p:nvSpPr>
          <p:cNvPr id="3" name="Slide Number Placeholder 2">
            <a:extLst>
              <a:ext uri="{FF2B5EF4-FFF2-40B4-BE49-F238E27FC236}">
                <a16:creationId xmlns:a16="http://schemas.microsoft.com/office/drawing/2014/main" id="{2CE11435-4C16-FEDE-3EA3-F30383DDAFB8}"/>
              </a:ext>
            </a:extLst>
          </p:cNvPr>
          <p:cNvSpPr>
            <a:spLocks noGrp="1"/>
          </p:cNvSpPr>
          <p:nvPr>
            <p:ph type="sldNum" sz="quarter" idx="12"/>
          </p:nvPr>
        </p:nvSpPr>
        <p:spPr/>
        <p:txBody>
          <a:bodyPr/>
          <a:lstStyle/>
          <a:p>
            <a:fld id="{8C17B027-94AA-734A-ACC9-170E40BA2B18}" type="slidenum">
              <a:rPr lang="en-US" smtClean="0"/>
              <a:pPr/>
              <a:t>31</a:t>
            </a:fld>
            <a:endParaRPr lang="en-US"/>
          </a:p>
        </p:txBody>
      </p:sp>
      <p:pic>
        <p:nvPicPr>
          <p:cNvPr id="4" name="Picture 3">
            <a:extLst>
              <a:ext uri="{FF2B5EF4-FFF2-40B4-BE49-F238E27FC236}">
                <a16:creationId xmlns:a16="http://schemas.microsoft.com/office/drawing/2014/main" id="{8229EAB5-AC74-66BE-5023-EB210CD14339}"/>
              </a:ext>
            </a:extLst>
          </p:cNvPr>
          <p:cNvPicPr>
            <a:picLocks noChangeAspect="1"/>
          </p:cNvPicPr>
          <p:nvPr/>
        </p:nvPicPr>
        <p:blipFill>
          <a:blip r:embed="rId3"/>
          <a:stretch>
            <a:fillRect/>
          </a:stretch>
        </p:blipFill>
        <p:spPr>
          <a:xfrm>
            <a:off x="229427" y="2903719"/>
            <a:ext cx="8609773" cy="159863"/>
          </a:xfrm>
          <a:prstGeom prst="rect">
            <a:avLst/>
          </a:prstGeom>
        </p:spPr>
      </p:pic>
      <p:pic>
        <p:nvPicPr>
          <p:cNvPr id="5" name="Picture 4">
            <a:extLst>
              <a:ext uri="{FF2B5EF4-FFF2-40B4-BE49-F238E27FC236}">
                <a16:creationId xmlns:a16="http://schemas.microsoft.com/office/drawing/2014/main" id="{2766BE0B-26EC-5650-9022-EDA3780B5980}"/>
              </a:ext>
            </a:extLst>
          </p:cNvPr>
          <p:cNvPicPr>
            <a:picLocks noChangeAspect="1"/>
          </p:cNvPicPr>
          <p:nvPr/>
        </p:nvPicPr>
        <p:blipFill rotWithShape="1">
          <a:blip r:embed="rId4"/>
          <a:srcRect b="72288"/>
          <a:stretch/>
        </p:blipFill>
        <p:spPr>
          <a:xfrm>
            <a:off x="1257713" y="3418069"/>
            <a:ext cx="7772400" cy="684634"/>
          </a:xfrm>
          <a:prstGeom prst="rect">
            <a:avLst/>
          </a:prstGeom>
        </p:spPr>
      </p:pic>
      <p:pic>
        <p:nvPicPr>
          <p:cNvPr id="6" name="Picture 5">
            <a:extLst>
              <a:ext uri="{FF2B5EF4-FFF2-40B4-BE49-F238E27FC236}">
                <a16:creationId xmlns:a16="http://schemas.microsoft.com/office/drawing/2014/main" id="{4FDD8EC0-ED40-5F57-062B-05CB04FA7BD8}"/>
              </a:ext>
            </a:extLst>
          </p:cNvPr>
          <p:cNvPicPr>
            <a:picLocks noChangeAspect="1"/>
          </p:cNvPicPr>
          <p:nvPr/>
        </p:nvPicPr>
        <p:blipFill rotWithShape="1">
          <a:blip r:embed="rId4"/>
          <a:srcRect t="67589"/>
          <a:stretch/>
        </p:blipFill>
        <p:spPr>
          <a:xfrm>
            <a:off x="1257713" y="4102703"/>
            <a:ext cx="7772400" cy="800746"/>
          </a:xfrm>
          <a:prstGeom prst="rect">
            <a:avLst/>
          </a:prstGeom>
        </p:spPr>
      </p:pic>
      <p:sp>
        <p:nvSpPr>
          <p:cNvPr id="7" name="TextBox 6">
            <a:extLst>
              <a:ext uri="{FF2B5EF4-FFF2-40B4-BE49-F238E27FC236}">
                <a16:creationId xmlns:a16="http://schemas.microsoft.com/office/drawing/2014/main" id="{8DACE9F6-EE47-FB7E-3161-39DFEFE4EB52}"/>
              </a:ext>
            </a:extLst>
          </p:cNvPr>
          <p:cNvSpPr txBox="1"/>
          <p:nvPr/>
        </p:nvSpPr>
        <p:spPr>
          <a:xfrm>
            <a:off x="1356734" y="4853005"/>
            <a:ext cx="2567152" cy="307777"/>
          </a:xfrm>
          <a:prstGeom prst="rect">
            <a:avLst/>
          </a:prstGeom>
          <a:noFill/>
        </p:spPr>
        <p:txBody>
          <a:bodyPr wrap="square" rtlCol="0">
            <a:spAutoFit/>
          </a:bodyPr>
          <a:lstStyle/>
          <a:p>
            <a:r>
              <a:rPr lang="en-US" sz="1400" dirty="0" err="1">
                <a:latin typeface="Arial" panose="020B0604020202020204" pitchFamily="34" charset="0"/>
                <a:cs typeface="Arial" panose="020B0604020202020204" pitchFamily="34" charset="0"/>
              </a:rPr>
              <a:t>Speliotes</a:t>
            </a:r>
            <a:r>
              <a:rPr lang="en-US" sz="1400" dirty="0">
                <a:latin typeface="Arial" panose="020B0604020202020204" pitchFamily="34" charset="0"/>
                <a:cs typeface="Arial" panose="020B0604020202020204" pitchFamily="34" charset="0"/>
              </a:rPr>
              <a:t> et al</a:t>
            </a:r>
          </a:p>
        </p:txBody>
      </p:sp>
      <p:sp>
        <p:nvSpPr>
          <p:cNvPr id="9" name="TextBox 8">
            <a:extLst>
              <a:ext uri="{FF2B5EF4-FFF2-40B4-BE49-F238E27FC236}">
                <a16:creationId xmlns:a16="http://schemas.microsoft.com/office/drawing/2014/main" id="{26275071-A9E4-511C-5AD2-087EE50936CA}"/>
              </a:ext>
            </a:extLst>
          </p:cNvPr>
          <p:cNvSpPr txBox="1"/>
          <p:nvPr/>
        </p:nvSpPr>
        <p:spPr>
          <a:xfrm>
            <a:off x="5143913" y="3475837"/>
            <a:ext cx="2567152" cy="307777"/>
          </a:xfrm>
          <a:prstGeom prst="rect">
            <a:avLst/>
          </a:prstGeom>
          <a:noFill/>
        </p:spPr>
        <p:txBody>
          <a:bodyPr wrap="square" rtlCol="0">
            <a:spAutoFit/>
          </a:bodyPr>
          <a:lstStyle/>
          <a:p>
            <a:pPr algn="r"/>
            <a:r>
              <a:rPr lang="en-US" sz="1400" dirty="0">
                <a:latin typeface="Arial" panose="020B0604020202020204" pitchFamily="34" charset="0"/>
                <a:cs typeface="Arial" panose="020B0604020202020204" pitchFamily="34" charset="0"/>
              </a:rPr>
              <a:t>2010</a:t>
            </a:r>
          </a:p>
        </p:txBody>
      </p:sp>
      <p:sp>
        <p:nvSpPr>
          <p:cNvPr id="10" name="Rectangle 9">
            <a:extLst>
              <a:ext uri="{FF2B5EF4-FFF2-40B4-BE49-F238E27FC236}">
                <a16:creationId xmlns:a16="http://schemas.microsoft.com/office/drawing/2014/main" id="{35E3484B-83AB-9897-6249-30D9C5CBFCB2}"/>
              </a:ext>
            </a:extLst>
          </p:cNvPr>
          <p:cNvSpPr/>
          <p:nvPr/>
        </p:nvSpPr>
        <p:spPr bwMode="auto">
          <a:xfrm>
            <a:off x="1257713" y="3418069"/>
            <a:ext cx="6628573" cy="1742713"/>
          </a:xfrm>
          <a:custGeom>
            <a:avLst/>
            <a:gdLst>
              <a:gd name="csX0" fmla="*/ 0 w 6628573"/>
              <a:gd name="csY0" fmla="*/ 0 h 1742713"/>
              <a:gd name="csX1" fmla="*/ 596572 w 6628573"/>
              <a:gd name="csY1" fmla="*/ 0 h 1742713"/>
              <a:gd name="csX2" fmla="*/ 1060572 w 6628573"/>
              <a:gd name="csY2" fmla="*/ 0 h 1742713"/>
              <a:gd name="csX3" fmla="*/ 1856000 w 6628573"/>
              <a:gd name="csY3" fmla="*/ 0 h 1742713"/>
              <a:gd name="csX4" fmla="*/ 2452572 w 6628573"/>
              <a:gd name="csY4" fmla="*/ 0 h 1742713"/>
              <a:gd name="csX5" fmla="*/ 3049144 w 6628573"/>
              <a:gd name="csY5" fmla="*/ 0 h 1742713"/>
              <a:gd name="csX6" fmla="*/ 3844572 w 6628573"/>
              <a:gd name="csY6" fmla="*/ 0 h 1742713"/>
              <a:gd name="csX7" fmla="*/ 4374858 w 6628573"/>
              <a:gd name="csY7" fmla="*/ 0 h 1742713"/>
              <a:gd name="csX8" fmla="*/ 5170287 w 6628573"/>
              <a:gd name="csY8" fmla="*/ 0 h 1742713"/>
              <a:gd name="csX9" fmla="*/ 5965716 w 6628573"/>
              <a:gd name="csY9" fmla="*/ 0 h 1742713"/>
              <a:gd name="csX10" fmla="*/ 6628573 w 6628573"/>
              <a:gd name="csY10" fmla="*/ 0 h 1742713"/>
              <a:gd name="csX11" fmla="*/ 6628573 w 6628573"/>
              <a:gd name="csY11" fmla="*/ 615759 h 1742713"/>
              <a:gd name="csX12" fmla="*/ 6628573 w 6628573"/>
              <a:gd name="csY12" fmla="*/ 1214090 h 1742713"/>
              <a:gd name="csX13" fmla="*/ 6628573 w 6628573"/>
              <a:gd name="csY13" fmla="*/ 1742713 h 1742713"/>
              <a:gd name="csX14" fmla="*/ 5965716 w 6628573"/>
              <a:gd name="csY14" fmla="*/ 1742713 h 1742713"/>
              <a:gd name="csX15" fmla="*/ 5435430 w 6628573"/>
              <a:gd name="csY15" fmla="*/ 1742713 h 1742713"/>
              <a:gd name="csX16" fmla="*/ 4772573 w 6628573"/>
              <a:gd name="csY16" fmla="*/ 1742713 h 1742713"/>
              <a:gd name="csX17" fmla="*/ 3977144 w 6628573"/>
              <a:gd name="csY17" fmla="*/ 1742713 h 1742713"/>
              <a:gd name="csX18" fmla="*/ 3314287 w 6628573"/>
              <a:gd name="csY18" fmla="*/ 1742713 h 1742713"/>
              <a:gd name="csX19" fmla="*/ 2850286 w 6628573"/>
              <a:gd name="csY19" fmla="*/ 1742713 h 1742713"/>
              <a:gd name="csX20" fmla="*/ 2320001 w 6628573"/>
              <a:gd name="csY20" fmla="*/ 1742713 h 1742713"/>
              <a:gd name="csX21" fmla="*/ 1524572 w 6628573"/>
              <a:gd name="csY21" fmla="*/ 1742713 h 1742713"/>
              <a:gd name="csX22" fmla="*/ 861714 w 6628573"/>
              <a:gd name="csY22" fmla="*/ 1742713 h 1742713"/>
              <a:gd name="csX23" fmla="*/ 0 w 6628573"/>
              <a:gd name="csY23" fmla="*/ 1742713 h 1742713"/>
              <a:gd name="csX24" fmla="*/ 0 w 6628573"/>
              <a:gd name="csY24" fmla="*/ 1161809 h 1742713"/>
              <a:gd name="csX25" fmla="*/ 0 w 6628573"/>
              <a:gd name="csY25" fmla="*/ 633186 h 1742713"/>
              <a:gd name="csX26" fmla="*/ 0 w 6628573"/>
              <a:gd name="csY26" fmla="*/ 0 h 17427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628573" h="1742713" extrusionOk="0">
                <a:moveTo>
                  <a:pt x="0" y="0"/>
                </a:moveTo>
                <a:cubicBezTo>
                  <a:pt x="249965" y="-2972"/>
                  <a:pt x="374049" y="-12133"/>
                  <a:pt x="596572" y="0"/>
                </a:cubicBezTo>
                <a:cubicBezTo>
                  <a:pt x="819095" y="12133"/>
                  <a:pt x="904321" y="9849"/>
                  <a:pt x="1060572" y="0"/>
                </a:cubicBezTo>
                <a:cubicBezTo>
                  <a:pt x="1216823" y="-9849"/>
                  <a:pt x="1604714" y="33946"/>
                  <a:pt x="1856000" y="0"/>
                </a:cubicBezTo>
                <a:cubicBezTo>
                  <a:pt x="2107286" y="-33946"/>
                  <a:pt x="2298062" y="-18654"/>
                  <a:pt x="2452572" y="0"/>
                </a:cubicBezTo>
                <a:cubicBezTo>
                  <a:pt x="2607082" y="18654"/>
                  <a:pt x="2910722" y="-24288"/>
                  <a:pt x="3049144" y="0"/>
                </a:cubicBezTo>
                <a:cubicBezTo>
                  <a:pt x="3187566" y="24288"/>
                  <a:pt x="3542650" y="22208"/>
                  <a:pt x="3844572" y="0"/>
                </a:cubicBezTo>
                <a:cubicBezTo>
                  <a:pt x="4146494" y="-22208"/>
                  <a:pt x="4234031" y="11786"/>
                  <a:pt x="4374858" y="0"/>
                </a:cubicBezTo>
                <a:cubicBezTo>
                  <a:pt x="4515685" y="-11786"/>
                  <a:pt x="4943195" y="12382"/>
                  <a:pt x="5170287" y="0"/>
                </a:cubicBezTo>
                <a:cubicBezTo>
                  <a:pt x="5397379" y="-12382"/>
                  <a:pt x="5786640" y="9427"/>
                  <a:pt x="5965716" y="0"/>
                </a:cubicBezTo>
                <a:cubicBezTo>
                  <a:pt x="6144792" y="-9427"/>
                  <a:pt x="6359094" y="30073"/>
                  <a:pt x="6628573" y="0"/>
                </a:cubicBezTo>
                <a:cubicBezTo>
                  <a:pt x="6621604" y="207839"/>
                  <a:pt x="6605628" y="441401"/>
                  <a:pt x="6628573" y="615759"/>
                </a:cubicBezTo>
                <a:cubicBezTo>
                  <a:pt x="6651518" y="790117"/>
                  <a:pt x="6618213" y="937355"/>
                  <a:pt x="6628573" y="1214090"/>
                </a:cubicBezTo>
                <a:cubicBezTo>
                  <a:pt x="6638933" y="1490825"/>
                  <a:pt x="6642805" y="1629891"/>
                  <a:pt x="6628573" y="1742713"/>
                </a:cubicBezTo>
                <a:cubicBezTo>
                  <a:pt x="6451816" y="1713739"/>
                  <a:pt x="6141031" y="1726467"/>
                  <a:pt x="5965716" y="1742713"/>
                </a:cubicBezTo>
                <a:cubicBezTo>
                  <a:pt x="5790401" y="1758959"/>
                  <a:pt x="5607478" y="1728272"/>
                  <a:pt x="5435430" y="1742713"/>
                </a:cubicBezTo>
                <a:cubicBezTo>
                  <a:pt x="5263382" y="1757154"/>
                  <a:pt x="5029103" y="1735071"/>
                  <a:pt x="4772573" y="1742713"/>
                </a:cubicBezTo>
                <a:cubicBezTo>
                  <a:pt x="4516043" y="1750355"/>
                  <a:pt x="4245448" y="1737128"/>
                  <a:pt x="3977144" y="1742713"/>
                </a:cubicBezTo>
                <a:cubicBezTo>
                  <a:pt x="3708840" y="1748298"/>
                  <a:pt x="3551011" y="1719479"/>
                  <a:pt x="3314287" y="1742713"/>
                </a:cubicBezTo>
                <a:cubicBezTo>
                  <a:pt x="3077563" y="1765947"/>
                  <a:pt x="2950303" y="1727165"/>
                  <a:pt x="2850286" y="1742713"/>
                </a:cubicBezTo>
                <a:cubicBezTo>
                  <a:pt x="2750269" y="1758261"/>
                  <a:pt x="2434095" y="1754094"/>
                  <a:pt x="2320001" y="1742713"/>
                </a:cubicBezTo>
                <a:cubicBezTo>
                  <a:pt x="2205908" y="1731332"/>
                  <a:pt x="1715183" y="1725464"/>
                  <a:pt x="1524572" y="1742713"/>
                </a:cubicBezTo>
                <a:cubicBezTo>
                  <a:pt x="1333961" y="1759962"/>
                  <a:pt x="1062617" y="1748982"/>
                  <a:pt x="861714" y="1742713"/>
                </a:cubicBezTo>
                <a:cubicBezTo>
                  <a:pt x="660811" y="1736444"/>
                  <a:pt x="200307" y="1723782"/>
                  <a:pt x="0" y="1742713"/>
                </a:cubicBezTo>
                <a:cubicBezTo>
                  <a:pt x="-2642" y="1465282"/>
                  <a:pt x="-9545" y="1363080"/>
                  <a:pt x="0" y="1161809"/>
                </a:cubicBezTo>
                <a:cubicBezTo>
                  <a:pt x="9545" y="960538"/>
                  <a:pt x="5149" y="887967"/>
                  <a:pt x="0" y="633186"/>
                </a:cubicBezTo>
                <a:cubicBezTo>
                  <a:pt x="-5149" y="378405"/>
                  <a:pt x="-31514" y="312815"/>
                  <a:pt x="0" y="0"/>
                </a:cubicBezTo>
                <a:close/>
              </a:path>
            </a:pathLst>
          </a:custGeom>
          <a:noFill/>
          <a:ln w="19050" cap="flat" cmpd="sng" algn="ctr">
            <a:solidFill>
              <a:schemeClr val="tx1"/>
            </a:solidFill>
            <a:prstDash val="solid"/>
            <a:round/>
            <a:headEnd type="none" w="med" len="med"/>
            <a:tailEnd type="none" w="med" len="med"/>
            <a:extLst>
              <a:ext uri="{C807C97D-BFC1-408E-A445-0C87EB9F89A2}">
                <ask:lineSketchStyleProps xmlns:ask="http://schemas.microsoft.com/office/drawing/2018/sketchyshapes" sd="1219033472">
                  <a:prstGeom prst="rect">
                    <a:avLst/>
                  </a:prstGeom>
                  <ask:type>
                    <ask:lineSketchFreehand/>
                  </ask:type>
                </ask:lineSketchStyleProps>
              </a:ext>
            </a:extLst>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Osaka" charset="-128"/>
              <a:cs typeface="Osaka" charset="-128"/>
            </a:endParaRPr>
          </a:p>
        </p:txBody>
      </p:sp>
    </p:spTree>
    <p:extLst>
      <p:ext uri="{BB962C8B-B14F-4D97-AF65-F5344CB8AC3E}">
        <p14:creationId xmlns:p14="http://schemas.microsoft.com/office/powerpoint/2010/main" val="4079578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F42B1-23B2-9B3C-D150-78F83A7CDD06}"/>
              </a:ext>
            </a:extLst>
          </p:cNvPr>
          <p:cNvSpPr>
            <a:spLocks noGrp="1"/>
          </p:cNvSpPr>
          <p:nvPr>
            <p:ph type="title"/>
          </p:nvPr>
        </p:nvSpPr>
        <p:spPr/>
        <p:txBody>
          <a:bodyPr/>
          <a:lstStyle/>
          <a:p>
            <a:r>
              <a:rPr lang="en-US" dirty="0"/>
              <a:t>GWAS of Body Mass Index (BMI)</a:t>
            </a:r>
          </a:p>
        </p:txBody>
      </p:sp>
      <p:sp>
        <p:nvSpPr>
          <p:cNvPr id="5" name="Content Placeholder 4">
            <a:extLst>
              <a:ext uri="{FF2B5EF4-FFF2-40B4-BE49-F238E27FC236}">
                <a16:creationId xmlns:a16="http://schemas.microsoft.com/office/drawing/2014/main" id="{CCC6935F-4372-4108-44A3-8D99A3565622}"/>
              </a:ext>
            </a:extLst>
          </p:cNvPr>
          <p:cNvSpPr>
            <a:spLocks noGrp="1"/>
          </p:cNvSpPr>
          <p:nvPr>
            <p:ph idx="1"/>
          </p:nvPr>
        </p:nvSpPr>
        <p:spPr/>
        <p:txBody>
          <a:bodyPr/>
          <a:lstStyle/>
          <a:p>
            <a:r>
              <a:rPr lang="en-US" dirty="0"/>
              <a:t>Goal: identify genetic </a:t>
            </a:r>
            <a:r>
              <a:rPr lang="en-US" u="sng" dirty="0"/>
              <a:t>loci</a:t>
            </a:r>
            <a:r>
              <a:rPr lang="en-US" dirty="0"/>
              <a:t> (regions in the genome) associated with BMI</a:t>
            </a:r>
          </a:p>
          <a:p>
            <a:r>
              <a:rPr lang="en-US" dirty="0"/>
              <a:t>GWAS cannot identify causal genes</a:t>
            </a:r>
          </a:p>
          <a:p>
            <a:pPr lvl="1"/>
            <a:r>
              <a:rPr lang="en-US" dirty="0"/>
              <a:t>But it can point to loci that contain causal disease genes or </a:t>
            </a:r>
            <a:r>
              <a:rPr lang="en-US" u="sng" dirty="0"/>
              <a:t>regulatory elements</a:t>
            </a:r>
            <a:r>
              <a:rPr lang="en-US" dirty="0"/>
              <a:t> that act on gene expression</a:t>
            </a:r>
          </a:p>
        </p:txBody>
      </p:sp>
      <p:sp>
        <p:nvSpPr>
          <p:cNvPr id="3" name="Slide Number Placeholder 2">
            <a:extLst>
              <a:ext uri="{FF2B5EF4-FFF2-40B4-BE49-F238E27FC236}">
                <a16:creationId xmlns:a16="http://schemas.microsoft.com/office/drawing/2014/main" id="{9B3B6C82-6B26-B1E4-63D1-DC71ECBB0693}"/>
              </a:ext>
            </a:extLst>
          </p:cNvPr>
          <p:cNvSpPr>
            <a:spLocks noGrp="1"/>
          </p:cNvSpPr>
          <p:nvPr>
            <p:ph type="sldNum" sz="quarter" idx="12"/>
          </p:nvPr>
        </p:nvSpPr>
        <p:spPr/>
        <p:txBody>
          <a:bodyPr/>
          <a:lstStyle/>
          <a:p>
            <a:fld id="{8C17B027-94AA-734A-ACC9-170E40BA2B18}" type="slidenum">
              <a:rPr lang="en-US" smtClean="0"/>
              <a:pPr/>
              <a:t>32</a:t>
            </a:fld>
            <a:endParaRPr lang="en-US"/>
          </a:p>
        </p:txBody>
      </p:sp>
    </p:spTree>
    <p:extLst>
      <p:ext uri="{BB962C8B-B14F-4D97-AF65-F5344CB8AC3E}">
        <p14:creationId xmlns:p14="http://schemas.microsoft.com/office/powerpoint/2010/main" val="2276800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7FB2-D2BA-3936-F7A0-DAD078F5CA72}"/>
              </a:ext>
            </a:extLst>
          </p:cNvPr>
          <p:cNvSpPr>
            <a:spLocks noGrp="1"/>
          </p:cNvSpPr>
          <p:nvPr>
            <p:ph type="title"/>
          </p:nvPr>
        </p:nvSpPr>
        <p:spPr>
          <a:xfrm>
            <a:off x="198765" y="320567"/>
            <a:ext cx="8001000" cy="571500"/>
          </a:xfrm>
        </p:spPr>
        <p:txBody>
          <a:bodyPr/>
          <a:lstStyle/>
          <a:p>
            <a:r>
              <a:rPr lang="en-US" sz="2800" dirty="0"/>
              <a:t>GWAS linear regression model at a single SNP</a:t>
            </a:r>
          </a:p>
        </p:txBody>
      </p:sp>
      <p:sp>
        <p:nvSpPr>
          <p:cNvPr id="21" name="Content Placeholder 4">
            <a:extLst>
              <a:ext uri="{FF2B5EF4-FFF2-40B4-BE49-F238E27FC236}">
                <a16:creationId xmlns:a16="http://schemas.microsoft.com/office/drawing/2014/main" id="{69862424-E9EF-7685-1071-74F9386180F3}"/>
              </a:ext>
            </a:extLst>
          </p:cNvPr>
          <p:cNvSpPr>
            <a:spLocks noGrp="1"/>
          </p:cNvSpPr>
          <p:nvPr>
            <p:ph idx="1"/>
          </p:nvPr>
        </p:nvSpPr>
        <p:spPr>
          <a:xfrm>
            <a:off x="109415" y="1275069"/>
            <a:ext cx="4710614" cy="3238500"/>
          </a:xfrm>
        </p:spPr>
        <p:txBody>
          <a:bodyPr/>
          <a:lstStyle/>
          <a:p>
            <a:pPr marL="457200" indent="-457200">
              <a:buFont typeface="+mj-lt"/>
              <a:buAutoNum type="arabicPeriod"/>
            </a:pPr>
            <a:r>
              <a:rPr lang="en-US" sz="2000" dirty="0"/>
              <a:t>For each individual, plot their:</a:t>
            </a:r>
          </a:p>
          <a:p>
            <a:pPr marL="857250" lvl="1" indent="-457200"/>
            <a:r>
              <a:rPr lang="en-US" sz="1400" dirty="0"/>
              <a:t>Genotype in terms of number of </a:t>
            </a:r>
            <a:r>
              <a:rPr lang="en-US" sz="1400" u="sng" dirty="0"/>
              <a:t>effect alleles</a:t>
            </a:r>
            <a:r>
              <a:rPr lang="en-US" sz="1400" dirty="0"/>
              <a:t> (x-axis)</a:t>
            </a:r>
          </a:p>
          <a:p>
            <a:pPr marL="857250" lvl="1" indent="-457200"/>
            <a:r>
              <a:rPr lang="en-US" sz="1400" dirty="0"/>
              <a:t>BMI (y-axis)</a:t>
            </a:r>
          </a:p>
        </p:txBody>
      </p:sp>
      <p:sp>
        <p:nvSpPr>
          <p:cNvPr id="4" name="Slide Number Placeholder 3">
            <a:extLst>
              <a:ext uri="{FF2B5EF4-FFF2-40B4-BE49-F238E27FC236}">
                <a16:creationId xmlns:a16="http://schemas.microsoft.com/office/drawing/2014/main" id="{F81AE042-6C69-CE47-BC62-AD5C59E2034C}"/>
              </a:ext>
            </a:extLst>
          </p:cNvPr>
          <p:cNvSpPr>
            <a:spLocks noGrp="1"/>
          </p:cNvSpPr>
          <p:nvPr>
            <p:ph type="sldNum" sz="quarter" idx="12"/>
          </p:nvPr>
        </p:nvSpPr>
        <p:spPr/>
        <p:txBody>
          <a:bodyPr/>
          <a:lstStyle/>
          <a:p>
            <a:fld id="{9708802B-CECE-C644-A6A3-3C9AAC922203}" type="slidenum">
              <a:rPr lang="en-US" smtClean="0"/>
              <a:pPr/>
              <a:t>33</a:t>
            </a:fld>
            <a:endParaRPr lang="en-US"/>
          </a:p>
        </p:txBody>
      </p:sp>
      <p:grpSp>
        <p:nvGrpSpPr>
          <p:cNvPr id="6" name="Group 5">
            <a:extLst>
              <a:ext uri="{FF2B5EF4-FFF2-40B4-BE49-F238E27FC236}">
                <a16:creationId xmlns:a16="http://schemas.microsoft.com/office/drawing/2014/main" id="{85375381-B1EB-7770-D9F0-35D1449B8FA1}"/>
              </a:ext>
            </a:extLst>
          </p:cNvPr>
          <p:cNvGrpSpPr/>
          <p:nvPr/>
        </p:nvGrpSpPr>
        <p:grpSpPr>
          <a:xfrm>
            <a:off x="4872760" y="1136570"/>
            <a:ext cx="4271240" cy="3641006"/>
            <a:chOff x="-29106" y="1778192"/>
            <a:chExt cx="5757671" cy="4796248"/>
          </a:xfrm>
          <a:effectLst>
            <a:outerShdw blurRad="50800" dist="38100" dir="2700000" algn="tl" rotWithShape="0">
              <a:prstClr val="black">
                <a:alpha val="40000"/>
              </a:prstClr>
            </a:outerShdw>
          </a:effectLst>
        </p:grpSpPr>
        <p:sp>
          <p:nvSpPr>
            <p:cNvPr id="7" name="Rectangle 6">
              <a:extLst>
                <a:ext uri="{FF2B5EF4-FFF2-40B4-BE49-F238E27FC236}">
                  <a16:creationId xmlns:a16="http://schemas.microsoft.com/office/drawing/2014/main" id="{F724F473-22A9-14B9-3EA5-3DF5EF809B46}"/>
                </a:ext>
              </a:extLst>
            </p:cNvPr>
            <p:cNvSpPr/>
            <p:nvPr/>
          </p:nvSpPr>
          <p:spPr>
            <a:xfrm>
              <a:off x="-29106" y="1778192"/>
              <a:ext cx="5444070" cy="4796248"/>
            </a:xfrm>
            <a:prstGeom prst="rect">
              <a:avLst/>
            </a:prstGeom>
            <a:solidFill>
              <a:schemeClr val="bg1"/>
            </a:solidFill>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endParaRPr lang="en-US" dirty="0"/>
            </a:p>
          </p:txBody>
        </p:sp>
        <p:pic>
          <p:nvPicPr>
            <p:cNvPr id="8" name="Picture 7">
              <a:extLst>
                <a:ext uri="{FF2B5EF4-FFF2-40B4-BE49-F238E27FC236}">
                  <a16:creationId xmlns:a16="http://schemas.microsoft.com/office/drawing/2014/main" id="{B3BB6A12-395E-FA8F-2291-6F22AE2E3682}"/>
                </a:ext>
              </a:extLst>
            </p:cNvPr>
            <p:cNvPicPr>
              <a:picLocks noChangeAspect="1"/>
            </p:cNvPicPr>
            <p:nvPr/>
          </p:nvPicPr>
          <p:blipFill>
            <a:blip r:embed="rId3"/>
            <a:stretch>
              <a:fillRect/>
            </a:stretch>
          </p:blipFill>
          <p:spPr>
            <a:xfrm>
              <a:off x="330218" y="2150453"/>
              <a:ext cx="4950392" cy="3515162"/>
            </a:xfrm>
            <a:prstGeom prst="rect">
              <a:avLst/>
            </a:prstGeom>
          </p:spPr>
        </p:pic>
        <p:sp>
          <p:nvSpPr>
            <p:cNvPr id="9" name="TextBox 12">
              <a:extLst>
                <a:ext uri="{FF2B5EF4-FFF2-40B4-BE49-F238E27FC236}">
                  <a16:creationId xmlns:a16="http://schemas.microsoft.com/office/drawing/2014/main" id="{79173464-3339-162E-8679-F17129352A74}"/>
                </a:ext>
              </a:extLst>
            </p:cNvPr>
            <p:cNvSpPr txBox="1"/>
            <p:nvPr/>
          </p:nvSpPr>
          <p:spPr>
            <a:xfrm>
              <a:off x="119203" y="1778192"/>
              <a:ext cx="5609362" cy="364887"/>
            </a:xfrm>
            <a:prstGeom prst="rect">
              <a:avLst/>
            </a:prstGeom>
            <a:no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200" b="1" dirty="0"/>
                <a:t>BMI ~ SNP 1 Genotype </a:t>
              </a:r>
            </a:p>
          </p:txBody>
        </p:sp>
        <p:sp>
          <p:nvSpPr>
            <p:cNvPr id="10" name="TextBox 15">
              <a:extLst>
                <a:ext uri="{FF2B5EF4-FFF2-40B4-BE49-F238E27FC236}">
                  <a16:creationId xmlns:a16="http://schemas.microsoft.com/office/drawing/2014/main" id="{7B8B1DB1-9DB0-DF23-0D72-C358F81A04E2}"/>
                </a:ext>
              </a:extLst>
            </p:cNvPr>
            <p:cNvSpPr txBox="1"/>
            <p:nvPr/>
          </p:nvSpPr>
          <p:spPr>
            <a:xfrm>
              <a:off x="1599699" y="5796213"/>
              <a:ext cx="2792187" cy="689231"/>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Number of effect alleles at SNP 1</a:t>
              </a:r>
            </a:p>
          </p:txBody>
        </p:sp>
        <p:sp>
          <p:nvSpPr>
            <p:cNvPr id="11" name="TextBox 16">
              <a:extLst>
                <a:ext uri="{FF2B5EF4-FFF2-40B4-BE49-F238E27FC236}">
                  <a16:creationId xmlns:a16="http://schemas.microsoft.com/office/drawing/2014/main" id="{BBF6815F-8DAF-92E9-6194-EF844EDB594F}"/>
                </a:ext>
              </a:extLst>
            </p:cNvPr>
            <p:cNvSpPr txBox="1"/>
            <p:nvPr/>
          </p:nvSpPr>
          <p:spPr>
            <a:xfrm rot="16200000">
              <a:off x="-1012319" y="3700590"/>
              <a:ext cx="2792186" cy="414886"/>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BMI</a:t>
              </a:r>
            </a:p>
          </p:txBody>
        </p:sp>
      </p:grpSp>
      <p:sp>
        <p:nvSpPr>
          <p:cNvPr id="12" name="TextBox 15">
            <a:extLst>
              <a:ext uri="{FF2B5EF4-FFF2-40B4-BE49-F238E27FC236}">
                <a16:creationId xmlns:a16="http://schemas.microsoft.com/office/drawing/2014/main" id="{6D07BD12-95C4-7B14-2F2A-2AE2608D349D}"/>
              </a:ext>
            </a:extLst>
          </p:cNvPr>
          <p:cNvSpPr txBox="1"/>
          <p:nvPr/>
        </p:nvSpPr>
        <p:spPr>
          <a:xfrm>
            <a:off x="5761628" y="3886200"/>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0</a:t>
            </a:r>
          </a:p>
        </p:txBody>
      </p:sp>
      <p:sp>
        <p:nvSpPr>
          <p:cNvPr id="14" name="TextBox 15">
            <a:extLst>
              <a:ext uri="{FF2B5EF4-FFF2-40B4-BE49-F238E27FC236}">
                <a16:creationId xmlns:a16="http://schemas.microsoft.com/office/drawing/2014/main" id="{048457C9-5466-41BF-6668-A21C863A0C42}"/>
              </a:ext>
            </a:extLst>
          </p:cNvPr>
          <p:cNvSpPr txBox="1"/>
          <p:nvPr/>
        </p:nvSpPr>
        <p:spPr>
          <a:xfrm>
            <a:off x="6796689" y="3863176"/>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1</a:t>
            </a:r>
          </a:p>
        </p:txBody>
      </p:sp>
      <p:sp>
        <p:nvSpPr>
          <p:cNvPr id="15" name="TextBox 15">
            <a:extLst>
              <a:ext uri="{FF2B5EF4-FFF2-40B4-BE49-F238E27FC236}">
                <a16:creationId xmlns:a16="http://schemas.microsoft.com/office/drawing/2014/main" id="{6D723364-1BC8-722F-3B8A-60CA276042C9}"/>
              </a:ext>
            </a:extLst>
          </p:cNvPr>
          <p:cNvSpPr txBox="1"/>
          <p:nvPr/>
        </p:nvSpPr>
        <p:spPr>
          <a:xfrm>
            <a:off x="7885705" y="3863176"/>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2</a:t>
            </a:r>
          </a:p>
        </p:txBody>
      </p:sp>
    </p:spTree>
    <p:extLst>
      <p:ext uri="{BB962C8B-B14F-4D97-AF65-F5344CB8AC3E}">
        <p14:creationId xmlns:p14="http://schemas.microsoft.com/office/powerpoint/2010/main" val="2857139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7FB2-D2BA-3936-F7A0-DAD078F5CA72}"/>
              </a:ext>
            </a:extLst>
          </p:cNvPr>
          <p:cNvSpPr>
            <a:spLocks noGrp="1"/>
          </p:cNvSpPr>
          <p:nvPr>
            <p:ph type="title"/>
          </p:nvPr>
        </p:nvSpPr>
        <p:spPr>
          <a:xfrm>
            <a:off x="198765" y="320567"/>
            <a:ext cx="8001000" cy="571500"/>
          </a:xfrm>
        </p:spPr>
        <p:txBody>
          <a:bodyPr/>
          <a:lstStyle/>
          <a:p>
            <a:r>
              <a:rPr lang="en-US" sz="2800" dirty="0"/>
              <a:t>GWAS linear regression model at a single SNP</a:t>
            </a:r>
          </a:p>
        </p:txBody>
      </p:sp>
      <mc:AlternateContent xmlns:mc="http://schemas.openxmlformats.org/markup-compatibility/2006" xmlns:a14="http://schemas.microsoft.com/office/drawing/2010/main">
        <mc:Choice Requires="a14">
          <p:sp>
            <p:nvSpPr>
              <p:cNvPr id="21" name="Content Placeholder 4">
                <a:extLst>
                  <a:ext uri="{FF2B5EF4-FFF2-40B4-BE49-F238E27FC236}">
                    <a16:creationId xmlns:a16="http://schemas.microsoft.com/office/drawing/2014/main" id="{69862424-E9EF-7685-1071-74F9386180F3}"/>
                  </a:ext>
                </a:extLst>
              </p:cNvPr>
              <p:cNvSpPr>
                <a:spLocks noGrp="1"/>
              </p:cNvSpPr>
              <p:nvPr>
                <p:ph idx="1"/>
              </p:nvPr>
            </p:nvSpPr>
            <p:spPr>
              <a:xfrm>
                <a:off x="63716" y="2567546"/>
                <a:ext cx="4710614" cy="3238500"/>
              </a:xfrm>
            </p:spPr>
            <p:txBody>
              <a:bodyPr/>
              <a:lstStyle/>
              <a:p>
                <a:pPr marL="0" indent="0">
                  <a:buNone/>
                </a:pPr>
                <a:endParaRPr lang="en-US" sz="1400" dirty="0"/>
              </a:p>
              <a:p>
                <a:pPr marL="457200" indent="-457200">
                  <a:buFont typeface="+mj-lt"/>
                  <a:buAutoNum type="arabicPeriod" startAt="2"/>
                </a:pPr>
                <a:r>
                  <a:rPr lang="en-US" sz="2000" dirty="0"/>
                  <a:t>Using </a:t>
                </a:r>
                <a:r>
                  <a:rPr lang="en-US" sz="2000" u="sng" dirty="0"/>
                  <a:t>linear regression</a:t>
                </a:r>
                <a:r>
                  <a:rPr lang="en-US" sz="2000" dirty="0"/>
                  <a:t>, estimate the relationship between genotype and BMI</a:t>
                </a:r>
              </a:p>
              <a:p>
                <a:pPr marL="857250" lvl="1" indent="-457200"/>
                <a14:m>
                  <m:oMath xmlns:m="http://schemas.openxmlformats.org/officeDocument/2006/math">
                    <m:r>
                      <a:rPr lang="en-US" sz="1800" i="1" u="sng" smtClean="0">
                        <a:latin typeface="Cambria Math" panose="02040503050406030204" pitchFamily="18" charset="0"/>
                        <a:ea typeface="Cambria Math" panose="02040503050406030204" pitchFamily="18" charset="0"/>
                      </a:rPr>
                      <m:t>𝛽</m:t>
                    </m:r>
                    <m:r>
                      <a:rPr lang="en-US" sz="1800" i="1" u="sng" smtClean="0">
                        <a:latin typeface="Cambria Math" panose="02040503050406030204" pitchFamily="18" charset="0"/>
                        <a:ea typeface="Cambria Math" panose="02040503050406030204" pitchFamily="18" charset="0"/>
                      </a:rPr>
                      <m:t> </m:t>
                    </m:r>
                  </m:oMath>
                </a14:m>
                <a:r>
                  <a:rPr lang="en-US" sz="1400" u="sng" dirty="0"/>
                  <a:t>(Beta) = slope</a:t>
                </a:r>
                <a:r>
                  <a:rPr lang="en-US" sz="1400" dirty="0"/>
                  <a:t>. The amount BMI changes for each additional effect allele at SNP 1 </a:t>
                </a:r>
              </a:p>
            </p:txBody>
          </p:sp>
        </mc:Choice>
        <mc:Fallback xmlns="">
          <p:sp>
            <p:nvSpPr>
              <p:cNvPr id="21" name="Content Placeholder 4">
                <a:extLst>
                  <a:ext uri="{FF2B5EF4-FFF2-40B4-BE49-F238E27FC236}">
                    <a16:creationId xmlns:a16="http://schemas.microsoft.com/office/drawing/2014/main" id="{69862424-E9EF-7685-1071-74F9386180F3}"/>
                  </a:ext>
                </a:extLst>
              </p:cNvPr>
              <p:cNvSpPr>
                <a:spLocks noGrp="1" noRot="1" noChangeAspect="1" noMove="1" noResize="1" noEditPoints="1" noAdjustHandles="1" noChangeArrowheads="1" noChangeShapeType="1" noTextEdit="1"/>
              </p:cNvSpPr>
              <p:nvPr>
                <p:ph idx="1"/>
              </p:nvPr>
            </p:nvSpPr>
            <p:spPr>
              <a:xfrm>
                <a:off x="63716" y="2567546"/>
                <a:ext cx="4710614" cy="3238500"/>
              </a:xfrm>
              <a:blipFill>
                <a:blip r:embed="rId4"/>
                <a:stretch>
                  <a:fillRect l="-2957" r="-215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81AE042-6C69-CE47-BC62-AD5C59E2034C}"/>
              </a:ext>
            </a:extLst>
          </p:cNvPr>
          <p:cNvSpPr>
            <a:spLocks noGrp="1"/>
          </p:cNvSpPr>
          <p:nvPr>
            <p:ph type="sldNum" sz="quarter" idx="12"/>
          </p:nvPr>
        </p:nvSpPr>
        <p:spPr/>
        <p:txBody>
          <a:bodyPr/>
          <a:lstStyle/>
          <a:p>
            <a:fld id="{9708802B-CECE-C644-A6A3-3C9AAC922203}" type="slidenum">
              <a:rPr lang="en-US" smtClean="0"/>
              <a:pPr/>
              <a:t>34</a:t>
            </a:fld>
            <a:endParaRPr lang="en-US"/>
          </a:p>
        </p:txBody>
      </p:sp>
      <p:grpSp>
        <p:nvGrpSpPr>
          <p:cNvPr id="6" name="Group 5">
            <a:extLst>
              <a:ext uri="{FF2B5EF4-FFF2-40B4-BE49-F238E27FC236}">
                <a16:creationId xmlns:a16="http://schemas.microsoft.com/office/drawing/2014/main" id="{85375381-B1EB-7770-D9F0-35D1449B8FA1}"/>
              </a:ext>
            </a:extLst>
          </p:cNvPr>
          <p:cNvGrpSpPr/>
          <p:nvPr/>
        </p:nvGrpSpPr>
        <p:grpSpPr>
          <a:xfrm>
            <a:off x="4872760" y="1409700"/>
            <a:ext cx="4271240" cy="3641006"/>
            <a:chOff x="-29106" y="1778192"/>
            <a:chExt cx="5757671" cy="4796248"/>
          </a:xfrm>
          <a:effectLst>
            <a:outerShdw blurRad="50800" dist="38100" dir="2700000" algn="tl" rotWithShape="0">
              <a:prstClr val="black">
                <a:alpha val="40000"/>
              </a:prstClr>
            </a:outerShdw>
          </a:effectLst>
        </p:grpSpPr>
        <p:sp>
          <p:nvSpPr>
            <p:cNvPr id="7" name="Rectangle 6">
              <a:extLst>
                <a:ext uri="{FF2B5EF4-FFF2-40B4-BE49-F238E27FC236}">
                  <a16:creationId xmlns:a16="http://schemas.microsoft.com/office/drawing/2014/main" id="{F724F473-22A9-14B9-3EA5-3DF5EF809B46}"/>
                </a:ext>
              </a:extLst>
            </p:cNvPr>
            <p:cNvSpPr/>
            <p:nvPr/>
          </p:nvSpPr>
          <p:spPr>
            <a:xfrm>
              <a:off x="-29106" y="1778192"/>
              <a:ext cx="5444070" cy="4796248"/>
            </a:xfrm>
            <a:prstGeom prst="rect">
              <a:avLst/>
            </a:prstGeom>
            <a:solidFill>
              <a:schemeClr val="bg1"/>
            </a:solidFill>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endParaRPr lang="en-US" dirty="0"/>
            </a:p>
          </p:txBody>
        </p:sp>
        <p:pic>
          <p:nvPicPr>
            <p:cNvPr id="8" name="Picture 7">
              <a:extLst>
                <a:ext uri="{FF2B5EF4-FFF2-40B4-BE49-F238E27FC236}">
                  <a16:creationId xmlns:a16="http://schemas.microsoft.com/office/drawing/2014/main" id="{B3BB6A12-395E-FA8F-2291-6F22AE2E3682}"/>
                </a:ext>
              </a:extLst>
            </p:cNvPr>
            <p:cNvPicPr>
              <a:picLocks noChangeAspect="1"/>
            </p:cNvPicPr>
            <p:nvPr/>
          </p:nvPicPr>
          <p:blipFill>
            <a:blip r:embed="rId5"/>
            <a:stretch>
              <a:fillRect/>
            </a:stretch>
          </p:blipFill>
          <p:spPr>
            <a:xfrm>
              <a:off x="330218" y="2150453"/>
              <a:ext cx="4950392" cy="3515162"/>
            </a:xfrm>
            <a:prstGeom prst="rect">
              <a:avLst/>
            </a:prstGeom>
          </p:spPr>
        </p:pic>
        <p:sp>
          <p:nvSpPr>
            <p:cNvPr id="9" name="TextBox 12">
              <a:extLst>
                <a:ext uri="{FF2B5EF4-FFF2-40B4-BE49-F238E27FC236}">
                  <a16:creationId xmlns:a16="http://schemas.microsoft.com/office/drawing/2014/main" id="{79173464-3339-162E-8679-F17129352A74}"/>
                </a:ext>
              </a:extLst>
            </p:cNvPr>
            <p:cNvSpPr txBox="1"/>
            <p:nvPr/>
          </p:nvSpPr>
          <p:spPr>
            <a:xfrm>
              <a:off x="119203" y="1778192"/>
              <a:ext cx="5609362" cy="364887"/>
            </a:xfrm>
            <a:prstGeom prst="rect">
              <a:avLst/>
            </a:prstGeom>
            <a:no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200" b="1" dirty="0"/>
                <a:t>BMI ~ SNP 1 Genotype </a:t>
              </a:r>
            </a:p>
          </p:txBody>
        </p:sp>
        <p:sp>
          <p:nvSpPr>
            <p:cNvPr id="10" name="TextBox 15">
              <a:extLst>
                <a:ext uri="{FF2B5EF4-FFF2-40B4-BE49-F238E27FC236}">
                  <a16:creationId xmlns:a16="http://schemas.microsoft.com/office/drawing/2014/main" id="{7B8B1DB1-9DB0-DF23-0D72-C358F81A04E2}"/>
                </a:ext>
              </a:extLst>
            </p:cNvPr>
            <p:cNvSpPr txBox="1"/>
            <p:nvPr/>
          </p:nvSpPr>
          <p:spPr>
            <a:xfrm>
              <a:off x="1599699" y="5796213"/>
              <a:ext cx="2792187" cy="689231"/>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Number of effect alleles at SNP 1</a:t>
              </a:r>
            </a:p>
          </p:txBody>
        </p:sp>
        <p:sp>
          <p:nvSpPr>
            <p:cNvPr id="11" name="TextBox 16">
              <a:extLst>
                <a:ext uri="{FF2B5EF4-FFF2-40B4-BE49-F238E27FC236}">
                  <a16:creationId xmlns:a16="http://schemas.microsoft.com/office/drawing/2014/main" id="{BBF6815F-8DAF-92E9-6194-EF844EDB594F}"/>
                </a:ext>
              </a:extLst>
            </p:cNvPr>
            <p:cNvSpPr txBox="1"/>
            <p:nvPr/>
          </p:nvSpPr>
          <p:spPr>
            <a:xfrm rot="16200000">
              <a:off x="-1012319" y="3700590"/>
              <a:ext cx="2792186" cy="414886"/>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BMI</a:t>
              </a:r>
            </a:p>
          </p:txBody>
        </p:sp>
      </p:grpSp>
      <p:sp>
        <p:nvSpPr>
          <p:cNvPr id="12" name="TextBox 15">
            <a:extLst>
              <a:ext uri="{FF2B5EF4-FFF2-40B4-BE49-F238E27FC236}">
                <a16:creationId xmlns:a16="http://schemas.microsoft.com/office/drawing/2014/main" id="{6D07BD12-95C4-7B14-2F2A-2AE2608D349D}"/>
              </a:ext>
            </a:extLst>
          </p:cNvPr>
          <p:cNvSpPr txBox="1"/>
          <p:nvPr/>
        </p:nvSpPr>
        <p:spPr>
          <a:xfrm>
            <a:off x="5761628" y="4159330"/>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0</a:t>
            </a:r>
          </a:p>
        </p:txBody>
      </p:sp>
      <p:sp>
        <p:nvSpPr>
          <p:cNvPr id="14" name="TextBox 15">
            <a:extLst>
              <a:ext uri="{FF2B5EF4-FFF2-40B4-BE49-F238E27FC236}">
                <a16:creationId xmlns:a16="http://schemas.microsoft.com/office/drawing/2014/main" id="{048457C9-5466-41BF-6668-A21C863A0C42}"/>
              </a:ext>
            </a:extLst>
          </p:cNvPr>
          <p:cNvSpPr txBox="1"/>
          <p:nvPr/>
        </p:nvSpPr>
        <p:spPr>
          <a:xfrm>
            <a:off x="6796689" y="4136306"/>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1</a:t>
            </a:r>
          </a:p>
        </p:txBody>
      </p:sp>
      <p:sp>
        <p:nvSpPr>
          <p:cNvPr id="15" name="TextBox 15">
            <a:extLst>
              <a:ext uri="{FF2B5EF4-FFF2-40B4-BE49-F238E27FC236}">
                <a16:creationId xmlns:a16="http://schemas.microsoft.com/office/drawing/2014/main" id="{6D723364-1BC8-722F-3B8A-60CA276042C9}"/>
              </a:ext>
            </a:extLst>
          </p:cNvPr>
          <p:cNvSpPr txBox="1"/>
          <p:nvPr/>
        </p:nvSpPr>
        <p:spPr>
          <a:xfrm>
            <a:off x="7885705" y="4136306"/>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2</a:t>
            </a:r>
          </a:p>
        </p:txBody>
      </p:sp>
      <p:cxnSp>
        <p:nvCxnSpPr>
          <p:cNvPr id="25" name="Straight Connector 24">
            <a:extLst>
              <a:ext uri="{FF2B5EF4-FFF2-40B4-BE49-F238E27FC236}">
                <a16:creationId xmlns:a16="http://schemas.microsoft.com/office/drawing/2014/main" id="{E86E443A-F30C-392B-2697-6F38D2AB29B2}"/>
              </a:ext>
            </a:extLst>
          </p:cNvPr>
          <p:cNvCxnSpPr>
            <a:cxnSpLocks/>
          </p:cNvCxnSpPr>
          <p:nvPr/>
        </p:nvCxnSpPr>
        <p:spPr bwMode="auto">
          <a:xfrm flipV="1">
            <a:off x="5332938" y="2536106"/>
            <a:ext cx="3426022" cy="490433"/>
          </a:xfrm>
          <a:prstGeom prst="line">
            <a:avLst/>
          </a:prstGeom>
          <a:solidFill>
            <a:schemeClr val="accent1"/>
          </a:solidFill>
          <a:ln w="38100" cap="flat" cmpd="sng" algn="ctr">
            <a:solidFill>
              <a:srgbClr val="0070C0"/>
            </a:solidFill>
            <a:prstDash val="solid"/>
            <a:round/>
            <a:headEnd type="none" w="med" len="med"/>
            <a:tailEnd type="none" w="med" len="med"/>
          </a:ln>
          <a:effectLst/>
        </p:spPr>
      </p:cxnSp>
      <p:cxnSp>
        <p:nvCxnSpPr>
          <p:cNvPr id="34" name="Straight Arrow Connector 33">
            <a:extLst>
              <a:ext uri="{FF2B5EF4-FFF2-40B4-BE49-F238E27FC236}">
                <a16:creationId xmlns:a16="http://schemas.microsoft.com/office/drawing/2014/main" id="{496CC244-B8A8-A302-4B74-36C4B0E1B475}"/>
              </a:ext>
            </a:extLst>
          </p:cNvPr>
          <p:cNvCxnSpPr>
            <a:cxnSpLocks/>
          </p:cNvCxnSpPr>
          <p:nvPr/>
        </p:nvCxnSpPr>
        <p:spPr bwMode="auto">
          <a:xfrm flipV="1">
            <a:off x="4233429" y="3162300"/>
            <a:ext cx="1251909" cy="705516"/>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7649D6C9-15C4-A205-8CB5-F367B8B1C7FD}"/>
              </a:ext>
            </a:extLst>
          </p:cNvPr>
          <p:cNvSpPr txBox="1"/>
          <p:nvPr/>
        </p:nvSpPr>
        <p:spPr>
          <a:xfrm>
            <a:off x="211831" y="4978718"/>
            <a:ext cx="4710614" cy="738664"/>
          </a:xfrm>
          <a:prstGeom prst="rect">
            <a:avLst/>
          </a:prstGeom>
          <a:noFill/>
        </p:spPr>
        <p:txBody>
          <a:bodyPr wrap="square" rtlCol="0">
            <a:spAutoFit/>
          </a:bodyPr>
          <a:lstStyle/>
          <a:p>
            <a:r>
              <a:rPr lang="en-US" sz="1400" dirty="0">
                <a:solidFill>
                  <a:schemeClr val="tx2">
                    <a:lumMod val="75000"/>
                  </a:schemeClr>
                </a:solidFill>
                <a:latin typeface="Ayuthaya" pitchFamily="2" charset="-34"/>
                <a:ea typeface="Ayuthaya" pitchFamily="2" charset="-34"/>
                <a:cs typeface="Ayuthaya" pitchFamily="2" charset="-34"/>
              </a:rPr>
              <a:t>Note: </a:t>
            </a:r>
            <a:r>
              <a:rPr lang="en-US" sz="1400" u="sng" dirty="0">
                <a:solidFill>
                  <a:schemeClr val="tx2">
                    <a:lumMod val="75000"/>
                  </a:schemeClr>
                </a:solidFill>
                <a:latin typeface="Ayuthaya" pitchFamily="2" charset="-34"/>
                <a:ea typeface="Ayuthaya" pitchFamily="2" charset="-34"/>
                <a:cs typeface="Ayuthaya" pitchFamily="2" charset="-34"/>
              </a:rPr>
              <a:t>logistic regression</a:t>
            </a:r>
            <a:r>
              <a:rPr lang="en-US" sz="1400" dirty="0">
                <a:solidFill>
                  <a:schemeClr val="tx2">
                    <a:lumMod val="75000"/>
                  </a:schemeClr>
                </a:solidFill>
                <a:latin typeface="Ayuthaya" pitchFamily="2" charset="-34"/>
                <a:ea typeface="Ayuthaya" pitchFamily="2" charset="-34"/>
                <a:cs typeface="Ayuthaya" pitchFamily="2" charset="-34"/>
              </a:rPr>
              <a:t> is a slightly different model used for binary traits (e.g., case-control status)</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DC3BE85-373B-4258-F2AF-60BF9EEFBAF9}"/>
                  </a:ext>
                </a:extLst>
              </p:cNvPr>
              <p:cNvSpPr txBox="1"/>
              <p:nvPr/>
            </p:nvSpPr>
            <p:spPr>
              <a:xfrm>
                <a:off x="998917" y="867248"/>
                <a:ext cx="6897722"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ea typeface="Cambria Math" panose="02040503050406030204" pitchFamily="18" charset="0"/>
                        </a:rPr>
                        <m:t>𝑜𝑢𝑡𝑐𝑜𝑚𝑒</m:t>
                      </m:r>
                      <m:r>
                        <a:rPr lang="en-US" sz="2200" b="0" i="1" smtClean="0">
                          <a:latin typeface="Cambria Math" panose="02040503050406030204" pitchFamily="18" charset="0"/>
                          <a:ea typeface="Cambria Math" panose="02040503050406030204" pitchFamily="18" charset="0"/>
                        </a:rPr>
                        <m:t> =</m:t>
                      </m:r>
                      <m:r>
                        <a:rPr lang="en-US" sz="2200" i="1" smtClean="0">
                          <a:latin typeface="Cambria Math" panose="02040503050406030204" pitchFamily="18" charset="0"/>
                          <a:ea typeface="Cambria Math" panose="02040503050406030204" pitchFamily="18" charset="0"/>
                        </a:rPr>
                        <m:t>𝛽</m:t>
                      </m:r>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𝑆𝑁𝑃</m:t>
                          </m:r>
                        </m:e>
                        <m:sub>
                          <m:r>
                            <a:rPr lang="en-US" sz="2200" b="0" i="1" smtClean="0">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𝑖𝑛𝑡𝑒𝑟𝑐𝑒𝑝𝑡</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𝑐𝑜𝑣𝑎𝑟𝑖𝑎𝑡𝑒𝑠</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𝑒𝑟𝑟𝑜𝑟</m:t>
                      </m:r>
                    </m:oMath>
                  </m:oMathPara>
                </a14:m>
                <a:endParaRPr lang="en-US" sz="2200" dirty="0"/>
              </a:p>
            </p:txBody>
          </p:sp>
        </mc:Choice>
        <mc:Fallback xmlns="">
          <p:sp>
            <p:nvSpPr>
              <p:cNvPr id="23" name="TextBox 22">
                <a:extLst>
                  <a:ext uri="{FF2B5EF4-FFF2-40B4-BE49-F238E27FC236}">
                    <a16:creationId xmlns:a16="http://schemas.microsoft.com/office/drawing/2014/main" id="{2DC3BE85-373B-4258-F2AF-60BF9EEFBAF9}"/>
                  </a:ext>
                </a:extLst>
              </p:cNvPr>
              <p:cNvSpPr txBox="1">
                <a:spLocks noRot="1" noChangeAspect="1" noMove="1" noResize="1" noEditPoints="1" noAdjustHandles="1" noChangeArrowheads="1" noChangeShapeType="1" noTextEdit="1"/>
              </p:cNvSpPr>
              <p:nvPr/>
            </p:nvSpPr>
            <p:spPr>
              <a:xfrm>
                <a:off x="998917" y="867248"/>
                <a:ext cx="6897722" cy="338554"/>
              </a:xfrm>
              <a:prstGeom prst="rect">
                <a:avLst/>
              </a:prstGeom>
              <a:blipFill>
                <a:blip r:embed="rId6"/>
                <a:stretch>
                  <a:fillRect l="-184" t="-7143" b="-35714"/>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374307C3-83C8-B94D-D466-7A9D7DF98EA1}"/>
              </a:ext>
            </a:extLst>
          </p:cNvPr>
          <p:cNvSpPr txBox="1"/>
          <p:nvPr/>
        </p:nvSpPr>
        <p:spPr>
          <a:xfrm>
            <a:off x="858837" y="1574191"/>
            <a:ext cx="662381" cy="338554"/>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BMI</a:t>
            </a:r>
          </a:p>
        </p:txBody>
      </p:sp>
      <p:cxnSp>
        <p:nvCxnSpPr>
          <p:cNvPr id="26" name="Straight Arrow Connector 25">
            <a:extLst>
              <a:ext uri="{FF2B5EF4-FFF2-40B4-BE49-F238E27FC236}">
                <a16:creationId xmlns:a16="http://schemas.microsoft.com/office/drawing/2014/main" id="{62747441-00AE-1FE0-3F0A-EB5CAF56003D}"/>
              </a:ext>
            </a:extLst>
          </p:cNvPr>
          <p:cNvCxnSpPr>
            <a:cxnSpLocks/>
          </p:cNvCxnSpPr>
          <p:nvPr/>
        </p:nvCxnSpPr>
        <p:spPr bwMode="auto">
          <a:xfrm flipH="1">
            <a:off x="1150726" y="1205601"/>
            <a:ext cx="193269" cy="2997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TextBox 26">
            <a:extLst>
              <a:ext uri="{FF2B5EF4-FFF2-40B4-BE49-F238E27FC236}">
                <a16:creationId xmlns:a16="http://schemas.microsoft.com/office/drawing/2014/main" id="{96C8DA37-B4C3-D8E1-87A9-96D57A14B1C4}"/>
              </a:ext>
            </a:extLst>
          </p:cNvPr>
          <p:cNvSpPr txBox="1"/>
          <p:nvPr/>
        </p:nvSpPr>
        <p:spPr>
          <a:xfrm>
            <a:off x="2217419" y="1562100"/>
            <a:ext cx="1982788" cy="1077218"/>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Genotype at SNP1 in terms of number of effect alleles</a:t>
            </a:r>
          </a:p>
        </p:txBody>
      </p:sp>
      <p:cxnSp>
        <p:nvCxnSpPr>
          <p:cNvPr id="28" name="Straight Arrow Connector 27">
            <a:extLst>
              <a:ext uri="{FF2B5EF4-FFF2-40B4-BE49-F238E27FC236}">
                <a16:creationId xmlns:a16="http://schemas.microsoft.com/office/drawing/2014/main" id="{C2E943BD-3A01-BFAD-C04E-30727997B14B}"/>
              </a:ext>
            </a:extLst>
          </p:cNvPr>
          <p:cNvCxnSpPr>
            <a:cxnSpLocks/>
          </p:cNvCxnSpPr>
          <p:nvPr/>
        </p:nvCxnSpPr>
        <p:spPr bwMode="auto">
          <a:xfrm>
            <a:off x="3215141" y="1205601"/>
            <a:ext cx="0" cy="3376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351769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7FB2-D2BA-3936-F7A0-DAD078F5CA72}"/>
              </a:ext>
            </a:extLst>
          </p:cNvPr>
          <p:cNvSpPr>
            <a:spLocks noGrp="1"/>
          </p:cNvSpPr>
          <p:nvPr>
            <p:ph type="title"/>
          </p:nvPr>
        </p:nvSpPr>
        <p:spPr>
          <a:xfrm>
            <a:off x="198765" y="320567"/>
            <a:ext cx="8001000" cy="571500"/>
          </a:xfrm>
        </p:spPr>
        <p:txBody>
          <a:bodyPr/>
          <a:lstStyle/>
          <a:p>
            <a:r>
              <a:rPr lang="en-US" sz="2800" dirty="0"/>
              <a:t>GWAS linear regression model at a single SNP</a:t>
            </a:r>
          </a:p>
        </p:txBody>
      </p:sp>
      <p:sp>
        <p:nvSpPr>
          <p:cNvPr id="21" name="Content Placeholder 4">
            <a:extLst>
              <a:ext uri="{FF2B5EF4-FFF2-40B4-BE49-F238E27FC236}">
                <a16:creationId xmlns:a16="http://schemas.microsoft.com/office/drawing/2014/main" id="{69862424-E9EF-7685-1071-74F9386180F3}"/>
              </a:ext>
            </a:extLst>
          </p:cNvPr>
          <p:cNvSpPr>
            <a:spLocks noGrp="1"/>
          </p:cNvSpPr>
          <p:nvPr>
            <p:ph idx="1"/>
          </p:nvPr>
        </p:nvSpPr>
        <p:spPr>
          <a:xfrm>
            <a:off x="109415" y="1275069"/>
            <a:ext cx="4710614" cy="3238500"/>
          </a:xfrm>
        </p:spPr>
        <p:txBody>
          <a:bodyPr/>
          <a:lstStyle/>
          <a:p>
            <a:pPr marL="457200" indent="-457200">
              <a:buFont typeface="+mj-lt"/>
              <a:buAutoNum type="arabicPeriod" startAt="3"/>
            </a:pPr>
            <a:r>
              <a:rPr lang="en-US" sz="2000" dirty="0"/>
              <a:t>Repeat for each SNP in your data, genome-wide</a:t>
            </a:r>
            <a:endParaRPr lang="en-US" sz="1400" dirty="0"/>
          </a:p>
        </p:txBody>
      </p:sp>
      <p:sp>
        <p:nvSpPr>
          <p:cNvPr id="4" name="Slide Number Placeholder 3">
            <a:extLst>
              <a:ext uri="{FF2B5EF4-FFF2-40B4-BE49-F238E27FC236}">
                <a16:creationId xmlns:a16="http://schemas.microsoft.com/office/drawing/2014/main" id="{F81AE042-6C69-CE47-BC62-AD5C59E2034C}"/>
              </a:ext>
            </a:extLst>
          </p:cNvPr>
          <p:cNvSpPr>
            <a:spLocks noGrp="1"/>
          </p:cNvSpPr>
          <p:nvPr>
            <p:ph type="sldNum" sz="quarter" idx="12"/>
          </p:nvPr>
        </p:nvSpPr>
        <p:spPr/>
        <p:txBody>
          <a:bodyPr/>
          <a:lstStyle/>
          <a:p>
            <a:fld id="{9708802B-CECE-C644-A6A3-3C9AAC922203}" type="slidenum">
              <a:rPr lang="en-US" smtClean="0"/>
              <a:pPr/>
              <a:t>35</a:t>
            </a:fld>
            <a:endParaRPr lang="en-US"/>
          </a:p>
        </p:txBody>
      </p:sp>
      <p:grpSp>
        <p:nvGrpSpPr>
          <p:cNvPr id="6" name="Group 5">
            <a:extLst>
              <a:ext uri="{FF2B5EF4-FFF2-40B4-BE49-F238E27FC236}">
                <a16:creationId xmlns:a16="http://schemas.microsoft.com/office/drawing/2014/main" id="{85375381-B1EB-7770-D9F0-35D1449B8FA1}"/>
              </a:ext>
            </a:extLst>
          </p:cNvPr>
          <p:cNvGrpSpPr/>
          <p:nvPr/>
        </p:nvGrpSpPr>
        <p:grpSpPr>
          <a:xfrm>
            <a:off x="4872760" y="1136570"/>
            <a:ext cx="4271240" cy="3641006"/>
            <a:chOff x="-29106" y="1778192"/>
            <a:chExt cx="5757671" cy="4796248"/>
          </a:xfrm>
          <a:effectLst>
            <a:outerShdw blurRad="50800" dist="38100" dir="2700000" algn="tl" rotWithShape="0">
              <a:prstClr val="black">
                <a:alpha val="40000"/>
              </a:prstClr>
            </a:outerShdw>
          </a:effectLst>
        </p:grpSpPr>
        <p:sp>
          <p:nvSpPr>
            <p:cNvPr id="7" name="Rectangle 6">
              <a:extLst>
                <a:ext uri="{FF2B5EF4-FFF2-40B4-BE49-F238E27FC236}">
                  <a16:creationId xmlns:a16="http://schemas.microsoft.com/office/drawing/2014/main" id="{F724F473-22A9-14B9-3EA5-3DF5EF809B46}"/>
                </a:ext>
              </a:extLst>
            </p:cNvPr>
            <p:cNvSpPr/>
            <p:nvPr/>
          </p:nvSpPr>
          <p:spPr>
            <a:xfrm>
              <a:off x="-29106" y="1778192"/>
              <a:ext cx="5444070" cy="4796248"/>
            </a:xfrm>
            <a:prstGeom prst="rect">
              <a:avLst/>
            </a:prstGeom>
            <a:solidFill>
              <a:schemeClr val="bg1"/>
            </a:solidFill>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endParaRPr lang="en-US" dirty="0"/>
            </a:p>
          </p:txBody>
        </p:sp>
        <p:pic>
          <p:nvPicPr>
            <p:cNvPr id="8" name="Picture 7">
              <a:extLst>
                <a:ext uri="{FF2B5EF4-FFF2-40B4-BE49-F238E27FC236}">
                  <a16:creationId xmlns:a16="http://schemas.microsoft.com/office/drawing/2014/main" id="{B3BB6A12-395E-FA8F-2291-6F22AE2E3682}"/>
                </a:ext>
              </a:extLst>
            </p:cNvPr>
            <p:cNvPicPr>
              <a:picLocks noChangeAspect="1"/>
            </p:cNvPicPr>
            <p:nvPr/>
          </p:nvPicPr>
          <p:blipFill>
            <a:blip r:embed="rId3"/>
            <a:stretch>
              <a:fillRect/>
            </a:stretch>
          </p:blipFill>
          <p:spPr>
            <a:xfrm>
              <a:off x="330218" y="2150453"/>
              <a:ext cx="4950392" cy="3515162"/>
            </a:xfrm>
            <a:prstGeom prst="rect">
              <a:avLst/>
            </a:prstGeom>
          </p:spPr>
        </p:pic>
        <p:sp>
          <p:nvSpPr>
            <p:cNvPr id="9" name="TextBox 12">
              <a:extLst>
                <a:ext uri="{FF2B5EF4-FFF2-40B4-BE49-F238E27FC236}">
                  <a16:creationId xmlns:a16="http://schemas.microsoft.com/office/drawing/2014/main" id="{79173464-3339-162E-8679-F17129352A74}"/>
                </a:ext>
              </a:extLst>
            </p:cNvPr>
            <p:cNvSpPr txBox="1"/>
            <p:nvPr/>
          </p:nvSpPr>
          <p:spPr>
            <a:xfrm>
              <a:off x="119203" y="1778192"/>
              <a:ext cx="5609362" cy="364887"/>
            </a:xfrm>
            <a:prstGeom prst="rect">
              <a:avLst/>
            </a:prstGeom>
            <a:no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200" b="1" dirty="0"/>
                <a:t>BMI ~ SNP 1 Genotype </a:t>
              </a:r>
            </a:p>
          </p:txBody>
        </p:sp>
        <p:sp>
          <p:nvSpPr>
            <p:cNvPr id="10" name="TextBox 15">
              <a:extLst>
                <a:ext uri="{FF2B5EF4-FFF2-40B4-BE49-F238E27FC236}">
                  <a16:creationId xmlns:a16="http://schemas.microsoft.com/office/drawing/2014/main" id="{7B8B1DB1-9DB0-DF23-0D72-C358F81A04E2}"/>
                </a:ext>
              </a:extLst>
            </p:cNvPr>
            <p:cNvSpPr txBox="1"/>
            <p:nvPr/>
          </p:nvSpPr>
          <p:spPr>
            <a:xfrm>
              <a:off x="1599699" y="5796213"/>
              <a:ext cx="2792187" cy="689231"/>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Number of effect alleles at SNP 1</a:t>
              </a:r>
            </a:p>
          </p:txBody>
        </p:sp>
        <p:sp>
          <p:nvSpPr>
            <p:cNvPr id="11" name="TextBox 16">
              <a:extLst>
                <a:ext uri="{FF2B5EF4-FFF2-40B4-BE49-F238E27FC236}">
                  <a16:creationId xmlns:a16="http://schemas.microsoft.com/office/drawing/2014/main" id="{BBF6815F-8DAF-92E9-6194-EF844EDB594F}"/>
                </a:ext>
              </a:extLst>
            </p:cNvPr>
            <p:cNvSpPr txBox="1"/>
            <p:nvPr/>
          </p:nvSpPr>
          <p:spPr>
            <a:xfrm rot="16200000">
              <a:off x="-1012319" y="3700590"/>
              <a:ext cx="2792186" cy="414886"/>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BMI</a:t>
              </a:r>
            </a:p>
          </p:txBody>
        </p:sp>
      </p:grpSp>
      <p:sp>
        <p:nvSpPr>
          <p:cNvPr id="12" name="TextBox 15">
            <a:extLst>
              <a:ext uri="{FF2B5EF4-FFF2-40B4-BE49-F238E27FC236}">
                <a16:creationId xmlns:a16="http://schemas.microsoft.com/office/drawing/2014/main" id="{6D07BD12-95C4-7B14-2F2A-2AE2608D349D}"/>
              </a:ext>
            </a:extLst>
          </p:cNvPr>
          <p:cNvSpPr txBox="1"/>
          <p:nvPr/>
        </p:nvSpPr>
        <p:spPr>
          <a:xfrm>
            <a:off x="5761628" y="3886200"/>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0</a:t>
            </a:r>
          </a:p>
        </p:txBody>
      </p:sp>
      <p:sp>
        <p:nvSpPr>
          <p:cNvPr id="14" name="TextBox 15">
            <a:extLst>
              <a:ext uri="{FF2B5EF4-FFF2-40B4-BE49-F238E27FC236}">
                <a16:creationId xmlns:a16="http://schemas.microsoft.com/office/drawing/2014/main" id="{048457C9-5466-41BF-6668-A21C863A0C42}"/>
              </a:ext>
            </a:extLst>
          </p:cNvPr>
          <p:cNvSpPr txBox="1"/>
          <p:nvPr/>
        </p:nvSpPr>
        <p:spPr>
          <a:xfrm>
            <a:off x="6796689" y="3863176"/>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1</a:t>
            </a:r>
          </a:p>
        </p:txBody>
      </p:sp>
      <p:sp>
        <p:nvSpPr>
          <p:cNvPr id="15" name="TextBox 15">
            <a:extLst>
              <a:ext uri="{FF2B5EF4-FFF2-40B4-BE49-F238E27FC236}">
                <a16:creationId xmlns:a16="http://schemas.microsoft.com/office/drawing/2014/main" id="{6D723364-1BC8-722F-3B8A-60CA276042C9}"/>
              </a:ext>
            </a:extLst>
          </p:cNvPr>
          <p:cNvSpPr txBox="1"/>
          <p:nvPr/>
        </p:nvSpPr>
        <p:spPr>
          <a:xfrm>
            <a:off x="7885705" y="3863176"/>
            <a:ext cx="533400" cy="307777"/>
          </a:xfrm>
          <a:prstGeom prst="rect">
            <a:avLst/>
          </a:prstGeom>
          <a:solidFill>
            <a:schemeClr val="bg1"/>
          </a:solidFill>
        </p:spPr>
        <p:txBody>
          <a:bodyPr wrap="square" rtlCol="0">
            <a:spAutoFit/>
          </a:bodyPr>
          <a:lstStyle>
            <a:defPPr>
              <a:defRPr lang="en-US"/>
            </a:defPPr>
            <a:lvl1pPr marL="0" algn="l" defTabSz="410281" rtl="0" eaLnBrk="1" latinLnBrk="0" hangingPunct="1">
              <a:defRPr sz="1600" kern="1200">
                <a:solidFill>
                  <a:schemeClr val="tx1"/>
                </a:solidFill>
                <a:latin typeface="+mn-lt"/>
                <a:ea typeface="+mn-ea"/>
                <a:cs typeface="+mn-cs"/>
              </a:defRPr>
            </a:lvl1pPr>
            <a:lvl2pPr marL="410281" algn="l" defTabSz="410281" rtl="0" eaLnBrk="1" latinLnBrk="0" hangingPunct="1">
              <a:defRPr sz="1600" kern="1200">
                <a:solidFill>
                  <a:schemeClr val="tx1"/>
                </a:solidFill>
                <a:latin typeface="+mn-lt"/>
                <a:ea typeface="+mn-ea"/>
                <a:cs typeface="+mn-cs"/>
              </a:defRPr>
            </a:lvl2pPr>
            <a:lvl3pPr marL="820564" algn="l" defTabSz="410281" rtl="0" eaLnBrk="1" latinLnBrk="0" hangingPunct="1">
              <a:defRPr sz="1600" kern="1200">
                <a:solidFill>
                  <a:schemeClr val="tx1"/>
                </a:solidFill>
                <a:latin typeface="+mn-lt"/>
                <a:ea typeface="+mn-ea"/>
                <a:cs typeface="+mn-cs"/>
              </a:defRPr>
            </a:lvl3pPr>
            <a:lvl4pPr marL="1230845" algn="l" defTabSz="410281" rtl="0" eaLnBrk="1" latinLnBrk="0" hangingPunct="1">
              <a:defRPr sz="1600" kern="1200">
                <a:solidFill>
                  <a:schemeClr val="tx1"/>
                </a:solidFill>
                <a:latin typeface="+mn-lt"/>
                <a:ea typeface="+mn-ea"/>
                <a:cs typeface="+mn-cs"/>
              </a:defRPr>
            </a:lvl4pPr>
            <a:lvl5pPr marL="1641127" algn="l" defTabSz="410281" rtl="0" eaLnBrk="1" latinLnBrk="0" hangingPunct="1">
              <a:defRPr sz="1600" kern="1200">
                <a:solidFill>
                  <a:schemeClr val="tx1"/>
                </a:solidFill>
                <a:latin typeface="+mn-lt"/>
                <a:ea typeface="+mn-ea"/>
                <a:cs typeface="+mn-cs"/>
              </a:defRPr>
            </a:lvl5pPr>
            <a:lvl6pPr marL="2051408" algn="l" defTabSz="410281" rtl="0" eaLnBrk="1" latinLnBrk="0" hangingPunct="1">
              <a:defRPr sz="1600" kern="1200">
                <a:solidFill>
                  <a:schemeClr val="tx1"/>
                </a:solidFill>
                <a:latin typeface="+mn-lt"/>
                <a:ea typeface="+mn-ea"/>
                <a:cs typeface="+mn-cs"/>
              </a:defRPr>
            </a:lvl6pPr>
            <a:lvl7pPr marL="2461691" algn="l" defTabSz="410281" rtl="0" eaLnBrk="1" latinLnBrk="0" hangingPunct="1">
              <a:defRPr sz="1600" kern="1200">
                <a:solidFill>
                  <a:schemeClr val="tx1"/>
                </a:solidFill>
                <a:latin typeface="+mn-lt"/>
                <a:ea typeface="+mn-ea"/>
                <a:cs typeface="+mn-cs"/>
              </a:defRPr>
            </a:lvl7pPr>
            <a:lvl8pPr marL="2871972" algn="l" defTabSz="410281" rtl="0" eaLnBrk="1" latinLnBrk="0" hangingPunct="1">
              <a:defRPr sz="1600" kern="1200">
                <a:solidFill>
                  <a:schemeClr val="tx1"/>
                </a:solidFill>
                <a:latin typeface="+mn-lt"/>
                <a:ea typeface="+mn-ea"/>
                <a:cs typeface="+mn-cs"/>
              </a:defRPr>
            </a:lvl8pPr>
            <a:lvl9pPr marL="3282254" algn="l" defTabSz="410281" rtl="0" eaLnBrk="1" latinLnBrk="0" hangingPunct="1">
              <a:defRPr sz="1600" kern="1200">
                <a:solidFill>
                  <a:schemeClr val="tx1"/>
                </a:solidFill>
                <a:latin typeface="+mn-lt"/>
                <a:ea typeface="+mn-ea"/>
                <a:cs typeface="+mn-cs"/>
              </a:defRPr>
            </a:lvl9pPr>
          </a:lstStyle>
          <a:p>
            <a:pPr algn="ctr"/>
            <a:r>
              <a:rPr lang="en-US" sz="1400" b="1" dirty="0"/>
              <a:t>2</a:t>
            </a:r>
          </a:p>
        </p:txBody>
      </p:sp>
      <p:sp>
        <p:nvSpPr>
          <p:cNvPr id="3" name="TextBox 2">
            <a:extLst>
              <a:ext uri="{FF2B5EF4-FFF2-40B4-BE49-F238E27FC236}">
                <a16:creationId xmlns:a16="http://schemas.microsoft.com/office/drawing/2014/main" id="{564D7639-C046-F69B-B84A-40ABE876F48C}"/>
              </a:ext>
            </a:extLst>
          </p:cNvPr>
          <p:cNvSpPr txBox="1"/>
          <p:nvPr/>
        </p:nvSpPr>
        <p:spPr>
          <a:xfrm>
            <a:off x="198765" y="4710016"/>
            <a:ext cx="4194699" cy="738664"/>
          </a:xfrm>
          <a:prstGeom prst="rect">
            <a:avLst/>
          </a:prstGeom>
          <a:noFill/>
        </p:spPr>
        <p:txBody>
          <a:bodyPr wrap="square" rtlCol="0">
            <a:spAutoFit/>
          </a:bodyPr>
          <a:lstStyle/>
          <a:p>
            <a:r>
              <a:rPr lang="en-US" sz="1400" dirty="0">
                <a:solidFill>
                  <a:schemeClr val="tx2">
                    <a:lumMod val="75000"/>
                  </a:schemeClr>
                </a:solidFill>
                <a:latin typeface="Ayuthaya" pitchFamily="2" charset="-34"/>
                <a:ea typeface="Ayuthaya" pitchFamily="2" charset="-34"/>
                <a:cs typeface="Ayuthaya" pitchFamily="2" charset="-34"/>
              </a:rPr>
              <a:t>In reality, computers and specialized statistical genetics software do these calculations for us</a:t>
            </a:r>
          </a:p>
        </p:txBody>
      </p:sp>
    </p:spTree>
    <p:extLst>
      <p:ext uri="{BB962C8B-B14F-4D97-AF65-F5344CB8AC3E}">
        <p14:creationId xmlns:p14="http://schemas.microsoft.com/office/powerpoint/2010/main" val="34867571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9D47-EEDD-13C5-A1B0-8CFAB1B41307}"/>
              </a:ext>
            </a:extLst>
          </p:cNvPr>
          <p:cNvSpPr>
            <a:spLocks noGrp="1"/>
          </p:cNvSpPr>
          <p:nvPr>
            <p:ph type="title"/>
          </p:nvPr>
        </p:nvSpPr>
        <p:spPr>
          <a:xfrm>
            <a:off x="228600" y="387037"/>
            <a:ext cx="8001000" cy="571500"/>
          </a:xfrm>
        </p:spPr>
        <p:txBody>
          <a:bodyPr/>
          <a:lstStyle/>
          <a:p>
            <a:r>
              <a:rPr lang="en-US" dirty="0"/>
              <a:t>GWAS </a:t>
            </a:r>
            <a:r>
              <a:rPr lang="en-US" u="sng" dirty="0"/>
              <a:t>Manhattan Plot</a:t>
            </a:r>
          </a:p>
        </p:txBody>
      </p:sp>
      <p:sp>
        <p:nvSpPr>
          <p:cNvPr id="4" name="Slide Number Placeholder 3">
            <a:extLst>
              <a:ext uri="{FF2B5EF4-FFF2-40B4-BE49-F238E27FC236}">
                <a16:creationId xmlns:a16="http://schemas.microsoft.com/office/drawing/2014/main" id="{4CA29AD5-AB47-9789-7D4D-2019E8212D43}"/>
              </a:ext>
            </a:extLst>
          </p:cNvPr>
          <p:cNvSpPr>
            <a:spLocks noGrp="1"/>
          </p:cNvSpPr>
          <p:nvPr>
            <p:ph type="sldNum" sz="quarter" idx="12"/>
          </p:nvPr>
        </p:nvSpPr>
        <p:spPr/>
        <p:txBody>
          <a:bodyPr/>
          <a:lstStyle/>
          <a:p>
            <a:fld id="{9708802B-CECE-C644-A6A3-3C9AAC922203}" type="slidenum">
              <a:rPr lang="en-US" smtClean="0"/>
              <a:pPr/>
              <a:t>36</a:t>
            </a:fld>
            <a:endParaRPr lang="en-US"/>
          </a:p>
        </p:txBody>
      </p:sp>
      <p:pic>
        <p:nvPicPr>
          <p:cNvPr id="8" name="Picture 7">
            <a:extLst>
              <a:ext uri="{FF2B5EF4-FFF2-40B4-BE49-F238E27FC236}">
                <a16:creationId xmlns:a16="http://schemas.microsoft.com/office/drawing/2014/main" id="{82917B21-80F0-81A1-8814-67A3D9F90F69}"/>
              </a:ext>
            </a:extLst>
          </p:cNvPr>
          <p:cNvPicPr>
            <a:picLocks noChangeAspect="1"/>
          </p:cNvPicPr>
          <p:nvPr/>
        </p:nvPicPr>
        <p:blipFill>
          <a:blip r:embed="rId2"/>
          <a:stretch>
            <a:fillRect/>
          </a:stretch>
        </p:blipFill>
        <p:spPr>
          <a:xfrm>
            <a:off x="2423573" y="2107373"/>
            <a:ext cx="6602186" cy="2315589"/>
          </a:xfrm>
          <a:prstGeom prst="rect">
            <a:avLst/>
          </a:prstGeom>
        </p:spPr>
      </p:pic>
      <p:sp>
        <p:nvSpPr>
          <p:cNvPr id="9" name="Rectangle 8">
            <a:extLst>
              <a:ext uri="{FF2B5EF4-FFF2-40B4-BE49-F238E27FC236}">
                <a16:creationId xmlns:a16="http://schemas.microsoft.com/office/drawing/2014/main" id="{E9FCAF47-EB92-63AD-1B56-982A0DB65787}"/>
              </a:ext>
            </a:extLst>
          </p:cNvPr>
          <p:cNvSpPr/>
          <p:nvPr/>
        </p:nvSpPr>
        <p:spPr bwMode="auto">
          <a:xfrm>
            <a:off x="2389414" y="2108775"/>
            <a:ext cx="304800" cy="381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Osaka" charset="-128"/>
              <a:cs typeface="Osaka" charset="-128"/>
            </a:endParaRPr>
          </a:p>
        </p:txBody>
      </p:sp>
      <p:sp>
        <p:nvSpPr>
          <p:cNvPr id="3" name="TextBox 2">
            <a:extLst>
              <a:ext uri="{FF2B5EF4-FFF2-40B4-BE49-F238E27FC236}">
                <a16:creationId xmlns:a16="http://schemas.microsoft.com/office/drawing/2014/main" id="{644FFC82-B538-C400-4D31-22676998EB1C}"/>
              </a:ext>
            </a:extLst>
          </p:cNvPr>
          <p:cNvSpPr txBox="1"/>
          <p:nvPr/>
        </p:nvSpPr>
        <p:spPr>
          <a:xfrm>
            <a:off x="339782" y="2501803"/>
            <a:ext cx="2083791" cy="1569660"/>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Y-axis = Statistical strength of the association (transformed P-value)</a:t>
            </a:r>
          </a:p>
        </p:txBody>
      </p:sp>
      <p:sp>
        <p:nvSpPr>
          <p:cNvPr id="6" name="TextBox 5">
            <a:extLst>
              <a:ext uri="{FF2B5EF4-FFF2-40B4-BE49-F238E27FC236}">
                <a16:creationId xmlns:a16="http://schemas.microsoft.com/office/drawing/2014/main" id="{1B946D6A-42C3-D4BB-F46D-E868E794D531}"/>
              </a:ext>
            </a:extLst>
          </p:cNvPr>
          <p:cNvSpPr txBox="1"/>
          <p:nvPr/>
        </p:nvSpPr>
        <p:spPr>
          <a:xfrm>
            <a:off x="2606320" y="4448749"/>
            <a:ext cx="6236691" cy="338554"/>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x-axis = chromosomal location of each tested SNP</a:t>
            </a:r>
          </a:p>
        </p:txBody>
      </p:sp>
      <p:sp>
        <p:nvSpPr>
          <p:cNvPr id="7" name="TextBox 6">
            <a:extLst>
              <a:ext uri="{FF2B5EF4-FFF2-40B4-BE49-F238E27FC236}">
                <a16:creationId xmlns:a16="http://schemas.microsoft.com/office/drawing/2014/main" id="{780A6AC9-C9DA-86F8-3C1E-021C4F3C7ADD}"/>
              </a:ext>
            </a:extLst>
          </p:cNvPr>
          <p:cNvSpPr txBox="1"/>
          <p:nvPr/>
        </p:nvSpPr>
        <p:spPr>
          <a:xfrm>
            <a:off x="603753" y="1743032"/>
            <a:ext cx="7936494" cy="338554"/>
          </a:xfrm>
          <a:prstGeom prst="rect">
            <a:avLst/>
          </a:prstGeom>
          <a:noFill/>
        </p:spPr>
        <p:txBody>
          <a:bodyPr wrap="square" rtlCol="0">
            <a:spAutoFit/>
          </a:bodyPr>
          <a:lstStyle/>
          <a:p>
            <a:r>
              <a:rPr lang="en-US" sz="1600" dirty="0">
                <a:solidFill>
                  <a:schemeClr val="tx2">
                    <a:lumMod val="75000"/>
                  </a:schemeClr>
                </a:solidFill>
                <a:latin typeface="Ayuthaya" pitchFamily="2" charset="-34"/>
                <a:ea typeface="Ayuthaya" pitchFamily="2" charset="-34"/>
                <a:cs typeface="Ayuthaya" pitchFamily="2" charset="-34"/>
              </a:rPr>
              <a:t>Each point is a SNP which we tested for association with BMI</a:t>
            </a:r>
          </a:p>
        </p:txBody>
      </p:sp>
      <p:sp>
        <p:nvSpPr>
          <p:cNvPr id="10" name="TextBox 9">
            <a:extLst>
              <a:ext uri="{FF2B5EF4-FFF2-40B4-BE49-F238E27FC236}">
                <a16:creationId xmlns:a16="http://schemas.microsoft.com/office/drawing/2014/main" id="{AD71C3F5-1BB7-28A1-AC02-4006D6907575}"/>
              </a:ext>
            </a:extLst>
          </p:cNvPr>
          <p:cNvSpPr txBox="1"/>
          <p:nvPr/>
        </p:nvSpPr>
        <p:spPr>
          <a:xfrm>
            <a:off x="206135" y="953484"/>
            <a:ext cx="8404465" cy="369332"/>
          </a:xfrm>
          <a:prstGeom prst="rect">
            <a:avLst/>
          </a:prstGeom>
          <a:noFill/>
        </p:spPr>
        <p:txBody>
          <a:bodyPr wrap="square" rtlCol="0">
            <a:spAutoFit/>
          </a:bodyPr>
          <a:lstStyle/>
          <a:p>
            <a:r>
              <a:rPr lang="en-US" sz="1800" dirty="0">
                <a:latin typeface="Arial" panose="020B0604020202020204" pitchFamily="34" charset="0"/>
                <a:ea typeface="Ayuthaya" pitchFamily="2" charset="-34"/>
                <a:cs typeface="Arial" panose="020B0604020202020204" pitchFamily="34" charset="0"/>
              </a:rPr>
              <a:t>A tool to visualize our loci significantly associated with BMI</a:t>
            </a:r>
          </a:p>
        </p:txBody>
      </p:sp>
    </p:spTree>
    <p:extLst>
      <p:ext uri="{BB962C8B-B14F-4D97-AF65-F5344CB8AC3E}">
        <p14:creationId xmlns:p14="http://schemas.microsoft.com/office/powerpoint/2010/main" val="2014316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9D47-EEDD-13C5-A1B0-8CFAB1B41307}"/>
              </a:ext>
            </a:extLst>
          </p:cNvPr>
          <p:cNvSpPr>
            <a:spLocks noGrp="1"/>
          </p:cNvSpPr>
          <p:nvPr>
            <p:ph type="title"/>
          </p:nvPr>
        </p:nvSpPr>
        <p:spPr>
          <a:xfrm>
            <a:off x="228600" y="387037"/>
            <a:ext cx="8001000" cy="571500"/>
          </a:xfrm>
        </p:spPr>
        <p:txBody>
          <a:bodyPr/>
          <a:lstStyle/>
          <a:p>
            <a:r>
              <a:rPr lang="en-US" dirty="0"/>
              <a:t>GWAS </a:t>
            </a:r>
            <a:r>
              <a:rPr lang="en-US" u="sng" dirty="0"/>
              <a:t>Manhattan Plot</a:t>
            </a:r>
          </a:p>
        </p:txBody>
      </p:sp>
      <p:sp>
        <p:nvSpPr>
          <p:cNvPr id="14" name="Content Placeholder 4">
            <a:extLst>
              <a:ext uri="{FF2B5EF4-FFF2-40B4-BE49-F238E27FC236}">
                <a16:creationId xmlns:a16="http://schemas.microsoft.com/office/drawing/2014/main" id="{5FA8BC46-F8CE-7673-7CD1-E023409DBE55}"/>
              </a:ext>
            </a:extLst>
          </p:cNvPr>
          <p:cNvSpPr>
            <a:spLocks noGrp="1"/>
          </p:cNvSpPr>
          <p:nvPr>
            <p:ph idx="1"/>
          </p:nvPr>
        </p:nvSpPr>
        <p:spPr>
          <a:xfrm>
            <a:off x="220520" y="1524984"/>
            <a:ext cx="8571384" cy="3238500"/>
          </a:xfrm>
        </p:spPr>
        <p:txBody>
          <a:bodyPr/>
          <a:lstStyle/>
          <a:p>
            <a:r>
              <a:rPr lang="en-US" sz="2000" dirty="0"/>
              <a:t>Why is the genome-wide significance threshold so stringent (</a:t>
            </a:r>
            <a:r>
              <a:rPr lang="en-US" sz="2000" i="1" dirty="0"/>
              <a:t>P</a:t>
            </a:r>
            <a:r>
              <a:rPr lang="en-US" sz="2000" dirty="0"/>
              <a:t>&lt;5.0 x 10</a:t>
            </a:r>
            <a:r>
              <a:rPr lang="en-US" sz="2000" baseline="30000" dirty="0"/>
              <a:t>-8</a:t>
            </a:r>
            <a:r>
              <a:rPr lang="en-US" sz="2000" dirty="0"/>
              <a:t>)?</a:t>
            </a:r>
          </a:p>
          <a:p>
            <a:r>
              <a:rPr lang="en-US" sz="2000" dirty="0"/>
              <a:t>Why do significant SNPs cluster together in peaks of association signal?</a:t>
            </a:r>
          </a:p>
        </p:txBody>
      </p:sp>
      <p:sp>
        <p:nvSpPr>
          <p:cNvPr id="4" name="Slide Number Placeholder 3">
            <a:extLst>
              <a:ext uri="{FF2B5EF4-FFF2-40B4-BE49-F238E27FC236}">
                <a16:creationId xmlns:a16="http://schemas.microsoft.com/office/drawing/2014/main" id="{4CA29AD5-AB47-9789-7D4D-2019E8212D43}"/>
              </a:ext>
            </a:extLst>
          </p:cNvPr>
          <p:cNvSpPr>
            <a:spLocks noGrp="1"/>
          </p:cNvSpPr>
          <p:nvPr>
            <p:ph type="sldNum" sz="quarter" idx="12"/>
          </p:nvPr>
        </p:nvSpPr>
        <p:spPr/>
        <p:txBody>
          <a:bodyPr/>
          <a:lstStyle/>
          <a:p>
            <a:fld id="{9708802B-CECE-C644-A6A3-3C9AAC922203}" type="slidenum">
              <a:rPr lang="en-US" smtClean="0"/>
              <a:pPr/>
              <a:t>37</a:t>
            </a:fld>
            <a:endParaRPr lang="en-US"/>
          </a:p>
        </p:txBody>
      </p:sp>
      <p:pic>
        <p:nvPicPr>
          <p:cNvPr id="8" name="Picture 7">
            <a:extLst>
              <a:ext uri="{FF2B5EF4-FFF2-40B4-BE49-F238E27FC236}">
                <a16:creationId xmlns:a16="http://schemas.microsoft.com/office/drawing/2014/main" id="{82917B21-80F0-81A1-8814-67A3D9F90F69}"/>
              </a:ext>
            </a:extLst>
          </p:cNvPr>
          <p:cNvPicPr>
            <a:picLocks noChangeAspect="1"/>
          </p:cNvPicPr>
          <p:nvPr/>
        </p:nvPicPr>
        <p:blipFill>
          <a:blip r:embed="rId2"/>
          <a:stretch>
            <a:fillRect/>
          </a:stretch>
        </p:blipFill>
        <p:spPr>
          <a:xfrm>
            <a:off x="2310175" y="2630683"/>
            <a:ext cx="6602186" cy="2315589"/>
          </a:xfrm>
          <a:prstGeom prst="rect">
            <a:avLst/>
          </a:prstGeom>
        </p:spPr>
      </p:pic>
      <p:sp>
        <p:nvSpPr>
          <p:cNvPr id="9" name="Rectangle 8">
            <a:extLst>
              <a:ext uri="{FF2B5EF4-FFF2-40B4-BE49-F238E27FC236}">
                <a16:creationId xmlns:a16="http://schemas.microsoft.com/office/drawing/2014/main" id="{E9FCAF47-EB92-63AD-1B56-982A0DB65787}"/>
              </a:ext>
            </a:extLst>
          </p:cNvPr>
          <p:cNvSpPr/>
          <p:nvPr/>
        </p:nvSpPr>
        <p:spPr bwMode="auto">
          <a:xfrm>
            <a:off x="1598510" y="3087502"/>
            <a:ext cx="304800" cy="381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Osaka" charset="-128"/>
              <a:cs typeface="Osaka" charset="-128"/>
            </a:endParaRPr>
          </a:p>
        </p:txBody>
      </p:sp>
      <p:sp>
        <p:nvSpPr>
          <p:cNvPr id="3" name="TextBox 2">
            <a:extLst>
              <a:ext uri="{FF2B5EF4-FFF2-40B4-BE49-F238E27FC236}">
                <a16:creationId xmlns:a16="http://schemas.microsoft.com/office/drawing/2014/main" id="{644FFC82-B538-C400-4D31-22676998EB1C}"/>
              </a:ext>
            </a:extLst>
          </p:cNvPr>
          <p:cNvSpPr txBox="1"/>
          <p:nvPr/>
        </p:nvSpPr>
        <p:spPr>
          <a:xfrm>
            <a:off x="274313" y="4189904"/>
            <a:ext cx="2083791" cy="748923"/>
          </a:xfrm>
          <a:prstGeom prst="rect">
            <a:avLst/>
          </a:prstGeom>
          <a:noFill/>
        </p:spPr>
        <p:txBody>
          <a:bodyPr wrap="square" rtlCol="0">
            <a:spAutoFit/>
          </a:bodyPr>
          <a:lstStyle/>
          <a:p>
            <a:pPr algn="r"/>
            <a:r>
              <a:rPr lang="en-US" sz="1600" i="1" dirty="0">
                <a:solidFill>
                  <a:schemeClr val="tx2">
                    <a:lumMod val="75000"/>
                  </a:schemeClr>
                </a:solidFill>
                <a:latin typeface="Ayuthaya" pitchFamily="2" charset="-34"/>
                <a:ea typeface="Ayuthaya" pitchFamily="2" charset="-34"/>
                <a:cs typeface="Ayuthaya" pitchFamily="2" charset="-34"/>
              </a:rPr>
              <a:t>P</a:t>
            </a:r>
            <a:r>
              <a:rPr lang="en-US" sz="1600" dirty="0">
                <a:solidFill>
                  <a:schemeClr val="tx2">
                    <a:lumMod val="75000"/>
                  </a:schemeClr>
                </a:solidFill>
                <a:latin typeface="Ayuthaya" pitchFamily="2" charset="-34"/>
                <a:ea typeface="Ayuthaya" pitchFamily="2" charset="-34"/>
                <a:cs typeface="Ayuthaya" pitchFamily="2" charset="-34"/>
              </a:rPr>
              <a:t>&lt;5x10</a:t>
            </a:r>
            <a:r>
              <a:rPr lang="en-US" sz="1600" baseline="30000" dirty="0">
                <a:solidFill>
                  <a:schemeClr val="tx2">
                    <a:lumMod val="75000"/>
                  </a:schemeClr>
                </a:solidFill>
                <a:latin typeface="Ayuthaya" pitchFamily="2" charset="-34"/>
                <a:ea typeface="Ayuthaya" pitchFamily="2" charset="-34"/>
                <a:cs typeface="Ayuthaya" pitchFamily="2" charset="-34"/>
              </a:rPr>
              <a:t>-8</a:t>
            </a:r>
          </a:p>
          <a:p>
            <a:pPr algn="r"/>
            <a:r>
              <a:rPr lang="en-US" sz="1600" i="1" dirty="0">
                <a:solidFill>
                  <a:schemeClr val="tx2">
                    <a:lumMod val="75000"/>
                  </a:schemeClr>
                </a:solidFill>
                <a:latin typeface="Ayuthaya" pitchFamily="2" charset="-34"/>
                <a:ea typeface="Ayuthaya" pitchFamily="2" charset="-34"/>
                <a:cs typeface="Ayuthaya" pitchFamily="2" charset="-34"/>
              </a:rPr>
              <a:t>P</a:t>
            </a:r>
            <a:r>
              <a:rPr lang="en-US" sz="1600" dirty="0">
                <a:solidFill>
                  <a:schemeClr val="tx2">
                    <a:lumMod val="75000"/>
                  </a:schemeClr>
                </a:solidFill>
                <a:latin typeface="Ayuthaya" pitchFamily="2" charset="-34"/>
                <a:ea typeface="Ayuthaya" pitchFamily="2" charset="-34"/>
                <a:cs typeface="Ayuthaya" pitchFamily="2" charset="-34"/>
              </a:rPr>
              <a:t>&lt;0.00000005</a:t>
            </a:r>
            <a:endParaRPr lang="en-US" sz="1600" baseline="30000" dirty="0">
              <a:solidFill>
                <a:schemeClr val="tx2">
                  <a:lumMod val="75000"/>
                </a:schemeClr>
              </a:solidFill>
              <a:latin typeface="Ayuthaya" pitchFamily="2" charset="-34"/>
              <a:ea typeface="Ayuthaya" pitchFamily="2" charset="-34"/>
              <a:cs typeface="Ayuthaya" pitchFamily="2" charset="-34"/>
            </a:endParaRPr>
          </a:p>
          <a:p>
            <a:pPr algn="r"/>
            <a:endParaRPr lang="en-US" sz="1600" baseline="30000" dirty="0">
              <a:solidFill>
                <a:schemeClr val="tx2">
                  <a:lumMod val="75000"/>
                </a:schemeClr>
              </a:solidFill>
              <a:latin typeface="Ayuthaya" pitchFamily="2" charset="-34"/>
              <a:ea typeface="Ayuthaya" pitchFamily="2" charset="-34"/>
              <a:cs typeface="Ayuthaya" pitchFamily="2" charset="-34"/>
            </a:endParaRPr>
          </a:p>
        </p:txBody>
      </p:sp>
      <p:sp>
        <p:nvSpPr>
          <p:cNvPr id="10" name="TextBox 9">
            <a:extLst>
              <a:ext uri="{FF2B5EF4-FFF2-40B4-BE49-F238E27FC236}">
                <a16:creationId xmlns:a16="http://schemas.microsoft.com/office/drawing/2014/main" id="{AD71C3F5-1BB7-28A1-AC02-4006D6907575}"/>
              </a:ext>
            </a:extLst>
          </p:cNvPr>
          <p:cNvSpPr txBox="1"/>
          <p:nvPr/>
        </p:nvSpPr>
        <p:spPr>
          <a:xfrm>
            <a:off x="206135" y="953484"/>
            <a:ext cx="8404465" cy="369332"/>
          </a:xfrm>
          <a:prstGeom prst="rect">
            <a:avLst/>
          </a:prstGeom>
          <a:noFill/>
        </p:spPr>
        <p:txBody>
          <a:bodyPr wrap="square" rtlCol="0">
            <a:spAutoFit/>
          </a:bodyPr>
          <a:lstStyle/>
          <a:p>
            <a:r>
              <a:rPr lang="en-US" sz="1800" dirty="0">
                <a:latin typeface="Arial" panose="020B0604020202020204" pitchFamily="34" charset="0"/>
                <a:ea typeface="Ayuthaya" pitchFamily="2" charset="-34"/>
                <a:cs typeface="Arial" panose="020B0604020202020204" pitchFamily="34" charset="0"/>
              </a:rPr>
              <a:t>Additional concepts to take-away</a:t>
            </a:r>
          </a:p>
        </p:txBody>
      </p:sp>
      <p:cxnSp>
        <p:nvCxnSpPr>
          <p:cNvPr id="11" name="Straight Connector 10">
            <a:extLst>
              <a:ext uri="{FF2B5EF4-FFF2-40B4-BE49-F238E27FC236}">
                <a16:creationId xmlns:a16="http://schemas.microsoft.com/office/drawing/2014/main" id="{9FB98A56-5653-142B-4C0A-7688AAE8D65F}"/>
              </a:ext>
            </a:extLst>
          </p:cNvPr>
          <p:cNvCxnSpPr>
            <a:cxnSpLocks/>
          </p:cNvCxnSpPr>
          <p:nvPr/>
        </p:nvCxnSpPr>
        <p:spPr bwMode="auto">
          <a:xfrm>
            <a:off x="2433671" y="4448596"/>
            <a:ext cx="6297386"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spTree>
    <p:extLst>
      <p:ext uri="{BB962C8B-B14F-4D97-AF65-F5344CB8AC3E}">
        <p14:creationId xmlns:p14="http://schemas.microsoft.com/office/powerpoint/2010/main" val="566766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AA1B-A263-22D9-8218-234F7B74EA7C}"/>
              </a:ext>
            </a:extLst>
          </p:cNvPr>
          <p:cNvSpPr>
            <a:spLocks noGrp="1"/>
          </p:cNvSpPr>
          <p:nvPr>
            <p:ph type="title"/>
          </p:nvPr>
        </p:nvSpPr>
        <p:spPr>
          <a:xfrm>
            <a:off x="457200" y="457200"/>
            <a:ext cx="8382000" cy="571500"/>
          </a:xfrm>
        </p:spPr>
        <p:txBody>
          <a:bodyPr/>
          <a:lstStyle/>
          <a:p>
            <a:r>
              <a:rPr lang="en-US" sz="2800" dirty="0"/>
              <a:t>The </a:t>
            </a:r>
            <a:r>
              <a:rPr lang="en-US" sz="2800" i="1" dirty="0"/>
              <a:t>P</a:t>
            </a:r>
            <a:r>
              <a:rPr lang="en-US" sz="2800" dirty="0"/>
              <a:t>&lt;5.0x10</a:t>
            </a:r>
            <a:r>
              <a:rPr lang="en-US" sz="2800" baseline="30000" dirty="0"/>
              <a:t>-8 </a:t>
            </a:r>
            <a:r>
              <a:rPr lang="en-US" sz="2800" dirty="0"/>
              <a:t>genome-wide significance threshold</a:t>
            </a:r>
          </a:p>
        </p:txBody>
      </p:sp>
      <p:sp>
        <p:nvSpPr>
          <p:cNvPr id="3" name="Content Placeholder 2">
            <a:extLst>
              <a:ext uri="{FF2B5EF4-FFF2-40B4-BE49-F238E27FC236}">
                <a16:creationId xmlns:a16="http://schemas.microsoft.com/office/drawing/2014/main" id="{2A139CBE-05C0-BB4C-9A3E-7F8FF6551F5B}"/>
              </a:ext>
            </a:extLst>
          </p:cNvPr>
          <p:cNvSpPr>
            <a:spLocks noGrp="1"/>
          </p:cNvSpPr>
          <p:nvPr>
            <p:ph idx="1"/>
          </p:nvPr>
        </p:nvSpPr>
        <p:spPr>
          <a:xfrm>
            <a:off x="457200" y="1028700"/>
            <a:ext cx="8077200" cy="4305300"/>
          </a:xfrm>
        </p:spPr>
        <p:txBody>
          <a:bodyPr>
            <a:normAutofit/>
          </a:bodyPr>
          <a:lstStyle/>
          <a:p>
            <a:r>
              <a:rPr lang="en-US" i="1" dirty="0"/>
              <a:t>P</a:t>
            </a:r>
            <a:r>
              <a:rPr lang="en-US" dirty="0"/>
              <a:t>&lt;0.05 is the most widely used significance threshold for a single statistical test</a:t>
            </a:r>
          </a:p>
          <a:p>
            <a:pPr lvl="1"/>
            <a:r>
              <a:rPr lang="en-US" dirty="0"/>
              <a:t>The probability of getting your result due to chance alone (and not a real association) is less than 5%</a:t>
            </a:r>
          </a:p>
          <a:p>
            <a:r>
              <a:rPr lang="en-US" dirty="0"/>
              <a:t>Multiple Testing Problem: What happens when you conduct 100 tests?</a:t>
            </a:r>
          </a:p>
          <a:p>
            <a:pPr lvl="1"/>
            <a:r>
              <a:rPr lang="en-US" dirty="0"/>
              <a:t>5/100 tests will be false positives</a:t>
            </a:r>
          </a:p>
          <a:p>
            <a:pPr lvl="1"/>
            <a:r>
              <a:rPr lang="en-US" dirty="0"/>
              <a:t>The more tests we conduct, the more likely any given test will be a false positive</a:t>
            </a:r>
          </a:p>
          <a:p>
            <a:r>
              <a:rPr lang="en-US" dirty="0"/>
              <a:t>Multiple Testing Correction: Adjust your significance threshold to still reflect the wanted 5% false positive rate</a:t>
            </a:r>
          </a:p>
        </p:txBody>
      </p:sp>
      <p:sp>
        <p:nvSpPr>
          <p:cNvPr id="4" name="Slide Number Placeholder 3">
            <a:extLst>
              <a:ext uri="{FF2B5EF4-FFF2-40B4-BE49-F238E27FC236}">
                <a16:creationId xmlns:a16="http://schemas.microsoft.com/office/drawing/2014/main" id="{AB18D773-C748-D83C-454A-B909A2CFDF4E}"/>
              </a:ext>
            </a:extLst>
          </p:cNvPr>
          <p:cNvSpPr>
            <a:spLocks noGrp="1"/>
          </p:cNvSpPr>
          <p:nvPr>
            <p:ph type="sldNum" sz="quarter" idx="12"/>
          </p:nvPr>
        </p:nvSpPr>
        <p:spPr/>
        <p:txBody>
          <a:bodyPr/>
          <a:lstStyle/>
          <a:p>
            <a:fld id="{9708802B-CECE-C644-A6A3-3C9AAC922203}" type="slidenum">
              <a:rPr lang="en-US" smtClean="0"/>
              <a:pPr/>
              <a:t>38</a:t>
            </a:fld>
            <a:endParaRPr lang="en-US"/>
          </a:p>
        </p:txBody>
      </p:sp>
    </p:spTree>
    <p:extLst>
      <p:ext uri="{BB962C8B-B14F-4D97-AF65-F5344CB8AC3E}">
        <p14:creationId xmlns:p14="http://schemas.microsoft.com/office/powerpoint/2010/main" val="4265659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AA1B-A263-22D9-8218-234F7B74EA7C}"/>
              </a:ext>
            </a:extLst>
          </p:cNvPr>
          <p:cNvSpPr>
            <a:spLocks noGrp="1"/>
          </p:cNvSpPr>
          <p:nvPr>
            <p:ph type="title"/>
          </p:nvPr>
        </p:nvSpPr>
        <p:spPr>
          <a:xfrm>
            <a:off x="457200" y="457200"/>
            <a:ext cx="8382000" cy="571500"/>
          </a:xfrm>
        </p:spPr>
        <p:txBody>
          <a:bodyPr/>
          <a:lstStyle/>
          <a:p>
            <a:r>
              <a:rPr lang="en-US" sz="2800" dirty="0"/>
              <a:t>The </a:t>
            </a:r>
            <a:r>
              <a:rPr lang="en-US" sz="2800" i="1" dirty="0"/>
              <a:t>P</a:t>
            </a:r>
            <a:r>
              <a:rPr lang="en-US" sz="2800" dirty="0"/>
              <a:t>&lt;5.0x10</a:t>
            </a:r>
            <a:r>
              <a:rPr lang="en-US" sz="2800" baseline="30000" dirty="0"/>
              <a:t>-8 </a:t>
            </a:r>
            <a:r>
              <a:rPr lang="en-US" sz="2800" dirty="0"/>
              <a:t>genome-wide significance threshold</a:t>
            </a:r>
          </a:p>
        </p:txBody>
      </p:sp>
      <p:sp>
        <p:nvSpPr>
          <p:cNvPr id="3" name="Content Placeholder 2">
            <a:extLst>
              <a:ext uri="{FF2B5EF4-FFF2-40B4-BE49-F238E27FC236}">
                <a16:creationId xmlns:a16="http://schemas.microsoft.com/office/drawing/2014/main" id="{2A139CBE-05C0-BB4C-9A3E-7F8FF6551F5B}"/>
              </a:ext>
            </a:extLst>
          </p:cNvPr>
          <p:cNvSpPr>
            <a:spLocks noGrp="1"/>
          </p:cNvSpPr>
          <p:nvPr>
            <p:ph idx="1"/>
          </p:nvPr>
        </p:nvSpPr>
        <p:spPr>
          <a:xfrm>
            <a:off x="457200" y="2839779"/>
            <a:ext cx="8077200" cy="2684721"/>
          </a:xfrm>
        </p:spPr>
        <p:txBody>
          <a:bodyPr>
            <a:normAutofit/>
          </a:bodyPr>
          <a:lstStyle/>
          <a:p>
            <a:r>
              <a:rPr lang="en-US" dirty="0"/>
              <a:t>The genotypes of genetic variants that are physically close together are correlated (they are in LD)</a:t>
            </a:r>
          </a:p>
          <a:p>
            <a:pPr lvl="1"/>
            <a:r>
              <a:rPr lang="en-US" u="sng" dirty="0"/>
              <a:t>Linkage disequilibrium (LD)</a:t>
            </a:r>
            <a:r>
              <a:rPr lang="en-US" b="1" dirty="0"/>
              <a:t> </a:t>
            </a:r>
            <a:r>
              <a:rPr lang="en-US" dirty="0"/>
              <a:t>– the correlation between SNPs arising due to their physical proximity and the probability of recombination events</a:t>
            </a:r>
          </a:p>
          <a:p>
            <a:r>
              <a:rPr lang="en-US" dirty="0"/>
              <a:t>Approximately only ~1 million independent common genetic variants in the genome (in individuals of European ancestry)</a:t>
            </a:r>
          </a:p>
          <a:p>
            <a:r>
              <a:rPr lang="en-US" i="1" dirty="0"/>
              <a:t>P </a:t>
            </a:r>
            <a:r>
              <a:rPr lang="en-US" dirty="0"/>
              <a:t>&lt; 0.05/1,000,000 = 0.00000005 = </a:t>
            </a:r>
            <a:r>
              <a:rPr lang="en-US" sz="2400" dirty="0"/>
              <a:t>5.0x10</a:t>
            </a:r>
            <a:r>
              <a:rPr lang="en-US" sz="2400" baseline="30000" dirty="0"/>
              <a:t>-8</a:t>
            </a:r>
            <a:endParaRPr lang="en-US" dirty="0"/>
          </a:p>
        </p:txBody>
      </p:sp>
      <p:sp>
        <p:nvSpPr>
          <p:cNvPr id="4" name="Slide Number Placeholder 3">
            <a:extLst>
              <a:ext uri="{FF2B5EF4-FFF2-40B4-BE49-F238E27FC236}">
                <a16:creationId xmlns:a16="http://schemas.microsoft.com/office/drawing/2014/main" id="{AB18D773-C748-D83C-454A-B909A2CFDF4E}"/>
              </a:ext>
            </a:extLst>
          </p:cNvPr>
          <p:cNvSpPr>
            <a:spLocks noGrp="1"/>
          </p:cNvSpPr>
          <p:nvPr>
            <p:ph type="sldNum" sz="quarter" idx="12"/>
          </p:nvPr>
        </p:nvSpPr>
        <p:spPr/>
        <p:txBody>
          <a:bodyPr/>
          <a:lstStyle/>
          <a:p>
            <a:fld id="{9708802B-CECE-C644-A6A3-3C9AAC922203}" type="slidenum">
              <a:rPr lang="en-US" smtClean="0"/>
              <a:pPr/>
              <a:t>39</a:t>
            </a:fld>
            <a:endParaRPr lang="en-US"/>
          </a:p>
        </p:txBody>
      </p:sp>
      <p:sp>
        <p:nvSpPr>
          <p:cNvPr id="7" name="TextBox 6">
            <a:extLst>
              <a:ext uri="{FF2B5EF4-FFF2-40B4-BE49-F238E27FC236}">
                <a16:creationId xmlns:a16="http://schemas.microsoft.com/office/drawing/2014/main" id="{B239A776-01B8-A4FB-FA92-8EB51FB4DC29}"/>
              </a:ext>
            </a:extLst>
          </p:cNvPr>
          <p:cNvSpPr txBox="1"/>
          <p:nvPr/>
        </p:nvSpPr>
        <p:spPr>
          <a:xfrm>
            <a:off x="4648200" y="1266219"/>
            <a:ext cx="4267200" cy="1384995"/>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Should we adjust for the ~10 million common variants that we tested for association with BMI?</a:t>
            </a:r>
          </a:p>
          <a:p>
            <a:r>
              <a:rPr lang="en-US" sz="1800" dirty="0">
                <a:solidFill>
                  <a:schemeClr val="tx2">
                    <a:lumMod val="50000"/>
                    <a:lumOff val="50000"/>
                  </a:schemeClr>
                </a:solidFill>
                <a:latin typeface="Arial" panose="020B0604020202020204" pitchFamily="34" charset="0"/>
                <a:cs typeface="Arial" panose="020B0604020202020204" pitchFamily="34" charset="0"/>
              </a:rPr>
              <a:t>... Not quite</a:t>
            </a:r>
          </a:p>
        </p:txBody>
      </p:sp>
      <p:pic>
        <p:nvPicPr>
          <p:cNvPr id="8" name="Picture 7">
            <a:extLst>
              <a:ext uri="{FF2B5EF4-FFF2-40B4-BE49-F238E27FC236}">
                <a16:creationId xmlns:a16="http://schemas.microsoft.com/office/drawing/2014/main" id="{3AE6F217-F76C-393B-A23F-F1003D93B8B8}"/>
              </a:ext>
            </a:extLst>
          </p:cNvPr>
          <p:cNvPicPr>
            <a:picLocks noChangeAspect="1"/>
          </p:cNvPicPr>
          <p:nvPr/>
        </p:nvPicPr>
        <p:blipFill>
          <a:blip r:embed="rId3"/>
          <a:stretch>
            <a:fillRect/>
          </a:stretch>
        </p:blipFill>
        <p:spPr>
          <a:xfrm>
            <a:off x="457200" y="1231717"/>
            <a:ext cx="3985485" cy="1397832"/>
          </a:xfrm>
          <a:prstGeom prst="rect">
            <a:avLst/>
          </a:prstGeom>
        </p:spPr>
      </p:pic>
    </p:spTree>
    <p:extLst>
      <p:ext uri="{BB962C8B-B14F-4D97-AF65-F5344CB8AC3E}">
        <p14:creationId xmlns:p14="http://schemas.microsoft.com/office/powerpoint/2010/main" val="3342943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9D47-EEDD-13C5-A1B0-8CFAB1B41307}"/>
              </a:ext>
            </a:extLst>
          </p:cNvPr>
          <p:cNvSpPr>
            <a:spLocks noGrp="1"/>
          </p:cNvSpPr>
          <p:nvPr>
            <p:ph type="title"/>
          </p:nvPr>
        </p:nvSpPr>
        <p:spPr>
          <a:xfrm>
            <a:off x="228600" y="387037"/>
            <a:ext cx="8001000" cy="571500"/>
          </a:xfrm>
        </p:spPr>
        <p:txBody>
          <a:bodyPr>
            <a:normAutofit fontScale="90000"/>
          </a:bodyPr>
          <a:lstStyle/>
          <a:p>
            <a:r>
              <a:rPr lang="en-US" sz="2400" dirty="0">
                <a:latin typeface="Arial" panose="020B0604020202020204" pitchFamily="34" charset="0"/>
                <a:cs typeface="Arial" panose="020B0604020202020204" pitchFamily="34" charset="0"/>
              </a:rPr>
              <a:t>Why do significant SNPs cluster together in peaks of association signal?</a:t>
            </a:r>
          </a:p>
        </p:txBody>
      </p:sp>
      <p:sp>
        <p:nvSpPr>
          <p:cNvPr id="17" name="Content Placeholder 2">
            <a:extLst>
              <a:ext uri="{FF2B5EF4-FFF2-40B4-BE49-F238E27FC236}">
                <a16:creationId xmlns:a16="http://schemas.microsoft.com/office/drawing/2014/main" id="{598996F8-8988-400B-3E7C-A909BA34FEEA}"/>
              </a:ext>
            </a:extLst>
          </p:cNvPr>
          <p:cNvSpPr>
            <a:spLocks noGrp="1"/>
          </p:cNvSpPr>
          <p:nvPr>
            <p:ph idx="1"/>
          </p:nvPr>
        </p:nvSpPr>
        <p:spPr>
          <a:xfrm>
            <a:off x="206135" y="3086100"/>
            <a:ext cx="5432665" cy="1330981"/>
          </a:xfrm>
        </p:spPr>
        <p:txBody>
          <a:bodyPr>
            <a:normAutofit/>
          </a:bodyPr>
          <a:lstStyle/>
          <a:p>
            <a:r>
              <a:rPr lang="en-US" sz="1800" dirty="0"/>
              <a:t>The genotypes of SNPs close together (in </a:t>
            </a:r>
            <a:r>
              <a:rPr lang="en-US" sz="1800" u="sng" dirty="0"/>
              <a:t>linkage disequilibrium</a:t>
            </a:r>
            <a:r>
              <a:rPr lang="en-US" sz="1800" dirty="0"/>
              <a:t>) are correlated → their association with BMI will be correlated too!</a:t>
            </a:r>
          </a:p>
        </p:txBody>
      </p:sp>
      <p:sp>
        <p:nvSpPr>
          <p:cNvPr id="4" name="Slide Number Placeholder 3">
            <a:extLst>
              <a:ext uri="{FF2B5EF4-FFF2-40B4-BE49-F238E27FC236}">
                <a16:creationId xmlns:a16="http://schemas.microsoft.com/office/drawing/2014/main" id="{4CA29AD5-AB47-9789-7D4D-2019E8212D43}"/>
              </a:ext>
            </a:extLst>
          </p:cNvPr>
          <p:cNvSpPr>
            <a:spLocks noGrp="1"/>
          </p:cNvSpPr>
          <p:nvPr>
            <p:ph type="sldNum" sz="quarter" idx="12"/>
          </p:nvPr>
        </p:nvSpPr>
        <p:spPr/>
        <p:txBody>
          <a:bodyPr/>
          <a:lstStyle/>
          <a:p>
            <a:fld id="{9708802B-CECE-C644-A6A3-3C9AAC922203}" type="slidenum">
              <a:rPr lang="en-US" smtClean="0"/>
              <a:pPr/>
              <a:t>40</a:t>
            </a:fld>
            <a:endParaRPr lang="en-US"/>
          </a:p>
        </p:txBody>
      </p:sp>
      <p:grpSp>
        <p:nvGrpSpPr>
          <p:cNvPr id="11" name="Group 10">
            <a:extLst>
              <a:ext uri="{FF2B5EF4-FFF2-40B4-BE49-F238E27FC236}">
                <a16:creationId xmlns:a16="http://schemas.microsoft.com/office/drawing/2014/main" id="{5C803CE1-E1EF-B061-876F-4E796579FECF}"/>
              </a:ext>
            </a:extLst>
          </p:cNvPr>
          <p:cNvGrpSpPr/>
          <p:nvPr/>
        </p:nvGrpSpPr>
        <p:grpSpPr>
          <a:xfrm>
            <a:off x="256977" y="1649274"/>
            <a:ext cx="4200327" cy="1330980"/>
            <a:chOff x="2389414" y="2107373"/>
            <a:chExt cx="6636345" cy="2315589"/>
          </a:xfrm>
        </p:grpSpPr>
        <p:pic>
          <p:nvPicPr>
            <p:cNvPr id="8" name="Picture 7">
              <a:extLst>
                <a:ext uri="{FF2B5EF4-FFF2-40B4-BE49-F238E27FC236}">
                  <a16:creationId xmlns:a16="http://schemas.microsoft.com/office/drawing/2014/main" id="{82917B21-80F0-81A1-8814-67A3D9F90F69}"/>
                </a:ext>
              </a:extLst>
            </p:cNvPr>
            <p:cNvPicPr>
              <a:picLocks noChangeAspect="1"/>
            </p:cNvPicPr>
            <p:nvPr/>
          </p:nvPicPr>
          <p:blipFill>
            <a:blip r:embed="rId2"/>
            <a:stretch>
              <a:fillRect/>
            </a:stretch>
          </p:blipFill>
          <p:spPr>
            <a:xfrm>
              <a:off x="2423573" y="2107373"/>
              <a:ext cx="6602186" cy="2315589"/>
            </a:xfrm>
            <a:prstGeom prst="rect">
              <a:avLst/>
            </a:prstGeom>
          </p:spPr>
        </p:pic>
        <p:sp>
          <p:nvSpPr>
            <p:cNvPr id="9" name="Rectangle 8">
              <a:extLst>
                <a:ext uri="{FF2B5EF4-FFF2-40B4-BE49-F238E27FC236}">
                  <a16:creationId xmlns:a16="http://schemas.microsoft.com/office/drawing/2014/main" id="{E9FCAF47-EB92-63AD-1B56-982A0DB65787}"/>
                </a:ext>
              </a:extLst>
            </p:cNvPr>
            <p:cNvSpPr/>
            <p:nvPr/>
          </p:nvSpPr>
          <p:spPr bwMode="auto">
            <a:xfrm>
              <a:off x="2389414" y="2108775"/>
              <a:ext cx="304800" cy="381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Osaka" charset="-128"/>
                <a:cs typeface="Osaka" charset="-128"/>
              </a:endParaRPr>
            </a:p>
          </p:txBody>
        </p:sp>
      </p:grpSp>
      <p:pic>
        <p:nvPicPr>
          <p:cNvPr id="12" name="Picture 11">
            <a:extLst>
              <a:ext uri="{FF2B5EF4-FFF2-40B4-BE49-F238E27FC236}">
                <a16:creationId xmlns:a16="http://schemas.microsoft.com/office/drawing/2014/main" id="{975895B5-3AFB-D0A2-C757-4D6D7AF1F4B1}"/>
              </a:ext>
            </a:extLst>
          </p:cNvPr>
          <p:cNvPicPr>
            <a:picLocks noChangeAspect="1"/>
          </p:cNvPicPr>
          <p:nvPr/>
        </p:nvPicPr>
        <p:blipFill rotWithShape="1">
          <a:blip r:embed="rId3"/>
          <a:srcRect t="12840"/>
          <a:stretch/>
        </p:blipFill>
        <p:spPr>
          <a:xfrm>
            <a:off x="5751694" y="904286"/>
            <a:ext cx="2809063" cy="2613177"/>
          </a:xfrm>
          <a:prstGeom prst="rect">
            <a:avLst/>
          </a:prstGeom>
        </p:spPr>
      </p:pic>
      <p:sp>
        <p:nvSpPr>
          <p:cNvPr id="13" name="Rectangle 12">
            <a:extLst>
              <a:ext uri="{FF2B5EF4-FFF2-40B4-BE49-F238E27FC236}">
                <a16:creationId xmlns:a16="http://schemas.microsoft.com/office/drawing/2014/main" id="{B4ABF189-53BC-0798-0F27-6B0A2BB5E570}"/>
              </a:ext>
            </a:extLst>
          </p:cNvPr>
          <p:cNvSpPr/>
          <p:nvPr/>
        </p:nvSpPr>
        <p:spPr bwMode="auto">
          <a:xfrm>
            <a:off x="3581400" y="2127320"/>
            <a:ext cx="334395" cy="875916"/>
          </a:xfrm>
          <a:prstGeom prst="rect">
            <a:avLst/>
          </a:prstGeom>
          <a:noFill/>
          <a:ln w="38100"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Osaka" charset="-128"/>
              <a:cs typeface="Osaka" charset="-128"/>
            </a:endParaRPr>
          </a:p>
        </p:txBody>
      </p:sp>
      <p:cxnSp>
        <p:nvCxnSpPr>
          <p:cNvPr id="15" name="Straight Connector 14">
            <a:extLst>
              <a:ext uri="{FF2B5EF4-FFF2-40B4-BE49-F238E27FC236}">
                <a16:creationId xmlns:a16="http://schemas.microsoft.com/office/drawing/2014/main" id="{9078D8B5-3C2E-341C-8272-F7233EC62164}"/>
              </a:ext>
            </a:extLst>
          </p:cNvPr>
          <p:cNvCxnSpPr>
            <a:cxnSpLocks/>
          </p:cNvCxnSpPr>
          <p:nvPr/>
        </p:nvCxnSpPr>
        <p:spPr bwMode="auto">
          <a:xfrm flipV="1">
            <a:off x="3915795" y="1753160"/>
            <a:ext cx="1625717" cy="356241"/>
          </a:xfrm>
          <a:prstGeom prst="line">
            <a:avLst/>
          </a:prstGeom>
          <a:solidFill>
            <a:schemeClr val="accent1"/>
          </a:solidFill>
          <a:ln w="28575" cap="flat" cmpd="sng" algn="ctr">
            <a:solidFill>
              <a:schemeClr val="accent6">
                <a:lumMod val="75000"/>
              </a:schemeClr>
            </a:solidFill>
            <a:prstDash val="solid"/>
            <a:round/>
            <a:headEnd type="none" w="med" len="med"/>
            <a:tailEnd type="triangle" w="med" len="med"/>
          </a:ln>
          <a:effectLst/>
        </p:spPr>
      </p:cxnSp>
      <p:sp>
        <p:nvSpPr>
          <p:cNvPr id="16" name="TextBox 15">
            <a:extLst>
              <a:ext uri="{FF2B5EF4-FFF2-40B4-BE49-F238E27FC236}">
                <a16:creationId xmlns:a16="http://schemas.microsoft.com/office/drawing/2014/main" id="{AA5FF6FC-4C0E-11A6-6202-18506C9C6D13}"/>
              </a:ext>
            </a:extLst>
          </p:cNvPr>
          <p:cNvSpPr txBox="1"/>
          <p:nvPr/>
        </p:nvSpPr>
        <p:spPr>
          <a:xfrm>
            <a:off x="2167545" y="960914"/>
            <a:ext cx="3584149" cy="523220"/>
          </a:xfrm>
          <a:prstGeom prst="rect">
            <a:avLst/>
          </a:prstGeom>
          <a:noFill/>
        </p:spPr>
        <p:txBody>
          <a:bodyPr wrap="square" rtlCol="0">
            <a:spAutoFit/>
          </a:bodyPr>
          <a:lstStyle/>
          <a:p>
            <a:pPr algn="r"/>
            <a:r>
              <a:rPr lang="en-US" sz="1400" dirty="0">
                <a:solidFill>
                  <a:schemeClr val="tx2">
                    <a:lumMod val="75000"/>
                  </a:schemeClr>
                </a:solidFill>
                <a:latin typeface="Ayuthaya" pitchFamily="2" charset="-34"/>
                <a:ea typeface="Ayuthaya" pitchFamily="2" charset="-34"/>
                <a:cs typeface="Ayuthaya" pitchFamily="2" charset="-34"/>
              </a:rPr>
              <a:t>Regional Manhattan Plot = Zoomed in Manhattan plot</a:t>
            </a:r>
          </a:p>
        </p:txBody>
      </p:sp>
      <p:sp>
        <p:nvSpPr>
          <p:cNvPr id="20" name="Content Placeholder 2">
            <a:extLst>
              <a:ext uri="{FF2B5EF4-FFF2-40B4-BE49-F238E27FC236}">
                <a16:creationId xmlns:a16="http://schemas.microsoft.com/office/drawing/2014/main" id="{4F2F3C85-6EE1-AE5A-1E25-A9E2DB4B3FA0}"/>
              </a:ext>
            </a:extLst>
          </p:cNvPr>
          <p:cNvSpPr txBox="1">
            <a:spLocks/>
          </p:cNvSpPr>
          <p:nvPr/>
        </p:nvSpPr>
        <p:spPr bwMode="auto">
          <a:xfrm>
            <a:off x="206135" y="4022321"/>
            <a:ext cx="8590424" cy="8925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noAutofit/>
          </a:bodyPr>
          <a:lstStyle>
            <a:lvl1pPr marL="342900" indent="-342900" algn="l" rtl="0" eaLnBrk="1" fontAlgn="base" hangingPunct="1">
              <a:spcBef>
                <a:spcPts val="1000"/>
              </a:spcBef>
              <a:spcAft>
                <a:spcPct val="0"/>
              </a:spcAft>
              <a:buClr>
                <a:srgbClr val="B99B49"/>
              </a:buClr>
              <a:buFont typeface="Wingdings" charset="2"/>
              <a:buChar char="§"/>
              <a:defRPr sz="2400">
                <a:solidFill>
                  <a:schemeClr val="tx1"/>
                </a:solidFill>
                <a:latin typeface="+mn-lt"/>
                <a:ea typeface="+mn-ea"/>
                <a:cs typeface="+mn-cs"/>
              </a:defRPr>
            </a:lvl1pPr>
            <a:lvl2pPr marL="742950" indent="-28575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2pPr>
            <a:lvl3pPr marL="11430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3pPr>
            <a:lvl4pPr marL="16002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4pPr>
            <a:lvl5pPr marL="2057400" indent="-228600" algn="l" rtl="0" eaLnBrk="1" fontAlgn="base" hangingPunct="1">
              <a:spcBef>
                <a:spcPts val="1000"/>
              </a:spcBef>
              <a:spcAft>
                <a:spcPct val="0"/>
              </a:spcAft>
              <a:buClr>
                <a:srgbClr val="B99B49"/>
              </a:buClr>
              <a:buFont typeface="Wingdings" pitchFamily="2" charset="2"/>
              <a:buChar char="§"/>
              <a:defRPr>
                <a:solidFill>
                  <a:schemeClr val="tx1"/>
                </a:solidFill>
                <a:latin typeface="+mn-lt"/>
                <a:ea typeface="+mn-ea"/>
                <a:cs typeface="+mn-cs"/>
              </a:defRPr>
            </a:lvl5pPr>
            <a:lvl6pPr marL="25146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6pPr>
            <a:lvl7pPr marL="29718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7pPr>
            <a:lvl8pPr marL="34290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8pPr>
            <a:lvl9pPr marL="3886200" indent="-228600" algn="l" rtl="0" eaLnBrk="1" fontAlgn="base" hangingPunct="1">
              <a:spcBef>
                <a:spcPct val="20000"/>
              </a:spcBef>
              <a:spcAft>
                <a:spcPct val="0"/>
              </a:spcAft>
              <a:buClr>
                <a:srgbClr val="2675B4"/>
              </a:buClr>
              <a:buFont typeface="Wingdings" charset="2"/>
              <a:buChar char="§"/>
              <a:defRPr>
                <a:solidFill>
                  <a:schemeClr val="tx1"/>
                </a:solidFill>
                <a:latin typeface="+mn-lt"/>
                <a:ea typeface="+mn-ea"/>
                <a:cs typeface="+mn-cs"/>
              </a:defRPr>
            </a:lvl9pPr>
          </a:lstStyle>
          <a:p>
            <a:r>
              <a:rPr lang="en-US" sz="1800" kern="0" dirty="0">
                <a:solidFill>
                  <a:srgbClr val="FF0000"/>
                </a:solidFill>
              </a:rPr>
              <a:t>Important.</a:t>
            </a:r>
            <a:r>
              <a:rPr lang="en-US" sz="1800" kern="0" dirty="0"/>
              <a:t> GWAS identify clusters of correlated SNPs in loci associated with your trait of interest. These loci may overlap genes, suggesting their importance. </a:t>
            </a:r>
            <a:r>
              <a:rPr lang="en-US" sz="1800" u="sng" kern="0" dirty="0"/>
              <a:t>However, GWAS do not directly identify the causal genes in the locus.</a:t>
            </a:r>
          </a:p>
          <a:p>
            <a:r>
              <a:rPr lang="en-US" sz="1800" kern="0" dirty="0"/>
              <a:t>GWAS tend to name loci by their nearest gene, but this does not mean we are confident it is the causal gene</a:t>
            </a:r>
          </a:p>
        </p:txBody>
      </p:sp>
    </p:spTree>
    <p:extLst>
      <p:ext uri="{BB962C8B-B14F-4D97-AF65-F5344CB8AC3E}">
        <p14:creationId xmlns:p14="http://schemas.microsoft.com/office/powerpoint/2010/main" val="2946230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9D47-EEDD-13C5-A1B0-8CFAB1B41307}"/>
              </a:ext>
            </a:extLst>
          </p:cNvPr>
          <p:cNvSpPr>
            <a:spLocks noGrp="1"/>
          </p:cNvSpPr>
          <p:nvPr>
            <p:ph type="title"/>
          </p:nvPr>
        </p:nvSpPr>
        <p:spPr/>
        <p:txBody>
          <a:bodyPr/>
          <a:lstStyle/>
          <a:p>
            <a:r>
              <a:rPr lang="en-US" dirty="0"/>
              <a:t>GWAS summary statistics table</a:t>
            </a:r>
          </a:p>
        </p:txBody>
      </p:sp>
      <p:sp>
        <p:nvSpPr>
          <p:cNvPr id="3" name="Content Placeholder 2">
            <a:extLst>
              <a:ext uri="{FF2B5EF4-FFF2-40B4-BE49-F238E27FC236}">
                <a16:creationId xmlns:a16="http://schemas.microsoft.com/office/drawing/2014/main" id="{26818CF6-260D-B2E6-5DF1-2062C58B3955}"/>
              </a:ext>
            </a:extLst>
          </p:cNvPr>
          <p:cNvSpPr>
            <a:spLocks noGrp="1"/>
          </p:cNvSpPr>
          <p:nvPr>
            <p:ph idx="1"/>
          </p:nvPr>
        </p:nvSpPr>
        <p:spPr>
          <a:xfrm>
            <a:off x="457200" y="3396090"/>
            <a:ext cx="8001000" cy="1861710"/>
          </a:xfrm>
        </p:spPr>
        <p:txBody>
          <a:bodyPr/>
          <a:lstStyle/>
          <a:p>
            <a:r>
              <a:rPr lang="en-US" dirty="0"/>
              <a:t>Binary traits/case-control outcomes (e.g., Obese vs. non-obese) are fit using a logistic regression and the beta is transformed into an </a:t>
            </a:r>
            <a:r>
              <a:rPr lang="en-US" u="sng" dirty="0"/>
              <a:t>odds ratio (OR)</a:t>
            </a:r>
          </a:p>
          <a:p>
            <a:pPr lvl="1"/>
            <a:r>
              <a:rPr lang="en-US" u="sng" dirty="0"/>
              <a:t>Odds ratio (OR)</a:t>
            </a:r>
            <a:r>
              <a:rPr lang="en-US" dirty="0"/>
              <a:t>: the odds of having obesity for carriers of the effect allele / the odds of having obesity for non-carriers of the effect allele</a:t>
            </a:r>
          </a:p>
          <a:p>
            <a:endParaRPr lang="en-US" dirty="0"/>
          </a:p>
        </p:txBody>
      </p:sp>
      <p:sp>
        <p:nvSpPr>
          <p:cNvPr id="4" name="Slide Number Placeholder 3">
            <a:extLst>
              <a:ext uri="{FF2B5EF4-FFF2-40B4-BE49-F238E27FC236}">
                <a16:creationId xmlns:a16="http://schemas.microsoft.com/office/drawing/2014/main" id="{4CA29AD5-AB47-9789-7D4D-2019E8212D43}"/>
              </a:ext>
            </a:extLst>
          </p:cNvPr>
          <p:cNvSpPr>
            <a:spLocks noGrp="1"/>
          </p:cNvSpPr>
          <p:nvPr>
            <p:ph type="sldNum" sz="quarter" idx="12"/>
          </p:nvPr>
        </p:nvSpPr>
        <p:spPr/>
        <p:txBody>
          <a:bodyPr/>
          <a:lstStyle/>
          <a:p>
            <a:fld id="{9708802B-CECE-C644-A6A3-3C9AAC922203}" type="slidenum">
              <a:rPr lang="en-US" smtClean="0"/>
              <a:pPr/>
              <a:t>41</a:t>
            </a:fld>
            <a:endParaRPr lang="en-US"/>
          </a:p>
        </p:txBody>
      </p:sp>
      <p:pic>
        <p:nvPicPr>
          <p:cNvPr id="6" name="Picture 5">
            <a:extLst>
              <a:ext uri="{FF2B5EF4-FFF2-40B4-BE49-F238E27FC236}">
                <a16:creationId xmlns:a16="http://schemas.microsoft.com/office/drawing/2014/main" id="{1A097A35-0B73-203E-28DC-A98CDEBBFEEF}"/>
              </a:ext>
            </a:extLst>
          </p:cNvPr>
          <p:cNvPicPr>
            <a:picLocks noChangeAspect="1"/>
          </p:cNvPicPr>
          <p:nvPr/>
        </p:nvPicPr>
        <p:blipFill rotWithShape="1">
          <a:blip r:embed="rId2"/>
          <a:srcRect t="3950"/>
          <a:stretch/>
        </p:blipFill>
        <p:spPr>
          <a:xfrm>
            <a:off x="685800" y="1333500"/>
            <a:ext cx="7772400" cy="1853040"/>
          </a:xfrm>
          <a:prstGeom prst="rect">
            <a:avLst/>
          </a:prstGeom>
        </p:spPr>
      </p:pic>
      <p:sp>
        <p:nvSpPr>
          <p:cNvPr id="7" name="TextBox 6">
            <a:extLst>
              <a:ext uri="{FF2B5EF4-FFF2-40B4-BE49-F238E27FC236}">
                <a16:creationId xmlns:a16="http://schemas.microsoft.com/office/drawing/2014/main" id="{DB59F0DF-2731-EE5E-23A1-D664B6282D76}"/>
              </a:ext>
            </a:extLst>
          </p:cNvPr>
          <p:cNvSpPr txBox="1"/>
          <p:nvPr/>
        </p:nvSpPr>
        <p:spPr>
          <a:xfrm>
            <a:off x="433552" y="5112237"/>
            <a:ext cx="4419600" cy="461665"/>
          </a:xfrm>
          <a:prstGeom prst="rect">
            <a:avLst/>
          </a:prstGeom>
          <a:noFill/>
        </p:spPr>
        <p:txBody>
          <a:bodyPr wrap="square" rtlCol="0">
            <a:spAutoFit/>
          </a:bodyPr>
          <a:lstStyle/>
          <a:p>
            <a:r>
              <a:rPr lang="en-US" sz="1200" dirty="0">
                <a:solidFill>
                  <a:schemeClr val="tx2">
                    <a:lumMod val="75000"/>
                  </a:schemeClr>
                </a:solidFill>
                <a:latin typeface="Ayuthaya" pitchFamily="2" charset="-34"/>
                <a:ea typeface="Ayuthaya" pitchFamily="2" charset="-34"/>
                <a:cs typeface="Ayuthaya" pitchFamily="2" charset="-34"/>
              </a:rPr>
              <a:t>Lead SNP for naming purposes. The locus makes up many correlated genetic variants in LD.</a:t>
            </a:r>
          </a:p>
        </p:txBody>
      </p:sp>
      <p:cxnSp>
        <p:nvCxnSpPr>
          <p:cNvPr id="9" name="Curved Connector 8">
            <a:extLst>
              <a:ext uri="{FF2B5EF4-FFF2-40B4-BE49-F238E27FC236}">
                <a16:creationId xmlns:a16="http://schemas.microsoft.com/office/drawing/2014/main" id="{65DB0DBE-1915-DCB3-7123-C2544CF2D594}"/>
              </a:ext>
            </a:extLst>
          </p:cNvPr>
          <p:cNvCxnSpPr>
            <a:cxnSpLocks/>
          </p:cNvCxnSpPr>
          <p:nvPr/>
        </p:nvCxnSpPr>
        <p:spPr>
          <a:xfrm rot="10800000" flipH="1">
            <a:off x="433552" y="2171700"/>
            <a:ext cx="252248" cy="3083050"/>
          </a:xfrm>
          <a:prstGeom prst="curvedConnector3">
            <a:avLst>
              <a:gd name="adj1" fmla="val -90625"/>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6115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A37C8-5101-9360-E93B-30E0B6FB5B57}"/>
              </a:ext>
            </a:extLst>
          </p:cNvPr>
          <p:cNvSpPr>
            <a:spLocks noGrp="1"/>
          </p:cNvSpPr>
          <p:nvPr>
            <p:ph type="title"/>
          </p:nvPr>
        </p:nvSpPr>
        <p:spPr/>
        <p:txBody>
          <a:bodyPr/>
          <a:lstStyle/>
          <a:p>
            <a:r>
              <a:rPr lang="en-US" dirty="0"/>
              <a:t>The utility and limitations of GWAS</a:t>
            </a:r>
          </a:p>
        </p:txBody>
      </p:sp>
      <p:sp>
        <p:nvSpPr>
          <p:cNvPr id="3" name="Content Placeholder 2">
            <a:extLst>
              <a:ext uri="{FF2B5EF4-FFF2-40B4-BE49-F238E27FC236}">
                <a16:creationId xmlns:a16="http://schemas.microsoft.com/office/drawing/2014/main" id="{B62D86BB-AC15-F48E-7B9B-2F9E20979AAC}"/>
              </a:ext>
            </a:extLst>
          </p:cNvPr>
          <p:cNvSpPr>
            <a:spLocks noGrp="1"/>
          </p:cNvSpPr>
          <p:nvPr>
            <p:ph idx="1"/>
          </p:nvPr>
        </p:nvSpPr>
        <p:spPr>
          <a:xfrm>
            <a:off x="628650" y="1443038"/>
            <a:ext cx="7886700" cy="3561160"/>
          </a:xfrm>
        </p:spPr>
        <p:txBody>
          <a:bodyPr>
            <a:normAutofit fontScale="92500" lnSpcReduction="20000"/>
          </a:bodyPr>
          <a:lstStyle/>
          <a:p>
            <a:r>
              <a:rPr lang="en-US" dirty="0"/>
              <a:t>GWAS has been used to identify thousands of loci associated with polygenic traits in an unbiased manner</a:t>
            </a:r>
          </a:p>
          <a:p>
            <a:pPr lvl="1"/>
            <a:r>
              <a:rPr lang="en-US" dirty="0"/>
              <a:t>Works well for common variants and common traits</a:t>
            </a:r>
          </a:p>
          <a:p>
            <a:r>
              <a:rPr lang="en-US" dirty="0"/>
              <a:t>Small effect sizes can have real impact</a:t>
            </a:r>
          </a:p>
          <a:p>
            <a:pPr lvl="1"/>
            <a:r>
              <a:rPr lang="en-US" dirty="0"/>
              <a:t>Nominate candidate genes in which bigger perturbations have a larger impact on the phenotype</a:t>
            </a:r>
          </a:p>
          <a:p>
            <a:pPr lvl="1"/>
            <a:r>
              <a:rPr lang="en-US" dirty="0"/>
              <a:t>Aggregation of many variants with small effect sizes into a polygenic score can together have a moderate effect on the phenotype</a:t>
            </a:r>
          </a:p>
          <a:p>
            <a:r>
              <a:rPr lang="en-US" dirty="0"/>
              <a:t>Limitations</a:t>
            </a:r>
          </a:p>
          <a:p>
            <a:pPr lvl="1"/>
            <a:r>
              <a:rPr lang="en-US" dirty="0"/>
              <a:t>Association does not mean causality: GWAS does not identify the causal variant or gene, and getting to this next step is non-trivial</a:t>
            </a:r>
          </a:p>
          <a:p>
            <a:pPr lvl="1"/>
            <a:r>
              <a:rPr lang="en-US" dirty="0"/>
              <a:t>Requires very large sample sizes (in the thousands, at least)</a:t>
            </a:r>
          </a:p>
          <a:p>
            <a:pPr lvl="1"/>
            <a:r>
              <a:rPr lang="en-US" dirty="0"/>
              <a:t>Most GWAS have been conducted in people of European genetic ancestry and the GWAS associations and derived polygenic scores may not translate well to other more diverse populations</a:t>
            </a:r>
          </a:p>
        </p:txBody>
      </p:sp>
    </p:spTree>
    <p:extLst>
      <p:ext uri="{BB962C8B-B14F-4D97-AF65-F5344CB8AC3E}">
        <p14:creationId xmlns:p14="http://schemas.microsoft.com/office/powerpoint/2010/main" val="450431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BCAF-2646-1214-58EA-94D354DEE498}"/>
              </a:ext>
            </a:extLst>
          </p:cNvPr>
          <p:cNvSpPr>
            <a:spLocks noGrp="1"/>
          </p:cNvSpPr>
          <p:nvPr>
            <p:ph type="title"/>
          </p:nvPr>
        </p:nvSpPr>
        <p:spPr/>
        <p:txBody>
          <a:bodyPr/>
          <a:lstStyle/>
          <a:p>
            <a:r>
              <a:rPr lang="en-US" dirty="0"/>
              <a:t>Sneak Peek at Polygenic Scores</a:t>
            </a:r>
          </a:p>
        </p:txBody>
      </p:sp>
      <p:sp>
        <p:nvSpPr>
          <p:cNvPr id="3" name="Content Placeholder 2">
            <a:extLst>
              <a:ext uri="{FF2B5EF4-FFF2-40B4-BE49-F238E27FC236}">
                <a16:creationId xmlns:a16="http://schemas.microsoft.com/office/drawing/2014/main" id="{92BD04A9-5338-4CAA-D23D-A21350115074}"/>
              </a:ext>
            </a:extLst>
          </p:cNvPr>
          <p:cNvSpPr>
            <a:spLocks noGrp="1"/>
          </p:cNvSpPr>
          <p:nvPr>
            <p:ph idx="1"/>
          </p:nvPr>
        </p:nvSpPr>
        <p:spPr/>
        <p:txBody>
          <a:bodyPr/>
          <a:lstStyle/>
          <a:p>
            <a:r>
              <a:rPr lang="en-US" dirty="0"/>
              <a:t>Polygenic risk scores (PRS) = Polygenic Scores (PGS)</a:t>
            </a:r>
          </a:p>
          <a:p>
            <a:r>
              <a:rPr lang="en-US" dirty="0"/>
              <a:t>PGS is a measure of an individual’s overall genetic risk or propensity for a given disease or trait</a:t>
            </a:r>
          </a:p>
          <a:p>
            <a:pPr lvl="1"/>
            <a:r>
              <a:rPr lang="en-US" dirty="0"/>
              <a:t>They are calculated as the sum of their genome-wide genetic effects, calculated from genome-wide GWAS data</a:t>
            </a:r>
          </a:p>
        </p:txBody>
      </p:sp>
      <p:sp>
        <p:nvSpPr>
          <p:cNvPr id="4" name="Slide Number Placeholder 3">
            <a:extLst>
              <a:ext uri="{FF2B5EF4-FFF2-40B4-BE49-F238E27FC236}">
                <a16:creationId xmlns:a16="http://schemas.microsoft.com/office/drawing/2014/main" id="{D5EC7ED7-1BD0-DD04-9C72-A81A875F5B12}"/>
              </a:ext>
            </a:extLst>
          </p:cNvPr>
          <p:cNvSpPr>
            <a:spLocks noGrp="1"/>
          </p:cNvSpPr>
          <p:nvPr>
            <p:ph type="sldNum" sz="quarter" idx="12"/>
          </p:nvPr>
        </p:nvSpPr>
        <p:spPr/>
        <p:txBody>
          <a:bodyPr/>
          <a:lstStyle/>
          <a:p>
            <a:fld id="{9708802B-CECE-C644-A6A3-3C9AAC922203}" type="slidenum">
              <a:rPr lang="en-US" smtClean="0"/>
              <a:pPr/>
              <a:t>43</a:t>
            </a:fld>
            <a:endParaRPr lang="en-US"/>
          </a:p>
        </p:txBody>
      </p:sp>
    </p:spTree>
    <p:extLst>
      <p:ext uri="{BB962C8B-B14F-4D97-AF65-F5344CB8AC3E}">
        <p14:creationId xmlns:p14="http://schemas.microsoft.com/office/powerpoint/2010/main" val="3539860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42586-9554-CEFC-63F3-956CDE887048}"/>
              </a:ext>
            </a:extLst>
          </p:cNvPr>
          <p:cNvSpPr>
            <a:spLocks noGrp="1"/>
          </p:cNvSpPr>
          <p:nvPr>
            <p:ph type="title"/>
          </p:nvPr>
        </p:nvSpPr>
        <p:spPr>
          <a:xfrm>
            <a:off x="457200" y="419100"/>
            <a:ext cx="8001000" cy="571500"/>
          </a:xfrm>
        </p:spPr>
        <p:txBody>
          <a:bodyPr/>
          <a:lstStyle/>
          <a:p>
            <a:r>
              <a:rPr lang="en-US" dirty="0"/>
              <a:t>How to calculate a simple PRS? </a:t>
            </a:r>
          </a:p>
        </p:txBody>
      </p:sp>
      <p:sp>
        <p:nvSpPr>
          <p:cNvPr id="4" name="Slide Number Placeholder 3">
            <a:extLst>
              <a:ext uri="{FF2B5EF4-FFF2-40B4-BE49-F238E27FC236}">
                <a16:creationId xmlns:a16="http://schemas.microsoft.com/office/drawing/2014/main" id="{C9FFCEC7-6BC5-87ED-27E4-5008AB0A7048}"/>
              </a:ext>
            </a:extLst>
          </p:cNvPr>
          <p:cNvSpPr>
            <a:spLocks noGrp="1"/>
          </p:cNvSpPr>
          <p:nvPr>
            <p:ph type="sldNum" sz="quarter" idx="12"/>
          </p:nvPr>
        </p:nvSpPr>
        <p:spPr/>
        <p:txBody>
          <a:bodyPr/>
          <a:lstStyle/>
          <a:p>
            <a:fld id="{9708802B-CECE-C644-A6A3-3C9AAC922203}" type="slidenum">
              <a:rPr lang="en-US" smtClean="0"/>
              <a:pPr/>
              <a:t>44</a:t>
            </a:fld>
            <a:endParaRPr lang="en-US"/>
          </a:p>
        </p:txBody>
      </p:sp>
      <p:graphicFrame>
        <p:nvGraphicFramePr>
          <p:cNvPr id="6" name="Table 5">
            <a:extLst>
              <a:ext uri="{FF2B5EF4-FFF2-40B4-BE49-F238E27FC236}">
                <a16:creationId xmlns:a16="http://schemas.microsoft.com/office/drawing/2014/main" id="{F1351CAF-DF57-8ACC-85AC-4E3265B92C01}"/>
              </a:ext>
            </a:extLst>
          </p:cNvPr>
          <p:cNvGraphicFramePr>
            <a:graphicFrameLocks noGrp="1"/>
          </p:cNvGraphicFramePr>
          <p:nvPr/>
        </p:nvGraphicFramePr>
        <p:xfrm>
          <a:off x="457200" y="2817331"/>
          <a:ext cx="6871970" cy="1986280"/>
        </p:xfrm>
        <a:graphic>
          <a:graphicData uri="http://schemas.openxmlformats.org/drawingml/2006/table">
            <a:tbl>
              <a:tblPr firstRow="1" bandRow="1">
                <a:tableStyleId>{5C22544A-7EE6-4342-B048-85BDC9FD1C3A}</a:tableStyleId>
              </a:tblPr>
              <a:tblGrid>
                <a:gridCol w="1313180">
                  <a:extLst>
                    <a:ext uri="{9D8B030D-6E8A-4147-A177-3AD203B41FA5}">
                      <a16:colId xmlns:a16="http://schemas.microsoft.com/office/drawing/2014/main" val="3874987362"/>
                    </a:ext>
                  </a:extLst>
                </a:gridCol>
                <a:gridCol w="1446530">
                  <a:extLst>
                    <a:ext uri="{9D8B030D-6E8A-4147-A177-3AD203B41FA5}">
                      <a16:colId xmlns:a16="http://schemas.microsoft.com/office/drawing/2014/main" val="2031070966"/>
                    </a:ext>
                  </a:extLst>
                </a:gridCol>
                <a:gridCol w="1446530">
                  <a:extLst>
                    <a:ext uri="{9D8B030D-6E8A-4147-A177-3AD203B41FA5}">
                      <a16:colId xmlns:a16="http://schemas.microsoft.com/office/drawing/2014/main" val="3272074738"/>
                    </a:ext>
                  </a:extLst>
                </a:gridCol>
                <a:gridCol w="1446530">
                  <a:extLst>
                    <a:ext uri="{9D8B030D-6E8A-4147-A177-3AD203B41FA5}">
                      <a16:colId xmlns:a16="http://schemas.microsoft.com/office/drawing/2014/main" val="1197956183"/>
                    </a:ext>
                  </a:extLst>
                </a:gridCol>
                <a:gridCol w="1219200">
                  <a:extLst>
                    <a:ext uri="{9D8B030D-6E8A-4147-A177-3AD203B41FA5}">
                      <a16:colId xmlns:a16="http://schemas.microsoft.com/office/drawing/2014/main" val="3235715909"/>
                    </a:ext>
                  </a:extLst>
                </a:gridCol>
              </a:tblGrid>
              <a:tr h="370840">
                <a:tc>
                  <a:txBody>
                    <a:bodyPr/>
                    <a:lstStyle/>
                    <a:p>
                      <a:r>
                        <a:rPr lang="en-US" dirty="0"/>
                        <a:t>Individual</a:t>
                      </a:r>
                    </a:p>
                  </a:txBody>
                  <a:tcPr/>
                </a:tc>
                <a:tc>
                  <a:txBody>
                    <a:bodyPr/>
                    <a:lstStyle/>
                    <a:p>
                      <a:r>
                        <a:rPr lang="en-US" dirty="0"/>
                        <a:t>SNP1*</a:t>
                      </a:r>
                    </a:p>
                    <a:p>
                      <a:r>
                        <a:rPr lang="en-US" dirty="0"/>
                        <a:t>(beta = 2.2)</a:t>
                      </a:r>
                    </a:p>
                  </a:txBody>
                  <a:tcPr/>
                </a:tc>
                <a:tc>
                  <a:txBody>
                    <a:bodyPr/>
                    <a:lstStyle/>
                    <a:p>
                      <a:r>
                        <a:rPr lang="en-US" dirty="0"/>
                        <a:t>SNP2*</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(beta = 1.4)</a:t>
                      </a:r>
                    </a:p>
                  </a:txBody>
                  <a:tcPr/>
                </a:tc>
                <a:tc>
                  <a:txBody>
                    <a:bodyPr/>
                    <a:lstStyle/>
                    <a:p>
                      <a:r>
                        <a:rPr lang="en-US" dirty="0"/>
                        <a:t>SNP3*</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(beta = 1.6)</a:t>
                      </a:r>
                    </a:p>
                  </a:txBody>
                  <a:tcPr/>
                </a:tc>
                <a:tc>
                  <a:txBody>
                    <a:bodyPr/>
                    <a:lstStyle/>
                    <a:p>
                      <a:r>
                        <a:rPr lang="en-US" dirty="0"/>
                        <a:t>PRS</a:t>
                      </a:r>
                    </a:p>
                  </a:txBody>
                  <a:tcPr/>
                </a:tc>
                <a:extLst>
                  <a:ext uri="{0D108BD9-81ED-4DB2-BD59-A6C34878D82A}">
                    <a16:rowId xmlns:a16="http://schemas.microsoft.com/office/drawing/2014/main" val="2204555958"/>
                  </a:ext>
                </a:extLst>
              </a:tr>
              <a:tr h="370840">
                <a:tc>
                  <a:txBody>
                    <a:bodyPr/>
                    <a:lstStyle/>
                    <a:p>
                      <a:r>
                        <a:rPr lang="en-US" dirty="0"/>
                        <a:t>1</a:t>
                      </a:r>
                    </a:p>
                  </a:txBody>
                  <a:tcPr/>
                </a:tc>
                <a:tc>
                  <a:txBody>
                    <a:bodyPr/>
                    <a:lstStyle/>
                    <a:p>
                      <a:r>
                        <a:rPr lang="en-US" dirty="0"/>
                        <a:t>0</a:t>
                      </a:r>
                    </a:p>
                  </a:txBody>
                  <a:tcPr/>
                </a:tc>
                <a:tc>
                  <a:txBody>
                    <a:bodyPr/>
                    <a:lstStyle/>
                    <a:p>
                      <a:r>
                        <a:rPr lang="en-US" dirty="0"/>
                        <a:t>2</a:t>
                      </a:r>
                    </a:p>
                  </a:txBody>
                  <a:tcPr/>
                </a:tc>
                <a:tc>
                  <a:txBody>
                    <a:bodyPr/>
                    <a:lstStyle/>
                    <a:p>
                      <a:r>
                        <a:rPr lang="en-US" dirty="0"/>
                        <a:t>0</a:t>
                      </a:r>
                    </a:p>
                  </a:txBody>
                  <a:tcPr/>
                </a:tc>
                <a:tc>
                  <a:txBody>
                    <a:bodyPr/>
                    <a:lstStyle/>
                    <a:p>
                      <a:r>
                        <a:rPr lang="en-US" dirty="0"/>
                        <a:t>2.8</a:t>
                      </a:r>
                    </a:p>
                  </a:txBody>
                  <a:tcPr/>
                </a:tc>
                <a:extLst>
                  <a:ext uri="{0D108BD9-81ED-4DB2-BD59-A6C34878D82A}">
                    <a16:rowId xmlns:a16="http://schemas.microsoft.com/office/drawing/2014/main" val="1159493066"/>
                  </a:ext>
                </a:extLst>
              </a:tr>
              <a:tr h="370840">
                <a:tc>
                  <a:txBody>
                    <a:bodyPr/>
                    <a:lstStyle/>
                    <a:p>
                      <a:r>
                        <a:rPr lang="en-US" dirty="0"/>
                        <a:t>2</a:t>
                      </a:r>
                    </a:p>
                  </a:txBody>
                  <a:tcPr/>
                </a:tc>
                <a:tc>
                  <a:txBody>
                    <a:bodyPr/>
                    <a:lstStyle/>
                    <a:p>
                      <a:r>
                        <a:rPr lang="en-US" dirty="0"/>
                        <a:t>2</a:t>
                      </a:r>
                    </a:p>
                  </a:txBody>
                  <a:tcPr/>
                </a:tc>
                <a:tc>
                  <a:txBody>
                    <a:bodyPr/>
                    <a:lstStyle/>
                    <a:p>
                      <a:r>
                        <a:rPr lang="en-US" dirty="0"/>
                        <a:t>1</a:t>
                      </a:r>
                    </a:p>
                  </a:txBody>
                  <a:tcPr/>
                </a:tc>
                <a:tc>
                  <a:txBody>
                    <a:bodyPr/>
                    <a:lstStyle/>
                    <a:p>
                      <a:r>
                        <a:rPr lang="en-US" dirty="0"/>
                        <a:t>0</a:t>
                      </a:r>
                    </a:p>
                  </a:txBody>
                  <a:tcPr/>
                </a:tc>
                <a:tc>
                  <a:txBody>
                    <a:bodyPr/>
                    <a:lstStyle/>
                    <a:p>
                      <a:r>
                        <a:rPr lang="en-US" dirty="0"/>
                        <a:t>5.8</a:t>
                      </a:r>
                    </a:p>
                  </a:txBody>
                  <a:tcPr/>
                </a:tc>
                <a:extLst>
                  <a:ext uri="{0D108BD9-81ED-4DB2-BD59-A6C34878D82A}">
                    <a16:rowId xmlns:a16="http://schemas.microsoft.com/office/drawing/2014/main" val="3905729914"/>
                  </a:ext>
                </a:extLst>
              </a:tr>
              <a:tr h="370840">
                <a:tc>
                  <a:txBody>
                    <a:bodyPr/>
                    <a:lstStyle/>
                    <a:p>
                      <a:r>
                        <a:rPr lang="en-US" dirty="0"/>
                        <a:t>3</a:t>
                      </a:r>
                    </a:p>
                  </a:txBody>
                  <a:tcPr/>
                </a:tc>
                <a:tc>
                  <a:txBody>
                    <a:bodyPr/>
                    <a:lstStyle/>
                    <a:p>
                      <a:r>
                        <a:rPr lang="en-US" dirty="0"/>
                        <a:t>1</a:t>
                      </a:r>
                    </a:p>
                  </a:txBody>
                  <a:tcPr/>
                </a:tc>
                <a:tc>
                  <a:txBody>
                    <a:bodyPr/>
                    <a:lstStyle/>
                    <a:p>
                      <a:r>
                        <a:rPr lang="en-US" dirty="0"/>
                        <a:t>2</a:t>
                      </a:r>
                    </a:p>
                  </a:txBody>
                  <a:tcPr/>
                </a:tc>
                <a:tc>
                  <a:txBody>
                    <a:bodyPr/>
                    <a:lstStyle/>
                    <a:p>
                      <a:r>
                        <a:rPr lang="en-US" dirty="0"/>
                        <a:t>0</a:t>
                      </a:r>
                    </a:p>
                  </a:txBody>
                  <a:tcPr/>
                </a:tc>
                <a:tc>
                  <a:txBody>
                    <a:bodyPr/>
                    <a:lstStyle/>
                    <a:p>
                      <a:r>
                        <a:rPr lang="en-US" dirty="0"/>
                        <a:t>5.0</a:t>
                      </a:r>
                    </a:p>
                  </a:txBody>
                  <a:tcPr/>
                </a:tc>
                <a:extLst>
                  <a:ext uri="{0D108BD9-81ED-4DB2-BD59-A6C34878D82A}">
                    <a16:rowId xmlns:a16="http://schemas.microsoft.com/office/drawing/2014/main" val="1409973463"/>
                  </a:ext>
                </a:extLst>
              </a:tr>
              <a:tr h="370840">
                <a:tc>
                  <a:txBody>
                    <a:bodyPr/>
                    <a:lstStyle/>
                    <a:p>
                      <a:r>
                        <a:rPr lang="en-US" dirty="0"/>
                        <a:t>4</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1.6</a:t>
                      </a:r>
                    </a:p>
                  </a:txBody>
                  <a:tcPr/>
                </a:tc>
                <a:extLst>
                  <a:ext uri="{0D108BD9-81ED-4DB2-BD59-A6C34878D82A}">
                    <a16:rowId xmlns:a16="http://schemas.microsoft.com/office/drawing/2014/main" val="1744311101"/>
                  </a:ext>
                </a:extLst>
              </a:tr>
            </a:tbl>
          </a:graphicData>
        </a:graphic>
      </p:graphicFrame>
      <p:sp>
        <p:nvSpPr>
          <p:cNvPr id="7" name="TextBox 6">
            <a:extLst>
              <a:ext uri="{FF2B5EF4-FFF2-40B4-BE49-F238E27FC236}">
                <a16:creationId xmlns:a16="http://schemas.microsoft.com/office/drawing/2014/main" id="{78D95057-FC55-D933-1BCF-827CDE4AD999}"/>
              </a:ext>
            </a:extLst>
          </p:cNvPr>
          <p:cNvSpPr txBox="1"/>
          <p:nvPr/>
        </p:nvSpPr>
        <p:spPr>
          <a:xfrm>
            <a:off x="304800" y="1102468"/>
            <a:ext cx="8839200" cy="1077218"/>
          </a:xfrm>
          <a:prstGeom prst="rect">
            <a:avLst/>
          </a:prstGeom>
          <a:noFill/>
        </p:spPr>
        <p:txBody>
          <a:bodyPr wrap="square">
            <a:spAutoFit/>
          </a:bodyPr>
          <a:lstStyle/>
          <a:p>
            <a:r>
              <a:rPr lang="en-US" sz="1600" i="0" dirty="0">
                <a:effectLst/>
                <a:latin typeface="Arial" panose="020B0604020202020204" pitchFamily="34" charset="0"/>
              </a:rPr>
              <a:t>The simplest model:</a:t>
            </a:r>
          </a:p>
          <a:p>
            <a:pPr marL="342900" indent="-342900">
              <a:buAutoNum type="arabicParenR"/>
            </a:pPr>
            <a:r>
              <a:rPr lang="en-US" sz="1600" dirty="0">
                <a:latin typeface="Arial" panose="020B0604020202020204" pitchFamily="34" charset="0"/>
              </a:rPr>
              <a:t>For each individual, and for each SNP, multiply the number of effect alleles (0, 1, or 2) by the effect (beta) on the trait of interest</a:t>
            </a:r>
          </a:p>
          <a:p>
            <a:pPr marL="342900" indent="-342900">
              <a:buAutoNum type="arabicParenR"/>
            </a:pPr>
            <a:r>
              <a:rPr lang="en-US" sz="1600" dirty="0">
                <a:latin typeface="Arial" panose="020B0604020202020204" pitchFamily="34" charset="0"/>
              </a:rPr>
              <a:t>PRS = Sum of these values (the aggregate risk for each individual)</a:t>
            </a:r>
            <a:endParaRPr lang="en-US" sz="1600" dirty="0"/>
          </a:p>
        </p:txBody>
      </p:sp>
      <p:sp>
        <p:nvSpPr>
          <p:cNvPr id="8" name="TextBox 7">
            <a:extLst>
              <a:ext uri="{FF2B5EF4-FFF2-40B4-BE49-F238E27FC236}">
                <a16:creationId xmlns:a16="http://schemas.microsoft.com/office/drawing/2014/main" id="{16A787B9-8CF9-2EDD-AB75-C23DC186FD67}"/>
              </a:ext>
            </a:extLst>
          </p:cNvPr>
          <p:cNvSpPr txBox="1"/>
          <p:nvPr/>
        </p:nvSpPr>
        <p:spPr>
          <a:xfrm>
            <a:off x="430427" y="2236443"/>
            <a:ext cx="8839200" cy="584775"/>
          </a:xfrm>
          <a:prstGeom prst="rect">
            <a:avLst/>
          </a:prstGeom>
          <a:noFill/>
        </p:spPr>
        <p:txBody>
          <a:bodyPr wrap="square">
            <a:spAutoFit/>
          </a:bodyPr>
          <a:lstStyle/>
          <a:p>
            <a:r>
              <a:rPr lang="en-US" sz="1600" u="sng" dirty="0">
                <a:latin typeface="Arial" panose="020B0604020202020204" pitchFamily="34" charset="0"/>
              </a:rPr>
              <a:t>Example with 3 genome-wide significant loci</a:t>
            </a:r>
          </a:p>
          <a:p>
            <a:r>
              <a:rPr lang="en-US" sz="1600" u="sng" dirty="0">
                <a:latin typeface="Arial" panose="020B0604020202020204" pitchFamily="34" charset="0"/>
              </a:rPr>
              <a:t>Using the lead SNP from each independent locus</a:t>
            </a:r>
          </a:p>
        </p:txBody>
      </p:sp>
      <p:sp>
        <p:nvSpPr>
          <p:cNvPr id="10" name="TextBox 9">
            <a:extLst>
              <a:ext uri="{FF2B5EF4-FFF2-40B4-BE49-F238E27FC236}">
                <a16:creationId xmlns:a16="http://schemas.microsoft.com/office/drawing/2014/main" id="{EBB62276-ACE3-8B99-BA47-78F4FDE06F7E}"/>
              </a:ext>
            </a:extLst>
          </p:cNvPr>
          <p:cNvSpPr txBox="1"/>
          <p:nvPr/>
        </p:nvSpPr>
        <p:spPr>
          <a:xfrm>
            <a:off x="304800" y="5363963"/>
            <a:ext cx="8534400" cy="307777"/>
          </a:xfrm>
          <a:prstGeom prst="rect">
            <a:avLst/>
          </a:prstGeom>
          <a:noFill/>
        </p:spPr>
        <p:txBody>
          <a:bodyPr wrap="square">
            <a:spAutoFit/>
          </a:bodyPr>
          <a:lstStyle/>
          <a:p>
            <a:r>
              <a:rPr lang="en-US" sz="1400" dirty="0">
                <a:latin typeface="Arial" panose="020B0604020202020204" pitchFamily="34" charset="0"/>
              </a:rPr>
              <a:t>Note: More complex models take into account genome-wide genetic effects and correlation between SNPs</a:t>
            </a:r>
            <a:endParaRPr lang="en-US" sz="1400" dirty="0"/>
          </a:p>
        </p:txBody>
      </p:sp>
      <p:sp>
        <p:nvSpPr>
          <p:cNvPr id="11" name="TextBox 10">
            <a:extLst>
              <a:ext uri="{FF2B5EF4-FFF2-40B4-BE49-F238E27FC236}">
                <a16:creationId xmlns:a16="http://schemas.microsoft.com/office/drawing/2014/main" id="{D7BA0BD5-4ACB-0B1A-B1C8-FF9F2B7F1319}"/>
              </a:ext>
            </a:extLst>
          </p:cNvPr>
          <p:cNvSpPr txBox="1"/>
          <p:nvPr/>
        </p:nvSpPr>
        <p:spPr>
          <a:xfrm>
            <a:off x="457200" y="4914510"/>
            <a:ext cx="8839200" cy="338554"/>
          </a:xfrm>
          <a:prstGeom prst="rect">
            <a:avLst/>
          </a:prstGeom>
          <a:noFill/>
        </p:spPr>
        <p:txBody>
          <a:bodyPr wrap="square">
            <a:spAutoFit/>
          </a:bodyPr>
          <a:lstStyle/>
          <a:p>
            <a:r>
              <a:rPr lang="en-US" sz="1600" b="1" dirty="0">
                <a:latin typeface="Arial" panose="020B0604020202020204" pitchFamily="34" charset="0"/>
              </a:rPr>
              <a:t>Individual 1 PRS = 0*2.2 + 2*1.4 + 0*1.6 = 2.8</a:t>
            </a:r>
          </a:p>
        </p:txBody>
      </p:sp>
    </p:spTree>
    <p:extLst>
      <p:ext uri="{BB962C8B-B14F-4D97-AF65-F5344CB8AC3E}">
        <p14:creationId xmlns:p14="http://schemas.microsoft.com/office/powerpoint/2010/main" val="35526647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2863A-EBE5-C2F1-0E4E-01FEC5124D16}"/>
              </a:ext>
            </a:extLst>
          </p:cNvPr>
          <p:cNvSpPr>
            <a:spLocks noGrp="1"/>
          </p:cNvSpPr>
          <p:nvPr>
            <p:ph type="title"/>
          </p:nvPr>
        </p:nvSpPr>
        <p:spPr/>
        <p:txBody>
          <a:bodyPr/>
          <a:lstStyle/>
          <a:p>
            <a:r>
              <a:rPr lang="en-US" dirty="0"/>
              <a:t>What does a PRS mean?</a:t>
            </a:r>
          </a:p>
        </p:txBody>
      </p:sp>
      <p:sp>
        <p:nvSpPr>
          <p:cNvPr id="7" name="Content Placeholder 2">
            <a:extLst>
              <a:ext uri="{FF2B5EF4-FFF2-40B4-BE49-F238E27FC236}">
                <a16:creationId xmlns:a16="http://schemas.microsoft.com/office/drawing/2014/main" id="{179C673A-934E-A8A2-9F82-5711D1D732BE}"/>
              </a:ext>
            </a:extLst>
          </p:cNvPr>
          <p:cNvSpPr>
            <a:spLocks noGrp="1"/>
          </p:cNvSpPr>
          <p:nvPr>
            <p:ph idx="1"/>
          </p:nvPr>
        </p:nvSpPr>
        <p:spPr>
          <a:xfrm>
            <a:off x="457200" y="1238250"/>
            <a:ext cx="8001000" cy="1162050"/>
          </a:xfrm>
        </p:spPr>
        <p:txBody>
          <a:bodyPr/>
          <a:lstStyle/>
          <a:p>
            <a:r>
              <a:rPr lang="en-US" dirty="0"/>
              <a:t>The higher your PRS the higher your aggregated genetic risk for the disease of interest</a:t>
            </a:r>
          </a:p>
        </p:txBody>
      </p:sp>
      <p:pic>
        <p:nvPicPr>
          <p:cNvPr id="6" name="Picture 2" descr="Image result for polygenic risk score">
            <a:extLst>
              <a:ext uri="{FF2B5EF4-FFF2-40B4-BE49-F238E27FC236}">
                <a16:creationId xmlns:a16="http://schemas.microsoft.com/office/drawing/2014/main" id="{DD1971D6-9D89-41CB-177A-9DEE3C972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2095500"/>
            <a:ext cx="5486400" cy="3304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589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C8D07-1B2E-FD71-3F51-E2B341DAA1E4}"/>
              </a:ext>
            </a:extLst>
          </p:cNvPr>
          <p:cNvSpPr>
            <a:spLocks noGrp="1"/>
          </p:cNvSpPr>
          <p:nvPr>
            <p:ph type="title"/>
          </p:nvPr>
        </p:nvSpPr>
        <p:spPr>
          <a:xfrm>
            <a:off x="152400" y="307905"/>
            <a:ext cx="8001000" cy="571500"/>
          </a:xfrm>
        </p:spPr>
        <p:txBody>
          <a:bodyPr>
            <a:normAutofit fontScale="90000"/>
          </a:bodyPr>
          <a:lstStyle/>
          <a:p>
            <a:r>
              <a:rPr lang="en-US" sz="3000" dirty="0"/>
              <a:t>A current important hot topic: </a:t>
            </a:r>
            <a:br>
              <a:rPr lang="en-US" sz="3000" dirty="0"/>
            </a:br>
            <a:r>
              <a:rPr lang="en-US" sz="2200" dirty="0"/>
              <a:t>Increasing diversity in genetic studies</a:t>
            </a:r>
          </a:p>
        </p:txBody>
      </p:sp>
      <p:sp>
        <p:nvSpPr>
          <p:cNvPr id="3" name="Content Placeholder 2">
            <a:extLst>
              <a:ext uri="{FF2B5EF4-FFF2-40B4-BE49-F238E27FC236}">
                <a16:creationId xmlns:a16="http://schemas.microsoft.com/office/drawing/2014/main" id="{3EBF13A6-F3DE-95BB-EFAD-14F2297E10AA}"/>
              </a:ext>
            </a:extLst>
          </p:cNvPr>
          <p:cNvSpPr>
            <a:spLocks noGrp="1"/>
          </p:cNvSpPr>
          <p:nvPr>
            <p:ph idx="1"/>
          </p:nvPr>
        </p:nvSpPr>
        <p:spPr>
          <a:xfrm>
            <a:off x="457200" y="1333500"/>
            <a:ext cx="2971800" cy="3143250"/>
          </a:xfrm>
        </p:spPr>
        <p:txBody>
          <a:bodyPr/>
          <a:lstStyle/>
          <a:p>
            <a:r>
              <a:rPr lang="en-US" sz="2000" dirty="0"/>
              <a:t>Most genetic studies to date have been done in individuals of European ancestry</a:t>
            </a:r>
          </a:p>
          <a:p>
            <a:r>
              <a:rPr lang="en-US" sz="2000" dirty="0"/>
              <a:t>How well the GWAS signals and PGS translate to non-White populations is a major area of research</a:t>
            </a:r>
          </a:p>
        </p:txBody>
      </p:sp>
      <p:sp>
        <p:nvSpPr>
          <p:cNvPr id="4" name="Slide Number Placeholder 3">
            <a:extLst>
              <a:ext uri="{FF2B5EF4-FFF2-40B4-BE49-F238E27FC236}">
                <a16:creationId xmlns:a16="http://schemas.microsoft.com/office/drawing/2014/main" id="{AAB3989F-73AD-F599-07B8-319B355F914F}"/>
              </a:ext>
            </a:extLst>
          </p:cNvPr>
          <p:cNvSpPr>
            <a:spLocks noGrp="1"/>
          </p:cNvSpPr>
          <p:nvPr>
            <p:ph type="sldNum" sz="quarter" idx="12"/>
          </p:nvPr>
        </p:nvSpPr>
        <p:spPr/>
        <p:txBody>
          <a:bodyPr/>
          <a:lstStyle/>
          <a:p>
            <a:fld id="{9708802B-CECE-C644-A6A3-3C9AAC922203}" type="slidenum">
              <a:rPr lang="en-US" smtClean="0"/>
              <a:pPr/>
              <a:t>46</a:t>
            </a:fld>
            <a:endParaRPr lang="en-US"/>
          </a:p>
        </p:txBody>
      </p:sp>
      <p:pic>
        <p:nvPicPr>
          <p:cNvPr id="1026" name="Picture 2" descr="Clinical use of current polygenic risk scores may exacerbate health  disparities | Nature Genetics">
            <a:extLst>
              <a:ext uri="{FF2B5EF4-FFF2-40B4-BE49-F238E27FC236}">
                <a16:creationId xmlns:a16="http://schemas.microsoft.com/office/drawing/2014/main" id="{87138639-7F66-93E1-0BDF-0F6FC8EB3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6398" y="1409700"/>
            <a:ext cx="4962802" cy="3238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10076FF-CD2C-C8A1-AACB-ED86050EE51A}"/>
              </a:ext>
            </a:extLst>
          </p:cNvPr>
          <p:cNvSpPr txBox="1"/>
          <p:nvPr/>
        </p:nvSpPr>
        <p:spPr>
          <a:xfrm>
            <a:off x="4038600" y="5407223"/>
            <a:ext cx="5029200" cy="307777"/>
          </a:xfrm>
          <a:prstGeom prst="rect">
            <a:avLst/>
          </a:prstGeom>
          <a:noFill/>
        </p:spPr>
        <p:txBody>
          <a:bodyPr wrap="square" rtlCol="0">
            <a:spAutoFit/>
          </a:bodyPr>
          <a:lstStyle/>
          <a:p>
            <a:pPr algn="r"/>
            <a:r>
              <a:rPr lang="en-US" sz="1400" dirty="0">
                <a:latin typeface="Arial" panose="020B0604020202020204" pitchFamily="34" charset="0"/>
                <a:cs typeface="Arial" panose="020B0604020202020204" pitchFamily="34" charset="0"/>
              </a:rPr>
              <a:t>Martin </a:t>
            </a:r>
            <a:r>
              <a:rPr lang="en-US" sz="1400" i="1" dirty="0">
                <a:latin typeface="Arial" panose="020B0604020202020204" pitchFamily="34" charset="0"/>
                <a:cs typeface="Arial" panose="020B0604020202020204" pitchFamily="34" charset="0"/>
              </a:rPr>
              <a:t>et al.,</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Nature Genetics </a:t>
            </a:r>
            <a:r>
              <a:rPr lang="en-US" sz="1400" dirty="0">
                <a:latin typeface="Arial" panose="020B0604020202020204" pitchFamily="34" charset="0"/>
                <a:cs typeface="Arial" panose="020B0604020202020204" pitchFamily="34" charset="0"/>
              </a:rPr>
              <a:t>2019</a:t>
            </a:r>
          </a:p>
        </p:txBody>
      </p:sp>
    </p:spTree>
    <p:extLst>
      <p:ext uri="{BB962C8B-B14F-4D97-AF65-F5344CB8AC3E}">
        <p14:creationId xmlns:p14="http://schemas.microsoft.com/office/powerpoint/2010/main" val="2224482831"/>
      </p:ext>
    </p:extLst>
  </p:cSld>
  <p:clrMapOvr>
    <a:masterClrMapping/>
  </p:clrMapOvr>
</p:sld>
</file>

<file path=ppt/theme/theme1.xml><?xml version="1.0" encoding="utf-8"?>
<a:theme xmlns:a="http://schemas.openxmlformats.org/drawingml/2006/main" name="CU_DBMI_Co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Osaka" charset="-128"/>
            <a:cs typeface="Osaka"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Osaka" charset="-128"/>
            <a:cs typeface="Osaka"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CUDenver_pres_01</Template>
  <TotalTime>3586</TotalTime>
  <Words>3258</Words>
  <Application>Microsoft Macintosh PowerPoint</Application>
  <PresentationFormat>On-screen Show (16:10)</PresentationFormat>
  <Paragraphs>377</Paragraphs>
  <Slides>46</Slides>
  <Notes>20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46</vt:i4>
      </vt:variant>
    </vt:vector>
  </HeadingPairs>
  <TitlesOfParts>
    <vt:vector size="58" baseType="lpstr">
      <vt:lpstr>Aptos</vt:lpstr>
      <vt:lpstr>Aptos Display</vt:lpstr>
      <vt:lpstr>Arial</vt:lpstr>
      <vt:lpstr>Ayuthaya</vt:lpstr>
      <vt:lpstr>Cambria Math</vt:lpstr>
      <vt:lpstr>Helvetica</vt:lpstr>
      <vt:lpstr>Osaka</vt:lpstr>
      <vt:lpstr>Times</vt:lpstr>
      <vt:lpstr>Wingdings</vt:lpstr>
      <vt:lpstr>CU_DBMI_Cole</vt:lpstr>
      <vt:lpstr>Custom Design</vt:lpstr>
      <vt:lpstr>Office Theme</vt:lpstr>
      <vt:lpstr>GWAS Overview and  Single SNP Tests using R </vt:lpstr>
      <vt:lpstr>Learning Objectives</vt:lpstr>
      <vt:lpstr>Review: Basic Concepts</vt:lpstr>
      <vt:lpstr>Genome Structure</vt:lpstr>
      <vt:lpstr>Genome Structure</vt:lpstr>
      <vt:lpstr>&gt;99% of the genome is identical between any two people ~1% contributes to human diversity</vt:lpstr>
      <vt:lpstr>Types of genetic variation and mutations</vt:lpstr>
      <vt:lpstr>SNPs</vt:lpstr>
      <vt:lpstr>Impact of genetic variation</vt:lpstr>
      <vt:lpstr>Monogenic disease vs. Common disease</vt:lpstr>
      <vt:lpstr>Monogenic disease = Mendelian disease </vt:lpstr>
      <vt:lpstr>Common disease and Complex traits</vt:lpstr>
      <vt:lpstr>PowerPoint Presentation</vt:lpstr>
      <vt:lpstr>How to identify disease loci?</vt:lpstr>
      <vt:lpstr>Association Studies</vt:lpstr>
      <vt:lpstr>Polygenic traits: Identify the genetic variants</vt:lpstr>
      <vt:lpstr>The genetic underpinnings of common complex traits (i.e. polygenic traits)</vt:lpstr>
      <vt:lpstr>Association studies</vt:lpstr>
      <vt:lpstr>Association Studies</vt:lpstr>
      <vt:lpstr>Association Studies</vt:lpstr>
      <vt:lpstr>PowerPoint Presentation</vt:lpstr>
      <vt:lpstr>Target population</vt:lpstr>
      <vt:lpstr>Population Stratification</vt:lpstr>
      <vt:lpstr>Population Stratification</vt:lpstr>
      <vt:lpstr>How to address population stratification</vt:lpstr>
      <vt:lpstr>Genetic principal components analysis (PCA)</vt:lpstr>
      <vt:lpstr>Target population</vt:lpstr>
      <vt:lpstr>Genotyping arrays vs sequencing technologies</vt:lpstr>
      <vt:lpstr>Imputation</vt:lpstr>
      <vt:lpstr>PowerPoint Presentation</vt:lpstr>
      <vt:lpstr>Let’s do a GWAS!</vt:lpstr>
      <vt:lpstr>GWAS of Body Mass Index (BMI)</vt:lpstr>
      <vt:lpstr>GWAS linear regression model at a single SNP</vt:lpstr>
      <vt:lpstr>GWAS linear regression model at a single SNP</vt:lpstr>
      <vt:lpstr>GWAS linear regression model at a single SNP</vt:lpstr>
      <vt:lpstr>GWAS Manhattan Plot</vt:lpstr>
      <vt:lpstr>GWAS Manhattan Plot</vt:lpstr>
      <vt:lpstr>The P&lt;5.0x10-8 genome-wide significance threshold</vt:lpstr>
      <vt:lpstr>The P&lt;5.0x10-8 genome-wide significance threshold</vt:lpstr>
      <vt:lpstr>Why do significant SNPs cluster together in peaks of association signal?</vt:lpstr>
      <vt:lpstr>GWAS summary statistics table</vt:lpstr>
      <vt:lpstr>The utility and limitations of GWAS</vt:lpstr>
      <vt:lpstr>Sneak Peek at Polygenic Scores</vt:lpstr>
      <vt:lpstr>How to calculate a simple PRS? </vt:lpstr>
      <vt:lpstr>What does a PRS mean?</vt:lpstr>
      <vt:lpstr>A current important hot topic:  Increasing diversity in genetic studies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Joanne Cole</dc:creator>
  <cp:lastModifiedBy>Sutton, Kristen</cp:lastModifiedBy>
  <cp:revision>79</cp:revision>
  <cp:lastPrinted>2012-10-16T18:13:46Z</cp:lastPrinted>
  <dcterms:created xsi:type="dcterms:W3CDTF">2023-02-06T16:40:53Z</dcterms:created>
  <dcterms:modified xsi:type="dcterms:W3CDTF">2026-01-14T04:23:37Z</dcterms:modified>
</cp:coreProperties>
</file>